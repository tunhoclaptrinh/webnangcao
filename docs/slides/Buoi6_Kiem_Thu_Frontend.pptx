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8816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TI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assets/logo_pt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64762" cy="1022299"/>
          </a:xfrm>
          <a:prstGeom prst="rect">
            <a:avLst/>
          </a:prstGeom>
        </p:spPr>
      </p:pic>
      <p:pic>
        <p:nvPicPr>
          <p:cNvPr id="3" name="Image 1" descr="/home/claude/pptx_work/assets/logo_rip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6926" y="226771"/>
            <a:ext cx="444398" cy="568757"/>
          </a:xfrm>
          <a:prstGeom prst="rect">
            <a:avLst/>
          </a:prstGeom>
        </p:spPr>
      </p:pic>
      <p:pic>
        <p:nvPicPr>
          <p:cNvPr id="4" name="Image 2" descr="/home/claude/pptx_work/assets/footer_de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1928"/>
            <a:ext cx="12191695" cy="57607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657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Web nâng cao  |  Buổi 6: Kiểm thử ứng dụng Frontend với TypeScript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assets/logo_pt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64762" cy="1022299"/>
          </a:xfrm>
          <a:prstGeom prst="rect">
            <a:avLst/>
          </a:prstGeom>
        </p:spPr>
      </p:pic>
      <p:pic>
        <p:nvPicPr>
          <p:cNvPr id="3" name="Image 1" descr="/home/claude/pptx_work/assets/logo_rip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6926" y="226771"/>
            <a:ext cx="444398" cy="568757"/>
          </a:xfrm>
          <a:prstGeom prst="rect">
            <a:avLst/>
          </a:prstGeom>
        </p:spPr>
      </p:pic>
      <p:pic>
        <p:nvPicPr>
          <p:cNvPr id="4" name="Image 2" descr="/home/claude/pptx_work/assets/cover_bg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58798"/>
            <a:ext cx="12191695" cy="5498287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566928" y="2148840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PHẦN: LẬP TRÌNH WEB NÂNG CAO</a:t>
            </a:r>
            <a:endParaRPr lang="en-US" sz="1600" dirty="0"/>
          </a:p>
        </p:txBody>
      </p:sp>
      <p:sp>
        <p:nvSpPr>
          <p:cNvPr id="6" name="Text 1"/>
          <p:cNvSpPr txBox="1"/>
          <p:nvPr/>
        </p:nvSpPr>
        <p:spPr>
          <a:xfrm>
            <a:off x="548640" y="2542032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BUỔI 6 — KIỂM THỬ ỨNG DỤNG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FRONTEND VỚI TYPESCRIPT</a:t>
            </a:r>
            <a:endParaRPr lang="en-US" sz="4000" dirty="0"/>
          </a:p>
        </p:txBody>
      </p:sp>
      <p:sp>
        <p:nvSpPr>
          <p:cNvPr id="7" name="Text 2"/>
          <p:cNvSpPr txBox="1"/>
          <p:nvPr/>
        </p:nvSpPr>
        <p:spPr>
          <a:xfrm>
            <a:off x="566928" y="431596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thuyết + Thực hành với TypeScript  •  3 tiết học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566928" y="5532120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Giảng viên: Ngô Văn Nhận – 0888726113 – nhannv@ptit.edu.vn</a:t>
            </a:r>
            <a:endParaRPr lang="en-US" sz="18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Reseach Institute of Posts and Telecommunications  (RIPT)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Mục tiêu buổi học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5" name="Image 0" descr="/home/claude/pptx_work/icons/flas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29" y="194822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8288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vai trò và phân loại kiểm thử frontend (unit, integration, E2E) để quyết định viết test ở đâu và bao nhiêu là đủ.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66928" y="292608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8" name="Image 1" descr="/home/claude/pptx_work/icons/bu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29" y="2999781"/>
            <a:ext cx="419527" cy="41952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8803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unit test bằng Jest và test component bằng React Testing Library theo hướng kiểm thử hành vi người dùng, với TypeScript.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66928" y="397764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1" name="Image 2" descr="/home/claude/pptx_work/icons/checkcir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29" y="4051341"/>
            <a:ext cx="419527" cy="41952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9319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tình huống thực tế: bất đồng bộ, mock API, custom hook, Redux; đo độ phủ (coverage) và áp dụng best practice.</a:t>
            </a:r>
            <a:endParaRPr lang="en-US" sz="1550" dirty="0"/>
          </a:p>
        </p:txBody>
      </p:sp>
      <p:sp>
        <p:nvSpPr>
          <p:cNvPr id="13" name="Text 8"/>
          <p:cNvSpPr txBox="1"/>
          <p:nvPr/>
        </p:nvSpPr>
        <p:spPr>
          <a:xfrm>
            <a:off x="566928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i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chung: Xây dựng được bộ kiểm thử tự động đáng tin cậy cho ứng dụng React + TypeScript bằng Jest và React Testing Library.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Nội dung buổi học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91858"/>
            <a:ext cx="3219054" cy="3566160"/>
          </a:xfrm>
          <a:prstGeom prst="roundRect">
            <a:avLst>
              <a:gd name="adj" fmla="val 1704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810695" y="2157618"/>
            <a:ext cx="731520" cy="73152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6" name="Image 0" descr="/home/claude/pptx_work/icons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792" y="2252716"/>
            <a:ext cx="541325" cy="5413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2934858"/>
            <a:ext cx="3219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236610"/>
            <a:ext cx="32190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Lý thuyết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86968" y="3803538"/>
            <a:ext cx="25789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chủ đề: tổng quan kiểm thử, Jest + TypeScript, mocking, React Testing Library, bất đồng bộ/hook/Redux, coverage &amp; best practice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060302" y="1791858"/>
            <a:ext cx="3219054" cy="3566160"/>
          </a:xfrm>
          <a:prstGeom prst="roundRect">
            <a:avLst>
              <a:gd name="adj" fmla="val 1704"/>
            </a:avLst>
          </a:prstGeom>
          <a:solidFill>
            <a:srgbClr val="DA2128"/>
          </a:solidFill>
          <a:ln/>
        </p:spPr>
      </p:sp>
      <p:sp>
        <p:nvSpPr>
          <p:cNvPr id="11" name="Shape 8"/>
          <p:cNvSpPr/>
          <p:nvPr/>
        </p:nvSpPr>
        <p:spPr>
          <a:xfrm>
            <a:off x="5304069" y="215761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pptx_work/icons/lapto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166" y="2252716"/>
            <a:ext cx="541325" cy="5413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60302" y="2934858"/>
            <a:ext cx="3219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060302" y="3236610"/>
            <a:ext cx="32190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380342" y="3803538"/>
            <a:ext cx="25789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bài thực hành: unit test hàm và reducer, test component bằng RTL + userEvent, test bất đồng bộ với mock API và custom hook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553676" y="1791858"/>
            <a:ext cx="3219054" cy="3566160"/>
          </a:xfrm>
          <a:prstGeom prst="roundRect">
            <a:avLst>
              <a:gd name="adj" fmla="val 1704"/>
            </a:avLst>
          </a:prstGeom>
          <a:solidFill>
            <a:srgbClr val="F2F2F2"/>
          </a:solidFill>
          <a:ln/>
        </p:spPr>
      </p:sp>
      <p:sp>
        <p:nvSpPr>
          <p:cNvPr id="17" name="Shape 13"/>
          <p:cNvSpPr/>
          <p:nvPr/>
        </p:nvSpPr>
        <p:spPr>
          <a:xfrm>
            <a:off x="8797442" y="2157618"/>
            <a:ext cx="731520" cy="73152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8" name="Image 2" descr="/home/claude/pptx_work/icons/clipbo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2540" y="2252716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553676" y="2934858"/>
            <a:ext cx="3219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7553676" y="3236610"/>
            <a:ext cx="32190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Bài tập về nhà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7873716" y="3803538"/>
            <a:ext cx="25789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bộ test cho module giỏ hàng đã xây từ Buổi 3–4, đạt coverage ≥ 70%, kèm báo cáo coverage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317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LÝ THUYẾT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88920"/>
            <a:ext cx="11055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KIỂM THỬ ỨNG DỤNG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FRONTEND VỚI TYPESCRIPT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9776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chủ đề giúp viết test tự động đáng tin cậy với Jest và React Testing Library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VẤN ĐỀ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Vì sao cần kiểm thử tự động?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45336"/>
            <a:ext cx="10607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1 chỗ, hỏng 1 chỗ khác — làm sao biết trước khi người dùng phát hiện?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65960"/>
            <a:ext cx="10881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Buổi 1–5 ứng dụng ngày càng lớn: nhiều component, store, hook và đã được tối ưu hiệu năng. Mỗi lần sửa code đều có nguy cơ làm hỏng tính năng cũ (regression)</a:t>
            </a:r>
            <a:endParaRPr lang="en-US" sz="1450" dirty="0"/>
          </a:p>
          <a:p>
            <a:pPr marL="228600" indent="-228600" algn="l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thủ công (bấm thử từng màn hình) tốn thời gian, dễ bỏ sót và không lặp lại được sau mỗi lần commit</a:t>
            </a:r>
            <a:endParaRPr lang="en-US" sz="1450" dirty="0"/>
          </a:p>
          <a:p>
            <a:pPr marL="228600" indent="-228600" algn="l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tự động: viết 1 lần, chạy lại trong vài giây mỗi khi sửa code. TypeScript bắt lỗi về kiểu, còn test bắt lỗi về hành vi</a:t>
            </a:r>
            <a:endParaRPr lang="en-US" sz="1450" dirty="0"/>
          </a:p>
          <a:p>
            <a:pPr marL="0" indent="0" algn="l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Code đã tối ưu ở Buổi 5 chỉ đáng tin khi có test bảo vệ: tối ưu xong mà chức năng sai thì vô nghĩa.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TỔNG QUAN KIỂM THỬ FRONTEND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Kim tự tháp kiểm thử (Testing Pyramid)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test: kiểm thử 1 đơn vị nhỏ (hàm, reducer, hook) tách biệt — nhanh nhất, nhiều nhất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test: nhiều đơn vị phối hợp (component + state + API giả) — cân bằng giữa độ tin cậy và tốc độ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test: chạy như người dùng thật trên trình duyệt thật — tin cậy cao nhất nhưng chậm, đắt, dễ lỗi vặt</a:t>
            </a:r>
            <a:endParaRPr lang="en-US" sz="1350" dirty="0"/>
          </a:p>
          <a:p>
            <a:pPr marL="0" indent="0" algn="l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này tập trung Unit + Integration bằng Jest và RTL; E2E chỉ giới thiệu.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36980" y="1920240"/>
            <a:ext cx="1382244" cy="1054608"/>
          </a:xfrm>
          <a:prstGeom prst="roundRect">
            <a:avLst>
              <a:gd name="adj" fmla="val 4335"/>
            </a:avLst>
          </a:prstGeom>
          <a:solidFill>
            <a:srgbClr val="A818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36980" y="1920240"/>
            <a:ext cx="1382244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/ Playwright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27732" y="3048000"/>
            <a:ext cx="2400739" cy="1054608"/>
          </a:xfrm>
          <a:prstGeom prst="roundRect">
            <a:avLst>
              <a:gd name="adj" fmla="val 4335"/>
            </a:avLst>
          </a:prstGeom>
          <a:solidFill>
            <a:srgbClr val="DA21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27732" y="3048000"/>
            <a:ext cx="2400739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Testing Library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18484" y="4175760"/>
            <a:ext cx="3419234" cy="1054608"/>
          </a:xfrm>
          <a:prstGeom prst="roundRect">
            <a:avLst>
              <a:gd name="adj" fmla="val 4335"/>
            </a:avLst>
          </a:prstGeom>
          <a:solidFill>
            <a:srgbClr val="3FB68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18484" y="4175760"/>
            <a:ext cx="3419234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221163" y="1920240"/>
            <a:ext cx="1437437" cy="111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 · Chậm · Tốn kém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Gần người dùng thật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21163" y="4187038"/>
            <a:ext cx="1437437" cy="111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E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· Nhanh · Rẻ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E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lỗi sớm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TỔNG QUAN KIỂM THỬ FRONTEND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 sánh 3 mức kiểm thử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Phạm vi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Hàm, reducer, hook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+ state + API giả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bộ luồng người dùng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Tốc độ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Mili-giây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Vài chục – vài trăm 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Vài giây đến vài phút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cụ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Jest + React Testing Library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Cypress, Playwright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 ổn định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Rất cao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Dễ lỗi vặt (flaky)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1206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thực tế: nhiều unit test + integration test cho các luồng quan trọng + vài E2E cho kịch bản sống còn (đăng nhập, thanh toán).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JEST + TYPESCRIPT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Jest + TypeScript — Cài đặt &amp; cấu hình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Jest: framework kiểm thử phổ biến nhất của hệ sinh thái JavaScript, tích hợp sẵn runner, assertion (expect), mock và coverage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chạy JavaScript; để viết test bằng TypeScript cần ts-jest (hoặc Babel preset) và @types/jest để có gợi ý kiểu</a:t>
            </a:r>
            <a:endParaRPr lang="en-US" sz="1350" dirty="0"/>
          </a:p>
          <a:p>
            <a:pPr marL="0" indent="0" algn="l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tạo bằng Vite có thể dùng Vitest — API gần như giống Jest, khởi động nhanh hơn.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Cài đặt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-D jest ts-jest @types/jest jest-environment-jsdom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ts-jest config:init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jest.config.ts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preset: 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'ts-jest'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testEnvironment: 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'jsdom'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setupFilesAfterEnv: [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'&lt;rootDir&gt;/jest.setup.ts'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package.json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"scripts"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"test"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"jest"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JEST + TYPESCRIPT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Viết test đầu tiên với describe / it / expect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gom nhóm các test; it (hoặc test) mô tả 1 hành vi; expect(...).matcher() kiểm tra kết quả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test đặt cạnh code: cart.ts ↔ cart.test.ts; chạy bằng npx jest hoặc npm test</a:t>
            </a:r>
            <a:endParaRPr lang="en-US" sz="1350" dirty="0"/>
          </a:p>
          <a:p>
            <a:pPr marL="0" indent="0" algn="l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giúp test an toàn hơn: truyền sai kiểu dữ liệu vào hàm sẽ báo lỗi ngay khi viết test.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cart.ts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calcTotal(items: </a:t>
            </a:r>
            <a:r>
              <a:rPr lang="en-US" sz="10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CartItem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[]): number {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items.reduce((s, i) =&gt; s + i.price * i.qty, 0);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cart.test.ts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calcTotal } </a:t>
            </a: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'./cart'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'calcTotal'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'trả về 0 khi giỏ hàng rỗng'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expect(calcTotal([])).toBe(0);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'cộng đúng giá × số lượng'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items = [{ id: 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price: 100, qty: 2 }];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expect(calcTotal(items)).toBe(200);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JEST + TYPESCRIPT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Các matcher thường dùng trong Jest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Ý nghĩa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Ví dụ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toBe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sánh bằng (===), cho kiểu nguyên thủy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expect(2 + 2).toBe(4)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toEqual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sánh sâu object / array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expect(user).toEqual({ id: 1 })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toBeNull / toBeTruthy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tra null / giá trị truthy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expect(result).toBeNull()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toContain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Mảng hoặc chuỗi chứa phần tử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expect(list).toContain('A')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toThrow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Hàm ném ra lỗi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expect(() =&gt; run()).toThrow()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toHaveBeenCalledWith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Hàm mock được gọi với tham số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expect(fn).toHaveBeenCalledWith(1)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MOCKING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Mock function: jest.fn() và jest.spyOn()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thay thế phụ thuộc thật (API, gửi email, timer) bằng bản giả để test chạy nhanh, ổn định, không có tác dụng phụ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jest.fn() tạo hàm giả, ghi lại số lần gọi và tham số; có thể định sẵn giá trị trả về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jest.spyOn(obj, 'method') theo dõi hàm có sẵn và có thể thay thế tạm thời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onAdd = jest.fn();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render(&lt;</a:t>
            </a:r>
            <a:r>
              <a:rPr lang="en-US" sz="10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ProductCard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product={p} onAdd={onAdd} /&gt;);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userEvent.click(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screen.getByRole(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'button'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 name: 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'Thêm'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expect(onAdd).toHaveBeenCalledTimes(1);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expect(onAdd).toHaveBeenCalledWith(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spyOn: theo dõi console.error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spy = jest.spyOn(console, 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'error'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.mockImplementation();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chạy test ...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spy.mockRestore();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MOCKING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Mock module và API với jest.mock()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jest.mock('./api') thay cả module bằng bản giả; dùng mockResolvedValue / mockRejectedValue để giả lập thành công / lỗi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không gọi mạng thật → nhanh, không phụ thuộc server, tái hiện được cả tình huống lỗi</a:t>
            </a:r>
            <a:endParaRPr lang="en-US" sz="1350" dirty="0"/>
          </a:p>
          <a:p>
            <a:pPr marL="0" indent="0" algn="l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lớn có thể dùng MSW (Mock Service Worker) chặn request ở tầng mạng — sát thực tế hơn.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8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fetchProducts } </a:t>
            </a:r>
            <a:r>
              <a:rPr lang="en-US" sz="98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8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'./api'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8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jest.mock(</a:t>
            </a:r>
            <a:r>
              <a:rPr lang="en-US" sz="98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'./api'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80" dirty="0"/>
          </a:p>
          <a:p>
            <a:pPr marL="0" indent="0" algn="l">
              <a:lnSpc>
                <a:spcPct val="115000"/>
              </a:lnSpc>
              <a:buNone/>
            </a:pPr>
            <a:endParaRPr lang="en-US" sz="98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8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mockFetch = fetchProducts as</a:t>
            </a:r>
            <a:endParaRPr lang="en-US" sz="98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jest.</a:t>
            </a:r>
            <a:r>
              <a:rPr lang="en-US" sz="98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MockedFunction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&lt;typeof fetchProducts&gt;;</a:t>
            </a:r>
            <a:endParaRPr lang="en-US" sz="980" dirty="0"/>
          </a:p>
          <a:p>
            <a:pPr marL="0" indent="0" algn="l">
              <a:lnSpc>
                <a:spcPct val="115000"/>
              </a:lnSpc>
              <a:buNone/>
            </a:pPr>
            <a:endParaRPr lang="en-US" sz="98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8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8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'hiển thị danh sách khi API thành công'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8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98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mockFetch.mockResolvedValue([</a:t>
            </a:r>
            <a:endParaRPr lang="en-US" sz="98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id: </a:t>
            </a:r>
            <a:r>
              <a:rPr lang="en-US" sz="98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'1'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name: </a:t>
            </a:r>
            <a:r>
              <a:rPr lang="en-US" sz="98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'Áo'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98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]);</a:t>
            </a:r>
            <a:endParaRPr lang="en-US" sz="98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render(&lt;</a:t>
            </a:r>
            <a:r>
              <a:rPr lang="en-US" sz="98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ProductList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/&gt;);</a:t>
            </a:r>
            <a:endParaRPr lang="en-US" sz="980" dirty="0"/>
          </a:p>
          <a:p>
            <a:pPr marL="0" indent="0" algn="l">
              <a:lnSpc>
                <a:spcPct val="115000"/>
              </a:lnSpc>
              <a:buNone/>
            </a:pPr>
            <a:endParaRPr lang="en-US" sz="98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</a:t>
            </a:r>
            <a:r>
              <a:rPr lang="en-US" sz="98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screen.findByText(</a:t>
            </a:r>
            <a:r>
              <a:rPr lang="en-US" sz="98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'Áo'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8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.toBeInTheDocument();</a:t>
            </a:r>
            <a:endParaRPr lang="en-US" sz="98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MOCKING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Fake timers — Test debounce không cần chờ thật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dùng setTimeout/setInterval (như useDebounce ở Buổi 5) nếu chờ thật sẽ làm test chậm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jest.useFakeTimers() thay đồng hồ thật bằng đồng hồ giả; jest.advanceTimersByTime(ms) tua nhanh thời gian</a:t>
            </a:r>
            <a:endParaRPr lang="en-US" sz="1350" dirty="0"/>
          </a:p>
          <a:p>
            <a:pPr marL="0" indent="0" algn="l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Nhớ gọi jest.useRealTimers() sau khi xong để không ảnh hưởng các test khác.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jest.useFakeTimers();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'chỉ gọi callback sau 300ms'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cb = jest.fn();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= debounce(cb, 300);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run(); run(); run();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expect(cb).not.toHaveBeenCalled();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jest.advanceTimersByTime(300);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expect(cb).toHaveBeenCalledTimes(1);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afterAll(() =&gt; jest.useRealTimers());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REACT TESTING LIBRARY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React Testing Library — Test như người dùng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Triết lý RTL: test càng giống cách người dùng dùng phần mềm thì càng đáng tin — tìm phần tử theo vai trò, nhãn, văn bản; không theo tên state hay class</a:t>
            </a:r>
            <a:endParaRPr lang="en-US" sz="1300" dirty="0"/>
          </a:p>
          <a:p>
            <a:pPr marL="228600" indent="-2286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kiểm tra chi tiết cài đặt → refactor code mà hành vi không đổi thì test vẫn xanh</a:t>
            </a:r>
            <a:endParaRPr lang="en-US" sz="1300" dirty="0"/>
          </a:p>
          <a:p>
            <a:pPr marL="228600" indent="-228600" algn="l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dựng component vào DOM ảo (jsdom), không cần trình duyệt thật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3832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CHI TIẾT CÀI ĐẶT (dễ vỡ)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33832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" dirty="0">
                <a:solidFill>
                  <a:srgbClr val="2E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HÀNH VI NGƯỜI DÙNG (bền vững)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370332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95528" y="388620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Đọc state nội bộ — vỡ khi refactor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 = shallow(&lt;</a:t>
            </a:r>
            <a:r>
              <a:rPr lang="en-US" sz="11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/&gt;);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expect(w.state(</a:t>
            </a:r>
            <a:r>
              <a:rPr lang="en-US" sz="11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'count'</a:t>
            </a: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)).toBe(0);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w.instance().increment();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expect(w.state(</a:t>
            </a:r>
            <a:r>
              <a:rPr lang="en-US" sz="11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'count'</a:t>
            </a: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)).toBe(1);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370332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37960" y="388620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Làm &amp; thấy như người dùng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render(&lt;</a:t>
            </a:r>
            <a:r>
              <a:rPr lang="en-US" sz="10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userEvent.click(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screen.getByRole(</a:t>
            </a:r>
            <a:r>
              <a:rPr lang="en-US" sz="10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'button'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 name: </a:t>
            </a:r>
            <a:r>
              <a:rPr lang="en-US" sz="10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'Tăng'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expect(screen.getByText(</a:t>
            </a:r>
            <a:r>
              <a:rPr lang="en-US" sz="10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'Số lần: 1'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.toBeInTheDocument();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REACT TESTING LIBRARY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Cài đặt RTL và render component TypeScript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gồm 3 gói: @testing-library/react (render, screen), jest-dom (matcher như toBeInTheDocument), user-event (mô phỏng thao tác)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render(&lt;Component /&gt;) dựng component vào DOM ảo; screen truy vấn phần tử trong DOM đó</a:t>
            </a:r>
            <a:endParaRPr lang="en-US" sz="1350" dirty="0"/>
          </a:p>
          <a:p>
            <a:pPr marL="0" indent="0" algn="l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'@testing-library/jest-dom' 1 lần trong jest.setup.ts cho toàn dự án.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-D @testing-library/react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-D @testing-library/jest-dom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-D @testing-library/user-event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jest.setup.ts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'@testing-library/jest-dom'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ProductCard.test.tsx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render(&lt;</a:t>
            </a:r>
            <a:r>
              <a:rPr lang="en-US" sz="10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ProductCard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product={p} onAdd={jest.fn()} /&gt;);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expect(screen.getByText(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'Áo thun'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.toBeInTheDocument();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REACT TESTING LIBRARY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Truy vấn phần tử: getBy, queryBy, findBy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 query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tìm thấy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Cách dùng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getBy…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Ném lỗi ngay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Phần tử chắc chắn đã có trên giao diện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queryBy…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Trả về null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Khẳng định phần tử KHÔNG xuất hiện: expect(queryByText('Lỗi')).toBeNull()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findBy…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Ném lỗi sau khi hết thời gian chờ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Phần tử xuất hiện bất đồng bộ — trả về Promise, dùng với await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477316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'All' (getAllBy…, queryAllBy…, findAllBy…) khi cần nhiều phần tử cùng lúc, ví dụ đếm số dòng trong danh sách.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REACT TESTING LIBRARY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Thứ tự ưu tiên khi chọn query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411730" cy="1097280"/>
          </a:xfrm>
          <a:prstGeom prst="roundRect">
            <a:avLst>
              <a:gd name="adj" fmla="val 5000"/>
            </a:avLst>
          </a:prstGeom>
          <a:solidFill>
            <a:srgbClr val="A818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874520"/>
            <a:ext cx="22288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getByRole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cao nhất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5234" y="2322576"/>
            <a:ext cx="338328" cy="201168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7" name="Shape 5"/>
          <p:cNvSpPr/>
          <p:nvPr/>
        </p:nvSpPr>
        <p:spPr>
          <a:xfrm>
            <a:off x="3390138" y="1874520"/>
            <a:ext cx="2411730" cy="10972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81578" y="1874520"/>
            <a:ext cx="22288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getByLabelText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 nhập của 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38444" y="2322576"/>
            <a:ext cx="338328" cy="201168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10" name="Shape 8"/>
          <p:cNvSpPr/>
          <p:nvPr/>
        </p:nvSpPr>
        <p:spPr>
          <a:xfrm>
            <a:off x="6213348" y="1874520"/>
            <a:ext cx="2411730" cy="10972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4788" y="1874520"/>
            <a:ext cx="22288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getByText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hiển thị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61654" y="2322576"/>
            <a:ext cx="338328" cy="201168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13" name="Shape 11"/>
          <p:cNvSpPr/>
          <p:nvPr/>
        </p:nvSpPr>
        <p:spPr>
          <a:xfrm>
            <a:off x="9036558" y="1874520"/>
            <a:ext cx="2411730" cy="1097280"/>
          </a:xfrm>
          <a:prstGeom prst="roundRect">
            <a:avLst>
              <a:gd name="adj" fmla="val 5000"/>
            </a:avLst>
          </a:prstGeom>
          <a:solidFill>
            <a:srgbClr val="DA21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27998" y="1874520"/>
            <a:ext cx="22288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getByTestId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cuối cùng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337560"/>
            <a:ext cx="10881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getByRole('button', { name: 'Thêm' }) vừa giống người dùng, vừa kiểm tra luôn khả năng truy cập (accessibility)</a:t>
            </a:r>
            <a:endParaRPr lang="en-US" sz="1450" dirty="0"/>
          </a:p>
          <a:p>
            <a:pPr marL="228600" indent="-2286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dùng getByTestId (data-testid) khi không còn cách nào khác — vì người dùng không nhìn thấy test id</a:t>
            </a:r>
            <a:endParaRPr lang="en-US" sz="1450" dirty="0"/>
          </a:p>
          <a:p>
            <a:pPr marL="0" indent="0" algn="l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Mẹo: screen.debug() in DOM hiện tại ra console; Testing Playground gợi ý query phù hợp nhất cho từng phần tử.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REACT TESTING LIBRARY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userEvent và các matcher của jest-dom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userEvent mô phỏng thao tác thật: click, type, tab, hover — sát người dùng hơn fireEvent (luôn dùng với await)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jest-dom thêm matcher đọc như câu: toBeInTheDocument, toBeVisible, toBeDisabled, toHaveTextContent, toHaveValue</a:t>
            </a:r>
            <a:endParaRPr lang="en-US" sz="1350" dirty="0"/>
          </a:p>
          <a:p>
            <a:pPr marL="0" indent="0" algn="l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TypeScript: import jest-dom giúp các matcher mới có gợi ý kiểu đầy đủ.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'thêm sản phẩm vào giỏ'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 = userEvent.setup();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render(&lt;</a:t>
            </a:r>
            <a:r>
              <a:rPr lang="en-US" sz="10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AddToCartForm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/&gt;);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user.</a:t>
            </a: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screen.getByLabelText(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'Số lượng'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'2'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user.click(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screen.getByRole(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'button'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 name: 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'Thêm'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expect(screen.getByText(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'Đã thêm 2 sản phẩm'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.toBeVisible();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REACT TESTING LIBRARY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 component có props TypeScript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có kiểu rõ ràng → dữ liệu mẫu trong test cũng đúng kiểu; thiếu props bắt buộc, TypeScript báo lỗi ngay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hàm tạo dữ liệu mẫu (factory) với Partial&lt;Product&gt; để tránh lặp lại dữ liệu ở mỗi test</a:t>
            </a:r>
            <a:endParaRPr lang="en-US" sz="1350" dirty="0"/>
          </a:p>
          <a:p>
            <a:pPr marL="0" indent="0" algn="l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đủ trạng thái: bình thường, hết hàng (disabled), đang tải.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makeProduct = (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override: </a:t>
            </a:r>
            <a:r>
              <a:rPr lang="en-US" sz="98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8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= {}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r>
              <a:rPr lang="en-US" sz="98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({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</a:t>
            </a:r>
            <a:r>
              <a:rPr lang="en-US" sz="98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'1'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name: </a:t>
            </a:r>
            <a:r>
              <a:rPr lang="en-US" sz="98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'Áo thun'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price: 199000, stock: 5,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...override,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8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'vô hiệu hoá nút khi hết hàng'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render(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</a:t>
            </a:r>
            <a:r>
              <a:rPr lang="en-US" sz="98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ProductCard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product={makeProduct({ stock: 0 })}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onAdd={jest.fn()}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/&gt;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screen.getByRole(</a:t>
            </a:r>
            <a:r>
              <a:rPr lang="en-US" sz="98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'button'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 name: </a:t>
            </a:r>
            <a:r>
              <a:rPr lang="en-US" sz="98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'Thêm'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).toBeDisabled();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BẤT ĐỒNG BỘ, HOOK &amp; REDUX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Kiểm thử bất đồng bộ: findBy và waitFor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cập nhật sau khi gọi API (loading → dữ liệu) — test phải CHỜ phần tử xuất hiện thay vì kiểm tra ngay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findBy… = getBy… + chờ (mặc định tối đa 1 giây); waitFor(() =&gt; expect(...)) chờ đến khi điều kiện đúng</a:t>
            </a:r>
            <a:endParaRPr lang="en-US" sz="1350" dirty="0"/>
          </a:p>
          <a:p>
            <a:pPr marL="0" indent="0" algn="l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đủ 3 trạng thái: đang tải, thành công, lỗi. Không dùng setTimeout/sleep thủ công trong test.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8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'hiển thị loading rồi dữ liệu'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8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mockFetch.mockResolvedValue([{ id: </a:t>
            </a:r>
            <a:r>
              <a:rPr lang="en-US" sz="98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'1'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name: </a:t>
            </a:r>
            <a:r>
              <a:rPr lang="en-US" sz="98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'Áo'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}]);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render(&lt;</a:t>
            </a:r>
            <a:r>
              <a:rPr lang="en-US" sz="98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ProductList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/&gt;);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expect(screen.getByText(</a:t>
            </a:r>
            <a:r>
              <a:rPr lang="en-US" sz="98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'Đang tải...'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.toBeInTheDocument();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</a:t>
            </a:r>
            <a:r>
              <a:rPr lang="en-US" sz="98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screen.findByText(</a:t>
            </a:r>
            <a:r>
              <a:rPr lang="en-US" sz="98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'Áo'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.toBeInTheDocument();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8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'hiển thị lỗi khi API thất bại'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8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{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mockFetch.mockRejectedValue(</a:t>
            </a:r>
            <a:r>
              <a:rPr lang="en-US" sz="98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8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8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'500'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render(&lt;</a:t>
            </a:r>
            <a:r>
              <a:rPr lang="en-US" sz="98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ProductList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/&gt;);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</a:t>
            </a:r>
            <a:r>
              <a:rPr lang="en-US" sz="98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screen.findByRole(</a:t>
            </a:r>
            <a:r>
              <a:rPr lang="en-US" sz="98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'alert'</a:t>
            </a: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.toBeInTheDocument();</a:t>
            </a:r>
            <a:endParaRPr lang="en-US" sz="98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8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BẤT ĐỒNG BỘ, HOOK &amp; REDUX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 custom hook với renderHook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không chạy được ngoài component → dùng renderHook của @testing-library/react để chạy hook trong component giả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result.current chứa giá trị hook trả về; bọc thao tác đổi state trong act() để React cập nhật</a:t>
            </a:r>
            <a:endParaRPr lang="en-US" sz="1350" dirty="0"/>
          </a:p>
          <a:p>
            <a:pPr marL="0" indent="0" algn="l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cho useDebounce (Buổi 5), usePagination, useFetch (Buổi 2) — nơi chứa logic tái sử dụng.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renderHook, act } </a:t>
            </a: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'@testing-library/react'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'useCounter tăng giá trị'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result } = renderHook(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=&gt; useCounter(0)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expect(result.current.count).toBe(0);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act(() =&gt; {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result.current.increment();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expect(result.current.count).toBe(1);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BẤT ĐỒNG BỘ, HOOK &amp; REDUX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 Redux Toolkit slice (reducer thuần)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 là hàm thuần (state, action) → state mới: test không cần React, không cần cả store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reducer(stateCũ, action) rồi so sánh state mới bằng toEqual — loại test dễ viết nhất</a:t>
            </a:r>
            <a:endParaRPr lang="en-US" sz="1350" dirty="0"/>
          </a:p>
          <a:p>
            <a:pPr marL="0" indent="0" algn="l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cả trường hợp biên: xoá item không tồn tại, thêm trùng, giỏ hàng rỗng.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cartReducer, {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addItem, removeItem,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'./cartSlice'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initial = { items: [], totalQuantity: 0 };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'addItem thêm sản phẩm vào giỏ'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state = cartReducer(initial, addItem(item));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expect(state.items).toHaveLength(1);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'removeItem bỏ qua id không tồn tại'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state = cartReducer(initial, removeItem(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expect(state).toEqual(initial);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BẤT ĐỒNG BỘ, HOOK &amp; REDUX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 component kết nối Redux Store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dùng useAppSelector/useAppDispatch cần &lt;Provider&gt; → viết hàm renderWithProviders dùng lại ở mọi test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test tạo store MỚI (kèm preloadedState) để các test không ảnh hưởng lẫn nhau</a:t>
            </a:r>
            <a:endParaRPr lang="en-US" sz="1350" dirty="0"/>
          </a:p>
          <a:p>
            <a:pPr marL="0" indent="0" algn="l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kết quả qua giao diện (text xuất hiện) thay vì đọc trực tiếp store.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renderWithProviders(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ui: </a:t>
            </a:r>
            <a:r>
              <a:rPr lang="en-US" sz="10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ReactElement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preloadedState?: </a:t>
            </a:r>
            <a:r>
              <a:rPr lang="en-US" sz="10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RootState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store = configureStore({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reducer: rootReducer,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preloadedState,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store,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...render(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</a:t>
            </a:r>
            <a:r>
              <a:rPr lang="en-US" sz="10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store={store}&gt;{ui}&lt;/</a:t>
            </a:r>
            <a:r>
              <a:rPr lang="en-US" sz="10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COVERAGE &amp; BEST 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Độ phủ mã nguồn (coverage)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jest --coverage sinh báo cáo 4 chỉ số: Statements, Branches, Functions, Lines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cho biết dòng nào CHƯA được test chạy qua — không chứng minh test viết tốt; 100% không đồng nghĩa không còn lỗi</a:t>
            </a:r>
            <a:endParaRPr lang="en-US" sz="1350" dirty="0"/>
          </a:p>
          <a:p>
            <a:pPr marL="0" indent="0" algn="l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ngưỡng hợp lý (vd 70–80%) trong jest.config để CI báo đỏ khi coverage tụt.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2651760"/>
          </a:xfrm>
          <a:prstGeom prst="roundRect">
            <a:avLst>
              <a:gd name="adj" fmla="val 206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37960" y="18470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REPORT (minh hoạ)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2194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01000" y="2335378"/>
            <a:ext cx="2788920" cy="221285"/>
          </a:xfrm>
          <a:prstGeom prst="roundRect">
            <a:avLst>
              <a:gd name="adj" fmla="val 16529"/>
            </a:avLst>
          </a:prstGeom>
          <a:solidFill>
            <a:srgbClr val="D9D9D9"/>
          </a:solidFill>
          <a:ln/>
        </p:spPr>
      </p:sp>
      <p:sp>
        <p:nvSpPr>
          <p:cNvPr id="9" name="Shape 7"/>
          <p:cNvSpPr/>
          <p:nvPr/>
        </p:nvSpPr>
        <p:spPr>
          <a:xfrm>
            <a:off x="8001000" y="2335378"/>
            <a:ext cx="2398471" cy="221285"/>
          </a:xfrm>
          <a:prstGeom prst="roundRect">
            <a:avLst>
              <a:gd name="adj" fmla="val 16529"/>
            </a:avLst>
          </a:prstGeom>
          <a:solidFill>
            <a:srgbClr val="3FB68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881360" y="2194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01000" y="2838298"/>
            <a:ext cx="2788920" cy="221285"/>
          </a:xfrm>
          <a:prstGeom prst="roundRect">
            <a:avLst>
              <a:gd name="adj" fmla="val 16529"/>
            </a:avLst>
          </a:prstGeom>
          <a:solidFill>
            <a:srgbClr val="D9D9D9"/>
          </a:solidFill>
          <a:ln/>
        </p:spPr>
      </p:sp>
      <p:sp>
        <p:nvSpPr>
          <p:cNvPr id="13" name="Shape 11"/>
          <p:cNvSpPr/>
          <p:nvPr/>
        </p:nvSpPr>
        <p:spPr>
          <a:xfrm>
            <a:off x="8001000" y="2838298"/>
            <a:ext cx="2008022" cy="221285"/>
          </a:xfrm>
          <a:prstGeom prst="roundRect">
            <a:avLst>
              <a:gd name="adj" fmla="val 16529"/>
            </a:avLst>
          </a:prstGeom>
          <a:solidFill>
            <a:srgbClr val="E0AF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881360" y="2697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200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01000" y="3341218"/>
            <a:ext cx="2788920" cy="221285"/>
          </a:xfrm>
          <a:prstGeom prst="roundRect">
            <a:avLst>
              <a:gd name="adj" fmla="val 16529"/>
            </a:avLst>
          </a:prstGeom>
          <a:solidFill>
            <a:srgbClr val="D9D9D9"/>
          </a:solidFill>
          <a:ln/>
        </p:spPr>
      </p:sp>
      <p:sp>
        <p:nvSpPr>
          <p:cNvPr id="17" name="Shape 15"/>
          <p:cNvSpPr/>
          <p:nvPr/>
        </p:nvSpPr>
        <p:spPr>
          <a:xfrm>
            <a:off x="8001000" y="3341218"/>
            <a:ext cx="2537917" cy="221285"/>
          </a:xfrm>
          <a:prstGeom prst="roundRect">
            <a:avLst>
              <a:gd name="adj" fmla="val 16529"/>
            </a:avLst>
          </a:prstGeom>
          <a:solidFill>
            <a:srgbClr val="3FB68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881360" y="3200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703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01000" y="3844138"/>
            <a:ext cx="2788920" cy="221285"/>
          </a:xfrm>
          <a:prstGeom prst="roundRect">
            <a:avLst>
              <a:gd name="adj" fmla="val 16529"/>
            </a:avLst>
          </a:prstGeom>
          <a:solidFill>
            <a:srgbClr val="D9D9D9"/>
          </a:solidFill>
          <a:ln/>
        </p:spPr>
      </p:sp>
      <p:sp>
        <p:nvSpPr>
          <p:cNvPr id="21" name="Shape 19"/>
          <p:cNvSpPr/>
          <p:nvPr/>
        </p:nvSpPr>
        <p:spPr>
          <a:xfrm>
            <a:off x="8001000" y="3844138"/>
            <a:ext cx="2370582" cy="221285"/>
          </a:xfrm>
          <a:prstGeom prst="roundRect">
            <a:avLst>
              <a:gd name="adj" fmla="val 16529"/>
            </a:avLst>
          </a:prstGeom>
          <a:solidFill>
            <a:srgbClr val="3FB68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881360" y="3703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457200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537960" y="475488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jest --coverage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jest.config.ts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coverageThreshold: {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global: { branches: 70, lines: 80 },</a:t>
            </a:r>
            <a:endParaRPr lang="en-US" sz="1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COVERAGE &amp; BEST 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Trước/sau khi có test tự động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Tình huống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có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Sửa hàm calcTotal (thêm giảm giá)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Mở app, thêm hàng, tính tay để kiểm tra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Chạy npm test: test đỏ báo ngay sai ở đâu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 component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Sợ đụng vào, dễ hỏng ngầm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xanh = hành vi không đổi, yên tâm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 kiểm tra sau mỗi lần sửa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Vài phút (thủ công)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Vài giây (tự động)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điểm phát hiện lỗi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Khi người dùng báo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Ngay khi commit (CI)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1206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viết test được bù lại ở mỗi lần sửa code về sau — đặc biệt với module hay thay đổi như giỏ hàng, thanh toán.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COVERAGE &amp; BEST 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Nên test gì — Không nên test gì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Nên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nên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Hành vi nhìn thấy được: văn bản, nút, trạng thái disabled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nội bộ, tên hàm, cấu trúc component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nghiệp vụ: tính tổng, validate, reducer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Thư viện bên thứ ba (React, MUI) — họ đã test rồi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Nhánh lỗi, ngoại lệ và trường hợp biên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tiết giao diện (màu, padding) bằng snapshot lớn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Luồng quan trọng nhất: đăng nhập, thanh toán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không chứa logic (chỉ truyền props)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1206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test (toMatchSnapshot) chỉ nên dùng hạn chế cho component nhỏ, ổn định — snapshot lớn dễ vỡ và khiến người ta bấm 'update' mà không đọc.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COVERAGE &amp; BEST 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Mẫu AAA và quy ước đặt tên test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352800" cy="1188720"/>
          </a:xfrm>
          <a:prstGeom prst="roundRect">
            <a:avLst>
              <a:gd name="adj" fmla="val 4615"/>
            </a:avLst>
          </a:prstGeom>
          <a:solidFill>
            <a:srgbClr val="A818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874520"/>
            <a:ext cx="316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bị: dữ liệu, render, mock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56304" y="2368296"/>
            <a:ext cx="338328" cy="201168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7" name="Shape 5"/>
          <p:cNvSpPr/>
          <p:nvPr/>
        </p:nvSpPr>
        <p:spPr>
          <a:xfrm>
            <a:off x="4331208" y="1874520"/>
            <a:ext cx="3352800" cy="118872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22648" y="1874520"/>
            <a:ext cx="316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hiện: click, gõ, gọi hàm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20584" y="2368296"/>
            <a:ext cx="338328" cy="201168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10" name="Shape 8"/>
          <p:cNvSpPr/>
          <p:nvPr/>
        </p:nvSpPr>
        <p:spPr>
          <a:xfrm>
            <a:off x="8095488" y="1874520"/>
            <a:ext cx="3352800" cy="1188720"/>
          </a:xfrm>
          <a:prstGeom prst="roundRect">
            <a:avLst>
              <a:gd name="adj" fmla="val 4615"/>
            </a:avLst>
          </a:prstGeom>
          <a:solidFill>
            <a:srgbClr val="DA21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86928" y="1874520"/>
            <a:ext cx="316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tra: expect kết quả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383280"/>
            <a:ext cx="10881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test chỉ kiểm tra 1 hành vi; tên mô tả bằng ngôn ngữ tự nhiên: 'hiển thị lỗi khi email sai' thay vì 'test 1'</a:t>
            </a:r>
            <a:endParaRPr lang="en-US" sz="1450" dirty="0"/>
          </a:p>
          <a:p>
            <a:pPr marL="228600" indent="-2286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độc lập: không phụ thuộc thứ tự chạy, dọn dẹp mock sau mỗi test (afterEach → jest.clearAllMocks())</a:t>
            </a:r>
            <a:endParaRPr lang="en-US" sz="1450" dirty="0"/>
          </a:p>
          <a:p>
            <a:pPr marL="0" indent="0" algn="l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test cạnh file nguồn (*.test.tsx) và chạy tự động trong CI mỗi lần push (sẽ làm ở Buổi 15).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COVERAGE &amp; BEST 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Thư viện bổ trợ cho kiểm thử frontend</a:t>
            </a:r>
            <a:endParaRPr lang="en-US" sz="2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Thư viện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Cài đặt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ts-jest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Biên dịch TypeScript khi chạy Jest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i -D ts-jest @types/jest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@testing-library/react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render, screen, renderHook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i -D @testing-library/react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@testing-library/user-event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phỏng thao tác người dùng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i -D @testing-library/user-event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 lập API ở tầng mạng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i -D msw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runner thay Jest cho dự án Vite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i -D vitest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 / Cypress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thử E2E trên trình duyệt thật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init playwright@latest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Checklist kiểm thử ứng dụng React + TypeScript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2880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unit test, vừa đủ integration test, ít E2E cho kịch bản sống còn</a:t>
            </a:r>
            <a:endParaRPr lang="en-US" sz="1500" dirty="0"/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ts-jest cho logic (hàm, reducer, hook); RTL + userEvent cho component</a:t>
            </a:r>
            <a:endParaRPr lang="en-US" sz="1500" dirty="0"/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vấn theo vai trò/nhãn/văn bản (getByRole trước tiên); getByTestId là lựa chọn cuối</a:t>
            </a:r>
            <a:endParaRPr lang="en-US" sz="1500" dirty="0"/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API và timer để test nhanh, ổn định; luôn test cả nhánh lỗi</a:t>
            </a:r>
            <a:endParaRPr lang="en-US" sz="1500" dirty="0"/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 đồng bộ: dùng findBy/waitFor, không sleep thủ công</a:t>
            </a:r>
            <a:endParaRPr lang="en-US" sz="1500" dirty="0"/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test 1 hành vi, độc lập, đặt tên rõ ràng; theo mẫu Arrange – Act – Assert</a:t>
            </a:r>
            <a:endParaRPr lang="en-US" sz="1500" dirty="0"/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coverage để tìm vùng chưa test, đặt ngưỡng hợp lý, không chạy theo 100%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Kết nối với các buổi trước và đồ án cuối kỳ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3–4: slice Redux Toolkit test như hàm thuần; Zustand store test bằng cách gọi action rồi đọc getState()</a:t>
            </a:r>
            <a:endParaRPr lang="en-US" sz="1550" dirty="0"/>
          </a:p>
          <a:p>
            <a:pPr marL="228600" indent="-228600" algn="l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5: useDebounce test bằng fake timers; tối ưu (memo, lazy, virtualization) không được làm đổi kết quả hiển thị — test là lưới an toàn</a:t>
            </a:r>
            <a:endParaRPr lang="en-US" sz="1550" dirty="0"/>
          </a:p>
          <a:p>
            <a:pPr marL="228600" indent="-228600" algn="l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cuối kỳ yêu cầu test Jest/RTL cho ít nhất 2 module — bộ test hôm nay chính là nền tảng</a:t>
            </a:r>
            <a:endParaRPr lang="en-US" sz="1550" dirty="0"/>
          </a:p>
          <a:p>
            <a:pPr marL="0" indent="0" algn="l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Buổi 7 chuyển sang Next.js (SSR, SSG, ISR); Jest và RTL vẫn dùng được cho component của Next.js.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317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THỰC HÀNH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88920"/>
            <a:ext cx="11055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CÙNG VIẾT CODE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9776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test cho hàm, component và luồng bất đồng bộ qua 3 bài thực hành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1/3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 1 — Unit test hàm TypeScript và reducer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cầu: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Jest + ts-jest, cấu hình jest.config.ts và chạy được npm test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tối thiểu 5 test cho calcTotal và cartSlice (addItem, removeItem, updateQuantity)</a:t>
            </a:r>
            <a:endParaRPr lang="en-US" sz="1400" dirty="0"/>
          </a:p>
          <a:p>
            <a:pPr marL="0" indent="0" algn="l">
              <a:lnSpc>
                <a:spcPct val="113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thực hiện: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Cài đặt và cấu hình Jest + ts-jest cho dự án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Viết test cho calcTotal: giỏ rỗng, 1 sản phẩm, nhiều sản phẩm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Viết test cho cartSlice, gồm cả trường hợp biên (xoá id không tồn tại)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4937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95528" y="5120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-D jest ts-jest @types/jest &amp;&amp; npx ts-jest config:init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2/3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 2 — Test component bằng RTL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cầu: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test cho ProductCard và CartSummary bằng React Testing Library + userEvent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thiểu 4 test: hiển thị đúng, click gọi onAdd, disabled khi hết hàng, hiển thị đúng tổng tiền</a:t>
            </a:r>
            <a:endParaRPr lang="en-US" sz="1400" dirty="0"/>
          </a:p>
          <a:p>
            <a:pPr marL="0" indent="0" algn="l">
              <a:lnSpc>
                <a:spcPct val="113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thực hiện: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Cài RTL + jest-dom, tạo jest.setup.ts import '@testing-library/jest-dom'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Dùng render + getByRole / getByText để kiểm tra phần hiển thị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Dùng userEvent.click + jest.fn() để kiểm tra onAdd được gọi đúng tham số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4937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95528" y="5120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render(&lt;</a:t>
            </a:r>
            <a:r>
              <a:rPr lang="en-US" sz="11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ProductCard</a:t>
            </a: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product={makeProduct()} onAdd={onAdd} /&gt;);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3/3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 3 — Test bất đồng bộ, hook và coverage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cầu: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API fetchProducts, test 3 trạng thái loading / thành công / lỗi cho ProductList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useDebounce bằng fake timers, sau đó chạy jest --coverage</a:t>
            </a:r>
            <a:endParaRPr lang="en-US" sz="1400" dirty="0"/>
          </a:p>
          <a:p>
            <a:pPr marL="0" indent="0" algn="l">
              <a:lnSpc>
                <a:spcPct val="113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thực hiện: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Dùng mockResolvedValue / mockRejectedValue kết hợp findBy… để test ProductList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renderHook + jest.useFakeTimers + advanceTimersByTime(300) để test useDebounce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Chạy npx jest --coverage, đọc báo cáo và bổ sung test để module giỏ hàng đạt ≥ 70%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4937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95528" y="5120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jest --coverage --collectCoverageFrom=</a:t>
            </a:r>
            <a:r>
              <a:rPr lang="en-US" sz="11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"src/features/**/*.{ts,tsx}"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317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88920"/>
            <a:ext cx="11055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BÀI TẬP VỀ NHÀ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9776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trước khi vào Buổi 7 — Next.js: SSR, SSG, ISR, App Router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TRƯỚC BUỔI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Bài tập về nhà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" cy="54864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5" name="Image 0" descr="/home/claude/pptx_work/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70" y="1887322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810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Đề bài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423160"/>
            <a:ext cx="5577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bộ test cho module giỏ hàng/sản phẩm đã xây từ Buổi 3–4 (hoặc 1 module trong đồ án nhóm)</a:t>
            </a:r>
            <a:endParaRPr lang="en-US" sz="1300" dirty="0"/>
          </a:p>
          <a:p>
            <a:pPr marL="228600" indent="-228600" algn="l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thiểu 10 test case gồm unit (hàm, reducer, hook) và integration (component với RTL)</a:t>
            </a:r>
            <a:endParaRPr lang="en-US" sz="1300" dirty="0"/>
          </a:p>
          <a:p>
            <a:pPr marL="228600" indent="-228600" algn="l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ít nhất 1 test bất đồng bộ với API được mock</a:t>
            </a:r>
            <a:endParaRPr lang="en-US" sz="1300" dirty="0"/>
          </a:p>
          <a:p>
            <a:pPr marL="228600" indent="-228600" algn="l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jest --coverage đạt ≥ 70% cho module đã chọn; nộp kèm ảnh báo cáo coverage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92240" y="1783080"/>
            <a:ext cx="5120640" cy="4160520"/>
          </a:xfrm>
          <a:prstGeom prst="roundRect">
            <a:avLst>
              <a:gd name="adj" fmla="val 1319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122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ĐÁNH GIÁ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246888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≥ 10 test, đa dạng: unit + integration + bất đồng bộ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kiểm tra hành vi, không phụ thuộc chi tiết cài đặt; tên test rõ ràng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đúng query (ưu tiên getByRole) và mock hợp lý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≥ 70% có báo cáo đính kèm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đúng hạn trước giờ học Buổi 7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 KHI RỜI LỚP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Chuẩn bị &amp; tài liệu tham khảo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219054" cy="4251960"/>
          </a:xfrm>
          <a:prstGeom prst="roundRect">
            <a:avLst>
              <a:gd name="adj" fmla="val 1704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10312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6" name="Image 0" descr="/home/claude/pptx_work/icons/tool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89" y="2176821"/>
            <a:ext cx="419527" cy="4195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32688" y="2834640"/>
            <a:ext cx="2578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Công cụ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3383280"/>
            <a:ext cx="257897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LTS + VS Code (extension Jest Runner)</a:t>
            </a:r>
            <a:endParaRPr lang="en-US" sz="1200" dirty="0"/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 -D jest ts-jest @testing-library/react</a:t>
            </a:r>
            <a:endParaRPr lang="en-US" sz="1200" dirty="0"/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Playground (testing-playground.com)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060302" y="1783080"/>
            <a:ext cx="3219054" cy="4251960"/>
          </a:xfrm>
          <a:prstGeom prst="roundRect">
            <a:avLst>
              <a:gd name="adj" fmla="val 1704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426062" y="210312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1" name="Image 1" descr="/home/claude/pptx_work/icons/boo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762" y="217682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26062" y="2834640"/>
            <a:ext cx="2578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Tài liệu chính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426062" y="3383280"/>
            <a:ext cx="257897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— Official Docs (jestjs.io)</a:t>
            </a:r>
            <a:endParaRPr lang="en-US" sz="1200" dirty="0"/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Library — Guiding Principles (testing-library.com)</a:t>
            </a:r>
            <a:endParaRPr lang="en-US" sz="1200" dirty="0"/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C. Dodds — Common mistakes with React Testing Library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553676" y="1783080"/>
            <a:ext cx="3219054" cy="4251960"/>
          </a:xfrm>
          <a:prstGeom prst="roundRect">
            <a:avLst>
              <a:gd name="adj" fmla="val 1704"/>
            </a:avLst>
          </a:prstGeom>
          <a:solidFill>
            <a:srgbClr val="F2F2F2"/>
          </a:solidFill>
          <a:ln/>
        </p:spPr>
      </p:sp>
      <p:sp>
        <p:nvSpPr>
          <p:cNvPr id="15" name="Shape 11"/>
          <p:cNvSpPr/>
          <p:nvPr/>
        </p:nvSpPr>
        <p:spPr>
          <a:xfrm>
            <a:off x="7919436" y="210312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6" name="Image 2" descr="/home/claude/pptx_work/icons/rout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3136" y="217682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919436" y="2834640"/>
            <a:ext cx="2578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Kết nối buổi sau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919436" y="3383280"/>
            <a:ext cx="257897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7: Next.js — SSR, SSG, ISR, App Router</a:t>
            </a:r>
            <a:endParaRPr lang="en-US" sz="1200" dirty="0"/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cuối kỳ: viết test Jest/RTL cho ít nhất 2 module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A2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assets/logo_rip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6926" y="226771"/>
            <a:ext cx="444398" cy="5687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49494" y="123444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1" descr="/home/claude/pptx_work/icons/question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1481328"/>
            <a:ext cx="603504" cy="6035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66928" y="26974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CẢM ƠN &amp; HỎI ĐÁP</a:t>
            </a:r>
            <a:endParaRPr lang="en-US" sz="36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383280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7: Next.js — SSR, SSG, ISR, App Router — hẹn gặp lại!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448056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viên: Ngô Văn Nhận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0888726113  ·  nhannv@ptit.edu.vn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Web nâng cao  |  Buổi 6: Kiểm thử ứng dụng Frontend với TypeScript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4853</Words>
  <Application>Microsoft Office PowerPoint</Application>
  <PresentationFormat>Widescreen</PresentationFormat>
  <Paragraphs>623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Courier New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Nhận NV</cp:lastModifiedBy>
  <cp:revision>1</cp:revision>
  <dcterms:created xsi:type="dcterms:W3CDTF">2026-10-04T07:58:11Z</dcterms:created>
  <dcterms:modified xsi:type="dcterms:W3CDTF">2026-10-05T01:36:36Z</dcterms:modified>
</cp:coreProperties>
</file>