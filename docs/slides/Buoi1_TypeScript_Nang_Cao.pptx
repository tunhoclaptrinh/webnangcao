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V Nhận" userId="ef425cf36cd38040" providerId="LiveId" clId="{2C14F94B-8584-4F36-9B15-1FF60DBA1F27}"/>
    <pc:docChg chg="modSld">
      <pc:chgData name="NV Nhận" userId="ef425cf36cd38040" providerId="LiveId" clId="{2C14F94B-8584-4F36-9B15-1FF60DBA1F27}" dt="2026-08-24T17:53:29.306" v="5" actId="6549"/>
      <pc:docMkLst>
        <pc:docMk/>
      </pc:docMkLst>
      <pc:sldChg chg="modSp mod">
        <pc:chgData name="NV Nhận" userId="ef425cf36cd38040" providerId="LiveId" clId="{2C14F94B-8584-4F36-9B15-1FF60DBA1F27}" dt="2026-08-24T17:53:29.306" v="5" actId="6549"/>
        <pc:sldMkLst>
          <pc:docMk/>
          <pc:sldMk cId="0" sldId="257"/>
        </pc:sldMkLst>
        <pc:spChg chg="mod">
          <ac:chgData name="NV Nhận" userId="ef425cf36cd38040" providerId="LiveId" clId="{2C14F94B-8584-4F36-9B15-1FF60DBA1F27}" dt="2026-08-24T17:53:24.059" v="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NV Nhận" userId="ef425cf36cd38040" providerId="LiveId" clId="{2C14F94B-8584-4F36-9B15-1FF60DBA1F27}" dt="2026-08-24T17:53:26.644" v="4" actId="6549"/>
          <ac:spMkLst>
            <pc:docMk/>
            <pc:sldMk cId="0" sldId="257"/>
            <ac:spMk id="9" creationId="{00000000-0000-0000-0000-000000000000}"/>
          </ac:spMkLst>
        </pc:spChg>
        <pc:spChg chg="mod">
          <ac:chgData name="NV Nhận" userId="ef425cf36cd38040" providerId="LiveId" clId="{2C14F94B-8584-4F36-9B15-1FF60DBA1F27}" dt="2026-08-24T17:53:29.306" v="5" actId="6549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NV Nhận" userId="ef425cf36cd38040" providerId="LiveId" clId="{2C14F94B-8584-4F36-9B15-1FF60DBA1F27}" dt="2026-08-24T17:53:02.582" v="0" actId="14100"/>
        <pc:sldMkLst>
          <pc:docMk/>
          <pc:sldMk cId="0" sldId="277"/>
        </pc:sldMkLst>
        <pc:spChg chg="mod">
          <ac:chgData name="NV Nhận" userId="ef425cf36cd38040" providerId="LiveId" clId="{2C14F94B-8584-4F36-9B15-1FF60DBA1F27}" dt="2026-08-24T17:53:02.582" v="0" actId="14100"/>
          <ac:spMkLst>
            <pc:docMk/>
            <pc:sldMk cId="0" sldId="27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94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TI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footer_de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12191695" cy="57607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6576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1: TypeScript nâng cao cho ứng dụng lớn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cover_bg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58798"/>
            <a:ext cx="12191695" cy="549828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2148840"/>
            <a:ext cx="11055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PHẦN: LẬP TRÌNH WEB NÂNG CAO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548640" y="2542032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BUỔI 1 — TYPESCRIPT NÂNG CAO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 ỨNG DỤNG LỚN</a:t>
            </a:r>
            <a:endParaRPr lang="en-US" sz="4000" dirty="0"/>
          </a:p>
        </p:txBody>
      </p:sp>
      <p:sp>
        <p:nvSpPr>
          <p:cNvPr id="7" name="Text 2"/>
          <p:cNvSpPr/>
          <p:nvPr/>
        </p:nvSpPr>
        <p:spPr>
          <a:xfrm>
            <a:off x="566928" y="4315968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+ Thực hành với TypeScript  •  3 tiết học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66928" y="553212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Giảng viên: Ngô Văn Nhận – 0888726113 – nhannv@ptit.edu.vn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Reseach Institute of Posts and Telecommunications  (RIPT)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Mục tiêu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9" y="19482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dụng thành thạo các tính năng TypeScript nâng cao (Generics, Utility Types, Conditional Types, Type Guards) trong dự án </a:t>
            </a:r>
            <a:r>
              <a:rPr lang="en-US" sz="16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292608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8" name="Image 1" descr="/home/claude/pptx_work/icons/cub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9" y="2999781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803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được bộ type/interface phức tạp, tái sử dụng cao cho hệ thống nhiều thực thể </a:t>
            </a:r>
            <a:r>
              <a:rPr lang="en-US" sz="16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66928" y="397764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2" descr="/home/claude/pptx_work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9" y="4051341"/>
            <a:ext cx="419527" cy="4195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9319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nguyên lý Decorator — nền tảng quan trọng để tiếp cận NestJS ở các </a:t>
            </a:r>
            <a:r>
              <a:rPr lang="en-US" sz="16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Nội dung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961388" y="2331720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86" y="242681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35021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Lý thuyết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6968" y="41148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chủ đề TypeScript nâng cao: Generics, Utility Types, Conditional Types, Type Guards, Decorators, Module &amp; .d.ts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DA2128"/>
          </a:solidFill>
          <a:ln/>
        </p:spPr>
      </p:sp>
      <p:sp>
        <p:nvSpPr>
          <p:cNvPr id="11" name="Shape 8"/>
          <p:cNvSpPr/>
          <p:nvPr/>
        </p:nvSpPr>
        <p:spPr>
          <a:xfrm>
            <a:off x="5756148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work/icons/lap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246" y="242681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61688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361688" y="35021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81728" y="41148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thực hành trực tiếp: bộ type hệ thống sinh viên, custom type guard, viết decorator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56448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9550908" y="2331720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8" name="Image 2" descr="/home/claude/pptx_work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006" y="242681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156448" y="35021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476488" y="41148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bộ type TypeScript cho module Quản lý đơn hàng, nộp kèm giải thích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LÝ THUYẾT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TYPESCRIPT NÂNG CAO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 ỨNG DỤNG LỚN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chủ đề trọng tâm giúp mã nguồn an toàn kiểu dữ liệu hơn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ĐẶT VẤN ĐỀ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Vì sao cần TypeScript nâng cao?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dự án lớn dần lên...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loại dữ liệu (User, Product, Order...) dùng lại nhiều nơi → viết type trùng lặp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trả về nhiều dạng dữ liệu khác nhau nhưng cấu trúc bọc ngoài giống nhau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phân biệt nhiều biến thể của cùng một thực thể (Admin/User, Draft/Published...)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bên thứ ba không có sẵn type → mất an toàn kiểu dữ liệu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874520"/>
            <a:ext cx="4892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Lặp lại nhiều lần trong dự án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getUsers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&lt;{ data: User[]; total: number }&gt;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getProducts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&lt;{ data: Product[]; total: number }&gt;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TypeScript nâng cao giải quyết bằng Generic: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Paginated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 data: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 total: number 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GENERICS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Generics nâng cao — Khái niệm &amp; Constraint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constraint (extends): giới hạn kiểu T phải thoả một điều kiện nhất định.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với nhiều tham số: &lt;T, K&gt; — thường dùng khi cần liên kết 2 kiểu dữ liệu.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function/class trong thực tế: ApiResponse&lt;T&gt;, Repository&lt;T&gt;...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ích: vừa tái sử dụng code, vừa giữ được kiểm tra kiểu chặt chẽ.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37960" y="19202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constraint: T phải có thuộc tính id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HasId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id: string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HasId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[], id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items.find(x =&gt; x.id === id)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GENERICS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Generics nâng cao — Ví dụ thực tế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8064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20240"/>
            <a:ext cx="5349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Kiểu bọc chuẩn hoá cho MỌI API response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ApiResponse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statusCode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Repository generic thao tác CRUD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HasId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items: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[];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add(item: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this.items.push(item)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29400" y="178308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ApiResponse&lt;T&gt; dùng chung cho mọi endpoint, chỉ thay T theo dữ liệu trả về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Repository&lt;T&gt; là khuôn mẫu CRUD tái sử dụng cho User, Product, Order...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viết này chính là nền tảng của Service/Repository trong NestJS (buổi sau)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UTILITY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Utility Types dựng sẵn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5760720" cy="3520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Utility Type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Công dụng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Partial&lt;T&gt;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Biến tất cả thuộc tính của T thành tuỳ chọn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Pick&lt;T, K&gt;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Chỉ lấy một số thuộc tính K từ T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Omit&lt;T, K&gt;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Loại bỏ một số thuộc tính K khỏi T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Record&lt;K, V&gt;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Tạo object có khoá kiểu K, giá trị kiểu V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Readonly&lt;T&gt;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Biến tất cả thuộc tính của T thành chỉ đọc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Required&lt;T&gt;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Biến tất cả thuộc tính của T thành bắt buộc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7373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9202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id: string; name: string; email: string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 cập nhật: mọi field đều tuỳ chọn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UpdateUserDto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Chỉ hiển thị tên &amp; email trong danh sách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UserPreview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 | 'email'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MAPPED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Tự viết Utility Type bằng Mapped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Type: duyệt qua từng key của một type để tạo type mới.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pháp: { [P in keyof T]: ... }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tự tạo các Utility Type riêng phù hợp nghiệp vụ (ví dụ: Nullable&lt;T&gt;).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703320"/>
            <a:ext cx="5806440" cy="2450592"/>
          </a:xfrm>
          <a:prstGeom prst="roundRect">
            <a:avLst>
              <a:gd name="adj" fmla="val 2985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3886200"/>
            <a:ext cx="53492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Tự viết lại Readonly bằng Mapped Type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MyReadonly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= 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readonly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 in keyof T]: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[P];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Utility Type riêng: cho phép field nhận thêm null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Nullable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= 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 in keyof T]: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[P] | null;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37960" y="1737360"/>
            <a:ext cx="5120640" cy="4416552"/>
          </a:xfrm>
          <a:prstGeom prst="roundRect">
            <a:avLst>
              <a:gd name="adj" fmla="val 1656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920240"/>
            <a:ext cx="466344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Áp dụng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discount: number;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ProductForm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Nullable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discount có thể là number | null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CONDITIONAL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Conditional Types &amp; infer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pháp: T extends U ? X : Y — kiểu kết quả phụ thuộc điều kiện.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infer: 'trích xuất' một kiểu con bên trong kiểu phức tạp (ví dụ: kiểu trả về của hàm).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 dùng khi viết type helper cho thư viện hoặc framework.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70332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388620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Conditional Type cơ bản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IsString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=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infer: lấy kiểu trả về của một hàm bất kỳ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ReturnOf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=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(...args: any[]) =&gt; 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getUser() { return { id: '1', name: 'A' }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UserType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ReturnOf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getUser&gt;;  </a:t>
            </a: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{id,name:string}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TYPE GUARDS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 Guards &amp; Narrowing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 / instanceof: kiểm tra kiểu nguyên thuỷ hoặc kiểu class có sẵn.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type guard: hàm trả về kiểu 'x is T' để TypeScript tự thu hẹp kiểu.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Discriminated Union: dùng 1 thuộc tính chung (ví dụ 'role', 'type') để phân biệt union.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37960" y="192024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role: </a:t>
            </a: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permissions: string[] };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role: </a:t>
            </a: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'user'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point: number };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AdminUser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type guard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isAdmin(u: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u 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AdminUser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u.role === </a:t>
            </a: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DECORATORS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Decorators cơ bản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= hàm đặc biệt gắn thêm hành vi cho class/method/property (ký hiệu @).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bật "experimentalDecorators": true trong tsconfig.json.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Decorator: nhận vào constructor của class.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Decorator: nhận vào target, tên method, descriptor.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chính là cơ chế cốt lõi mà NestJS dùng cho @Controller, @Injectable... (học ở Buổi 10).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4652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2024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Method Decorator: ghi log khi gọi hàm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Log(target: any, key: string, desc: PropertyDescriptor)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original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desc.value;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desc.value </a:t>
            </a: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(...args: any[])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console.log(`Gọi ${key} với`, args);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original.apply(this, args);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OrderService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@Log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createOrder(id: string) { /* ... */ 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MODULE &amp; .D.TS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Module, Namespace &amp; khai báo type cho thư viện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file .ts với import/export là một module — cách tổ chức code chuẩn cho dự án lớn.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gom nhóm logic liên quan (ít dùng hơn module trong dự án hiện đại).</a:t>
            </a:r>
            <a:endParaRPr lang="en-US" sz="15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JavaScript thuần không có type sẵn → cần khai báo trong file .d.ts.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749040"/>
            <a:ext cx="10881360" cy="2423160"/>
          </a:xfrm>
          <a:prstGeom prst="roundRect">
            <a:avLst>
              <a:gd name="adj" fmla="val 301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3931920"/>
            <a:ext cx="10424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declarations.d.ts — khai báo type cho thư viện JS thuần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module </a:t>
            </a: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'legacy-currency-lib'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 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formatVND(amount: number)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Giờ đây import và dùng có gợi ý kiểu đầy đủ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formatVND } from </a:t>
            </a: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'legacy-currency-lib'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formatVND(150000); </a:t>
            </a: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'150.000 ₫'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 TẬP NHANH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Tổng kết 7 chủ đề lý thuyết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74520" y="2651760"/>
            <a:ext cx="2103120" cy="2103120"/>
          </a:xfrm>
          <a:prstGeom prst="ellipse">
            <a:avLst/>
          </a:prstGeom>
          <a:solidFill>
            <a:srgbClr val="DA2128"/>
          </a:solidFill>
          <a:ln/>
        </p:spPr>
      </p:sp>
      <p:sp>
        <p:nvSpPr>
          <p:cNvPr id="5" name="Text 3"/>
          <p:cNvSpPr/>
          <p:nvPr/>
        </p:nvSpPr>
        <p:spPr>
          <a:xfrm>
            <a:off x="1874520" y="26517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TypeScript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nâng cao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flipV="1">
            <a:off x="2926080" y="1965960"/>
            <a:ext cx="2720340" cy="173736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926080" y="1965960"/>
            <a:ext cx="5646420" cy="173736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926080" y="2971800"/>
            <a:ext cx="7795260" cy="7315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3703320"/>
            <a:ext cx="7795260" cy="82296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3703320"/>
            <a:ext cx="5646420" cy="192024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3703320"/>
            <a:ext cx="2720340" cy="192024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3703320"/>
            <a:ext cx="1485900" cy="11887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916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A21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nâng cao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16916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A21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Types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38360" y="269748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A21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2697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Types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38360" y="42519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A21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4251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Types &amp; infer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89520" y="53492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A21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53492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Guards &amp; Narrowing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53492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A21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53492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29000" y="461772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A21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617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&amp; .d.ts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THỰC HÀNH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CÙNG VIẾT 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ngay các kiến thức vừa học vào 3 bài thực hành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1 — Bộ type quản lý sinh viên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interface Student, Course, Enrollment</a:t>
            </a:r>
            <a:endParaRPr lang="en-US" sz="1400" dirty="0"/>
          </a:p>
          <a:p>
            <a:pPr marL="457200" lvl="1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generic ApiResponse&lt;T&gt; và Paginated&lt;T&gt; đã học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Xác định thuộc tính của từng thực thể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Viết generic ApiResponse&lt;T&gt;, Paginated&lt;T&gt;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Viết hàm mẫu getStudents(): Promise&lt;ApiResponse&lt;Paginated&lt;Student&gt;&gt;&gt;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3736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72200" y="19202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 name: string;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courses: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Paginated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 page: number; total: number;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getStudents()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ApiResponse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Paginated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{ ... }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2 — Custom Type Guard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08813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custom type guard phân biệt AdminUser và NormalUser trong union type AppUser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Định nghĩa 2 type AdminUser, NormalUser với thuộc tính 'role' riêng biệt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Viết hàm isAdmin(u): u is AdminUser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Dùng if (isAdmin(u)) để TypeScript tự thu hẹp kiểu trong nhánh code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2062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43891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handleUser(u: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AppUser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(isAdmin(u))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console.log(u.permissions); </a:t>
            </a: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hợp lệ: u là AdminUser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console.log(u.point); </a:t>
            </a: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hợp lệ: u là NormalUser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3 — Viết Decorator @Log và @Readonly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2 decorator: @Log (ghi log khi gọi method) và @Readonly (đánh dấu property chỉ đọc)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cấu hình: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"experimentalDecorators": true trong tsconfig.json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0" y="173736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72200" y="19202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Property Decorator: chặn ghi đè giá trị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Readonly(target: any, key: string)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Object.defineProperty(target, key,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writable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false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AppConfig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@Readonly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apiUrl = </a:t>
            </a: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'https://api.ptit.edu.vn'</a:t>
            </a: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khi vào Buổi 2 — Design Pattern trong React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TRƯỚC BUỔI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185440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Đề bài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2423160"/>
            <a:ext cx="5577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bộ type TypeScript đầy đủ (interface, enum, generic) cho module "Quản lý đơn hàng":</a:t>
            </a:r>
            <a:endParaRPr lang="en-US" sz="1450" dirty="0"/>
          </a:p>
          <a:p>
            <a:pPr marL="457200" lvl="1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OrderItem, Product, Customer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tái sử dụng bằng generic và Utility Types đã học (Partial, Pick, Omit...)</a:t>
            </a:r>
            <a:endParaRPr lang="en-US" sz="14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file .ts kèm đoạn giải thích ngắn (vì sao thiết kế như vậy)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92240" y="178308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246888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 đủ type cho 4 thực thể, đúng quan hệ dữ liệu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sử dụng generic hợp lý (không dùng any tuỳ tiện)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đúng tối thiểu 2 Utility Type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rõ ràng, có comment giải thích lựa chọn thiết kế</a:t>
            </a:r>
            <a:endParaRPr lang="en-US" sz="140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hạn trước giờ học Buổi 2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RỜI LỚP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Chuẩn bị &amp; tài liệu tham khảo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48840"/>
            <a:ext cx="502920" cy="5029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28" y="22142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Công cụ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 + VS Code</a:t>
            </a:r>
            <a:endParaRPr lang="en-US" sz="12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Playground (playground.typescriptlang.org)</a:t>
            </a:r>
            <a:endParaRPr lang="en-US" sz="12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ESLint, Prettier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636008" y="2148840"/>
            <a:ext cx="502920" cy="5029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1" descr="/home/claude/pptx_work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388" y="22142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Tài liệu chính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6008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Handbook (typescriptlang.org/docs)</a:t>
            </a:r>
            <a:endParaRPr lang="en-US" sz="12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Mehul Mohan, Advanced Web Development with React, BPB, 2020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6448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0768" y="2148840"/>
            <a:ext cx="502920" cy="5029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6" name="Image 2" descr="/home/claude/pptx_work/icons/rou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148" y="22142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nối buổi sau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30768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2: Design Pattern trong React (HOC, Render Props, Compound Component)</a:t>
            </a:r>
            <a:endParaRPr lang="en-US" sz="1250" dirty="0"/>
          </a:p>
          <a:p>
            <a:pPr marL="228600" indent="-2286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nâng cao hôm nay sẽ dùng lại trong toàn bộ generic props ở Buổi 2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A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rip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0408" y="12344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/home/claude/pptx_work/icons/questio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481328"/>
            <a:ext cx="603504" cy="6035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928" y="2606040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CẢM ƠN &amp; HỎI ĐÁP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097280" y="3429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2: Kiến trúc &amp; Design Pattern trong React — hẹn gặp lại!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537885" y="4846320"/>
            <a:ext cx="91131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Ngô Văn Nhận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0888726113  ·  nhannv@ptit.edu.vn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76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1: TypeScript nâng cao cho ứng dụng lớn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2271</Words>
  <Application>Microsoft Office PowerPoint</Application>
  <PresentationFormat>Widescreen</PresentationFormat>
  <Paragraphs>295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Nhận</dc:creator>
  <cp:lastModifiedBy>NV Nhận</cp:lastModifiedBy>
  <cp:revision>1</cp:revision>
  <dcterms:created xsi:type="dcterms:W3CDTF">2026-08-23T11:14:40Z</dcterms:created>
  <dcterms:modified xsi:type="dcterms:W3CDTF">2026-08-24T17:55:37Z</dcterms:modified>
</cp:coreProperties>
</file>