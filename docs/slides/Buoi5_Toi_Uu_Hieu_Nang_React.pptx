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5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ận NV" userId="ef425cf36cd38040" providerId="LiveId" clId="{AA7B1E39-7D9D-4EDF-B3D0-C75235A0861C}"/>
    <pc:docChg chg="custSel modSld">
      <pc:chgData name="Nhận NV" userId="ef425cf36cd38040" providerId="LiveId" clId="{AA7B1E39-7D9D-4EDF-B3D0-C75235A0861C}" dt="2026-09-28T04:26:27.152" v="135" actId="20577"/>
      <pc:docMkLst>
        <pc:docMk/>
      </pc:docMkLst>
      <pc:sldChg chg="modSp mod">
        <pc:chgData name="Nhận NV" userId="ef425cf36cd38040" providerId="LiveId" clId="{AA7B1E39-7D9D-4EDF-B3D0-C75235A0861C}" dt="2026-09-28T04:26:27.152" v="135" actId="20577"/>
        <pc:sldMkLst>
          <pc:docMk/>
          <pc:sldMk cId="0" sldId="293"/>
        </pc:sldMkLst>
        <pc:spChg chg="mod">
          <ac:chgData name="Nhận NV" userId="ef425cf36cd38040" providerId="LiveId" clId="{AA7B1E39-7D9D-4EDF-B3D0-C75235A0861C}" dt="2026-09-28T04:26:27.152" v="135" actId="20577"/>
          <ac:spMkLst>
            <pc:docMk/>
            <pc:sldMk cId="0" sldId="29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9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TI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footer_de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81928"/>
            <a:ext cx="12191695" cy="57607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657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5: Tối ưu hiệu năng ứng dụng React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pt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4762" cy="1022299"/>
          </a:xfrm>
          <a:prstGeom prst="rect">
            <a:avLst/>
          </a:prstGeom>
        </p:spPr>
      </p:pic>
      <p:pic>
        <p:nvPicPr>
          <p:cNvPr id="3" name="Image 1" descr="/home/claude/pptx_work/assets/logo_rip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pic>
        <p:nvPicPr>
          <p:cNvPr id="4" name="Image 2" descr="/home/claude/pptx_work/assets/cover_bg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58798"/>
            <a:ext cx="12191695" cy="5498287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66928" y="214884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PHẦN: LẬP TRÌNH WEB NÂNG CAO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548640" y="2542032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BUỔI 5 — TỐI ƯU HIỆU NĂNG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ỨNG DỤNG REACT</a:t>
            </a:r>
            <a:endParaRPr lang="en-US" sz="4000" dirty="0"/>
          </a:p>
        </p:txBody>
      </p:sp>
      <p:sp>
        <p:nvSpPr>
          <p:cNvPr id="7" name="Text 2"/>
          <p:cNvSpPr txBox="1"/>
          <p:nvPr/>
        </p:nvSpPr>
        <p:spPr>
          <a:xfrm>
            <a:off x="566928" y="431596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+ Thực hành với TypeScript  •  3 tiết học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566928" y="5532120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Giảng viên: Ngô Văn Nhận – 0888726113 – nhannv@ptit.edu.vn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Reseach Institute of Posts and Telecommunications  (RIPT)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Mục tiêu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gau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9" y="19482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288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vấn đề hiệu năng bằng đúng công cụ đo lường: React DevTools Profiler, Lighthouse, phân tích bundle size.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292608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8" name="Image 1" descr="/home/claude/pptx_work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29" y="2999781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8803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KHẮC PHỤC bằng đúng kỹ thuật: memoization (React.memo/useMemo/useCallback), code-splitting, virtualization — dùng đúng chỗ, tránh lạm dụng.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66928" y="397764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2" descr="/home/claude/pptx_work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9" y="4051341"/>
            <a:ext cx="419527" cy="4195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9319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thành thói quen áp dụng best practice ngay từ đầu để hạn chế vấn đề hiệu năng phát sinh trong ứng dụng React quy mô lớn.</a:t>
            </a:r>
            <a:endParaRPr lang="en-US" sz="1550" dirty="0"/>
          </a:p>
        </p:txBody>
      </p:sp>
      <p:sp>
        <p:nvSpPr>
          <p:cNvPr id="13" name="Text 8"/>
          <p:cNvSpPr txBox="1"/>
          <p:nvPr/>
        </p:nvSpPr>
        <p:spPr>
          <a:xfrm>
            <a:off x="566928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chung: Phát hiện và khắc phục được các vấn đề hiệu năng phổ biến trong ứng dụng React bằng công cụ và kỹ thuật phù hợp.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Nội dung buổi học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810695" y="2157618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792" y="2252716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Lý thuyết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đề: cơ chế render &amp; re-render, memoization (memo/useMemo/useCallback), code-splitting, virtualization, công cụ đo lường (Profiler/Lighthouse/bundle), best practice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60302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DA2128"/>
          </a:solidFill>
          <a:ln/>
        </p:spPr>
      </p:sp>
      <p:sp>
        <p:nvSpPr>
          <p:cNvPr id="11" name="Shape 8"/>
          <p:cNvSpPr/>
          <p:nvPr/>
        </p:nvSpPr>
        <p:spPr>
          <a:xfrm>
            <a:off x="5304069" y="215761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work/icons/lap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166" y="2252716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60302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60302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380342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thực hành: dùng Profiler phát hiện &amp; sửa re-render thừa, virtualization 10.000 sản phẩm, lazy load theo route cho ứng dụng đã xây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553676" y="1791858"/>
            <a:ext cx="3219054" cy="35661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7" name="Shape 13"/>
          <p:cNvSpPr/>
          <p:nvPr/>
        </p:nvSpPr>
        <p:spPr>
          <a:xfrm>
            <a:off x="8797442" y="2157618"/>
            <a:ext cx="731520" cy="73152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8" name="Image 2" descr="/home/claude/pptx_work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540" y="2252716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553676" y="2934858"/>
            <a:ext cx="3219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553676" y="3236610"/>
            <a:ext cx="32190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7873716" y="3803538"/>
            <a:ext cx="2578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hiệu năng 1 trang trong đồ án môn học bằng Lighthouse trước/sau khi tối ưu, viết báo cáo so sánh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· LÝ THUYẾT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TỐI ƯU HIỆU NĂNG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ỨNG DỤNG REACT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chủ đề giúp phát hiện và khắc phục đúng vấn đề hiệu năng trong ứng dụng React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Vì sao cần đo trước khi tối ưu?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45336"/>
            <a:ext cx="10607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theo cảm tính có thể khiến code phức tạp hơn mà không nhanh hơn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6596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Buổi 1–4 đã xây được nhiều tính năng (TypeScript, pattern React, Redux Toolkit, Zustand, Context) nhưng chưa quan tâm: ứng dụng có đang render thừa hay tải chậm hay không?</a:t>
            </a:r>
            <a:endParaRPr lang="en-US" sz="145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lầm thường gặp: thêm useMemo/useCallback/React.memo khắp nơi mà không đo trước — vừa tốn công, vừa có thể làm chậm hơn vì bản thân memo hóa cũng có chi phí</a:t>
            </a:r>
            <a:endParaRPr lang="en-US" sz="1450" dirty="0"/>
          </a:p>
          <a:p>
            <a:pPr marL="0" indent="0" algn="l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Nguyên tắc vàng: "Đo trước, tối ưu sau" (measure, don't guess) — muốn đo đúng, trước tiên cần hiểu React render và re-render như thế nào.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CƠ CHẾ RENDER &amp; RE-RENDER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 render như thế nào?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state hoặc props thay đổi, React gọi lại hàm component để tạo ra 1 "Virtual DOM" mới — 1 cây object JavaScript mô tả giao diện mong muốn, KHÔNG phải thao tác trực tiếp lên DOM thật</a:t>
            </a:r>
            <a:endParaRPr lang="en-US" sz="1400" dirty="0"/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Reconciliation: React so sánh (diff) Virtual DOM mới với Virtual DOM trước đó, chỉ tính ra phần THỰC SỰ khác biệt</a:t>
            </a:r>
            <a:endParaRPr lang="en-US" sz="1400" dirty="0"/>
          </a:p>
          <a:p>
            <a:pPr marL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chỉ những thay đổi tối thiểu đó mới được áp dụng vào DOM thật. "Render" chỉ là bước gọi lại hàm — không đồng nghĩa DOM thật chắc chắn thay đổi.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434840"/>
            <a:ext cx="2411730" cy="1051560"/>
          </a:xfrm>
          <a:prstGeom prst="roundRect">
            <a:avLst>
              <a:gd name="adj" fmla="val 5217"/>
            </a:avLst>
          </a:prstGeom>
          <a:solidFill>
            <a:srgbClr val="A818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4434840"/>
            <a:ext cx="24117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State/Props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15234" y="486003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8" name="Shape 6"/>
          <p:cNvSpPr/>
          <p:nvPr/>
        </p:nvSpPr>
        <p:spPr>
          <a:xfrm>
            <a:off x="3390138" y="4434840"/>
            <a:ext cx="241173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90138" y="4434840"/>
            <a:ext cx="24117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(gọi lại function)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38444" y="486003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1" name="Shape 9"/>
          <p:cNvSpPr/>
          <p:nvPr/>
        </p:nvSpPr>
        <p:spPr>
          <a:xfrm>
            <a:off x="6213348" y="4434840"/>
            <a:ext cx="241173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3348" y="4434840"/>
            <a:ext cx="24117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61654" y="4860036"/>
            <a:ext cx="338328" cy="201168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9036558" y="4434840"/>
            <a:ext cx="2411730" cy="1051560"/>
          </a:xfrm>
          <a:prstGeom prst="roundRect">
            <a:avLst>
              <a:gd name="adj" fmla="val 5217"/>
            </a:avLst>
          </a:prstGeom>
          <a:solidFill>
            <a:srgbClr val="DA21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36558" y="4434840"/>
            <a:ext cx="24117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DOM thật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CƠ CHẾ RENDER &amp; RE-RENDER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Vì sao xảy ra re-render không cần thiết?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của component (hoặc component cha) thay đổi — kéo theo TOÀN BỘ cây con render lại theo mặc định</a:t>
            </a:r>
            <a:endParaRPr lang="en-US" sz="1500" dirty="0"/>
          </a:p>
          <a:p>
            <a:pPr marL="228600" indent="-228600" algn="l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thay đổi tham chiếu (object/array/hàm tạo mới mỗi lần render) dù giá trị "nhìn có vẻ giống nhau"</a:t>
            </a:r>
            <a:endParaRPr lang="en-US" sz="1500" dirty="0"/>
          </a:p>
          <a:p>
            <a:pPr marL="228600" indent="-228600" algn="l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thay đổi — mọi component đang "consume" Context đó đều render lại, kể cả khi chỉ cần 1 phần dữ liệu (đã học ở Buổi 4)</a:t>
            </a:r>
            <a:endParaRPr lang="en-US" sz="1500" dirty="0"/>
          </a:p>
          <a:p>
            <a:pPr marL="228600" indent="-228600" algn="l">
              <a:lnSpc>
                <a:spcPct val="122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cha render lại luôn kéo theo MỌI component con render lại theo, trừ khi con được bọc React.memo</a:t>
            </a:r>
            <a:endParaRPr lang="en-US" sz="1500" dirty="0"/>
          </a:p>
          <a:p>
            <a:pPr marL="0" indent="0" algn="l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kỹ thuật ghi nhớ (memoization) ở phần tiếp theo chính là công cụ để kiểm soát từng nguyên nhân trên.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REACT.MEMO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React.memo() — Ngăn re-render khi props không đổi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kỹ thuật ghi nhớ (memoization) trong React: React.memo, useMemo, useCallback — mỗi kỹ thuật kiểm soát 1 nguyên nhân re-render vừa nêu</a:t>
            </a:r>
            <a:endParaRPr lang="en-US" sz="1350" dirty="0"/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React.memo(Component) so sánh nông (shallow compare) props cũ và mới — props giống nhau thì bỏ qua render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hữu ích khi: (1) props ổn định, (2) việc render tốn chi phí đủ lớn để đáng "so sánh trước khi render".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657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REACT.MEMO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4308" y="40690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DA21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4308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95828" y="4572000"/>
            <a:ext cx="0" cy="502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7048" y="5074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A21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27048" y="5074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95828" y="4572000"/>
            <a:ext cx="0" cy="502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15768" y="5074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A21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15768" y="5074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95828" y="4572000"/>
            <a:ext cx="1188720" cy="502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04488" y="5074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A21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04488" y="5074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760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3 con đều render lại theo Parent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90488" y="3657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REACT.MEMO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87868" y="40690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DA21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87868" y="4069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19388" y="4572000"/>
            <a:ext cx="0" cy="502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5074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50608" y="5074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19388" y="4572000"/>
            <a:ext cx="0" cy="502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9328" y="5074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A212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39328" y="5074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19388" y="4572000"/>
            <a:ext cx="1188720" cy="502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28048" y="507492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28048" y="5074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90488" y="5760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Con 2 (props đổi) render lại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REACT.MEMO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Áp dụng React.memo() và custom comparison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Mặc định React.memo so sánh nông từng field của props — với object/array lồng nhau phức tạp, có thể cần hàm so sánh riêng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thứ 2 của React.memo là hàm arePropsEqual(prev, next) tuỳ chỉnh logic so sánh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true nghĩa là "props coi như giống nhau, KHÔNG cần render lại".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7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ProductCardProps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</a:t>
            </a:r>
            <a:r>
              <a:rPr lang="en-US" sz="87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onAdd: (id: </a:t>
            </a:r>
            <a:r>
              <a:rPr lang="en-US" sz="87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</a:t>
            </a: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 = React.memo(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ProductCard({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product, onAdd,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}: </a:t>
            </a:r>
            <a:r>
              <a:rPr lang="en-US" sz="87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ProductCardProps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&lt;div&gt;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&lt;span&gt;{product.name}&lt;/span&gt;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&lt;button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onClick={() =&gt; onAdd(product.id)}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&gt;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Thêm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&lt;/button&gt;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&lt;/div&gt;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(prev, next) =&gt;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prev.product.id === next.product.id</a:t>
            </a:r>
            <a:endParaRPr lang="en-US" sz="87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8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USEMEMO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useMemo — Ghi nhớ giá trị tính toán tốn kém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useMemo(() =&gt; tính toán, [deps]) chỉ TÍNH LẠI giá trị khi 1 phần tử trong deps thay đổi; nếu không, trả về giá trị đã lưu ở lần render trước</a:t>
            </a:r>
            <a:endParaRPr lang="en-US" sz="14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phép tính TỐN CHI PHÍ: lọc/sắp xếp danh sách lớn, tính toán tổng hợp phức tạp — không phải cho mọi biến</a:t>
            </a:r>
            <a:endParaRPr lang="en-US" sz="1400" dirty="0"/>
          </a:p>
          <a:p>
            <a:pPr marL="0" indent="0" algn="l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 KHÔNG ngăn component render lại — nó chỉ tránh TÍNH LẠI 1 giá trị bên trong lần render đó.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filteredProducts = useMemo(() =&gt; {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products.filter((p) =&gt;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p.name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.toLowerCase()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.includes(keyword.toLowerCase())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[products, keyword]);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USEMEMO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useMemo trong lọc &amp; tìm kiếm danh sách lớn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2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danh sách hàng nghìn sản phẩm, nếu lọc lại mỗi lần component render (kể cả khi keyword không đổi) sẽ rất tốn CPU</a:t>
            </a:r>
            <a:endParaRPr lang="en-US" sz="1500" dirty="0"/>
          </a:p>
          <a:p>
            <a:pPr marL="228600" indent="-228600" algn="l">
              <a:lnSpc>
                <a:spcPct val="122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 giúp CHỈ lọc lại khi products hoặc keyword thực sự thay đổi</a:t>
            </a:r>
            <a:endParaRPr lang="en-US" sz="1500" dirty="0"/>
          </a:p>
          <a:p>
            <a:pPr marL="0" indent="0" algn="l">
              <a:lnSpc>
                <a:spcPct val="12200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tốt với debounce (học ở phần best practice) để giảm số lần keyword thay đổi khi gõ nhanh.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USECALLBACK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useCallback — Ghi nhớ tham chiếu hàm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component render, MỌI hàm khai báo bên trong đều được tạo mới — dù logic bên trong giống hệt lần trước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useCallback(fn, [deps]) trả về CÙNG 1 tham chiếu hàm giữa các lần render, miễn là deps không đổi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trọng khi truyền hàm xuống 1 component con đã bọc React.memo — nếu không, memo vô tác dụng vì props (hàm) luôn "khác nhau" theo tham chiếu.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handleAdd = useCallback(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(id: </a:t>
            </a:r>
            <a:r>
              <a:rPr lang="en-US" sz="12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dispatch(addItem(id));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[dispatch]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USECALLBACK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useCallback kết hợp với React.memo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ProductCard đã bọc React.memo nhưng prop onAdd là 1 hàm được tạo mới mỗi lần render cha → memo vẫn không có tác dụng</a:t>
            </a:r>
            <a:endParaRPr lang="en-US" sz="1400" dirty="0"/>
          </a:p>
          <a:p>
            <a:pPr marL="0" indent="0" algn="l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Bọc handler bằng useCallback để giữ nguyên tham chiếu hàm — khi đó React.memo mới thực sự phát huy hiệu quả.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ProductList({ products }: </a:t>
            </a:r>
            <a:r>
              <a:rPr lang="en-US" sz="9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dispatch = useAppDispatch();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handleAdd = useCallback(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(id: </a:t>
            </a:r>
            <a:r>
              <a:rPr lang="en-US" sz="95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dispatch(addItem(id)),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[dispatch]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{products.map((p) =&gt; (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&lt;ProductCard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key={p.id}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product={p}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onAdd={handleAdd}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PHÂN BIỆT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Phân biệt React.memo, useMemo và useCallback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0881360" cy="3291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React.memo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useMemo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useCallback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nhớ gì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RENDER của cả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GIÁ TRỊ (kết quả tính toán)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HÀM (tham chiếu function)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Áp dụng cho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(bọc bên ngoài)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 bên trong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Hàm bên trong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Cú pháp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React.memo(Component)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useMemo(() =&gt; value, deps)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useCallback(fn, deps)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khi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 ổn định, render tốn chi phí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 toán tốn chi phí (lọc, sort)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Truyền callback xuống con đã memo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0749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ghi nhớ: cả 3 đều là kỹ thuật memoization nhưng khác đối tượng ghi nhớ — React.memo ghi nhớ cả 1 component, useMemo ghi nhớ 1 giá trị, useCallback ghi nhớ 1 hàm (thực chất useCallback(fn, deps) chỉ là useMemo(() =&gt; fn, deps)). Dùng đúng loại cho đúng thứ cần ghi nhớ.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MEMOIZATION — TRÁNH LẠM DỤNG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Dùng đúng chỗ, tránh lạm dụng memoization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2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thân React.memo/useMemo/useCallback đều tốn chi phí (so sánh props, lưu giá trị, lưu tham chiếu) — với phép tính ĐƠN GIẢN, chi phí memo hóa còn cao hơn chi phí tính lại</a:t>
            </a:r>
            <a:endParaRPr lang="en-US" sz="1500" dirty="0"/>
          </a:p>
          <a:p>
            <a:pPr marL="228600" indent="-228600" algn="l">
              <a:lnSpc>
                <a:spcPct val="122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render RẤT nhanh (vài mili-giây) thì React.memo không mang lại lợi ích đáng kể, chỉ thêm độ phức tạp code</a:t>
            </a:r>
            <a:endParaRPr lang="en-US" sz="1500" dirty="0"/>
          </a:p>
          <a:p>
            <a:pPr marL="228600" indent="-228600" algn="l">
              <a:lnSpc>
                <a:spcPct val="122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props luôn thay đổi ở mỗi lần render (object/array tạo mới liên tục), React.memo sẽ luôn render lại — memo hóa lúc này vô nghĩa</a:t>
            </a:r>
            <a:endParaRPr lang="en-US" sz="1500" dirty="0"/>
          </a:p>
          <a:p>
            <a:pPr marL="0" indent="0" algn="l">
              <a:lnSpc>
                <a:spcPct val="122000"/>
              </a:lnSpc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Chỉ memo hóa SAU KHI công cụ đo lường (phần tiếp theo) xác nhận component đó thực sự render thừa &amp; tốn thời gian đáng kể.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CODE-SPLITTING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Code-splitting — Chia nhỏ bundle JavaScript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Mặc định, toàn bộ ứng dụng được đóng gói vào 1 (hoặc vài) file JS lớn — người dùng phải tải hết mới dùng được trang đầu tiên</a:t>
            </a:r>
            <a:endParaRPr lang="en-US" sz="1350" dirty="0"/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React.lazy(() =&gt; import(...)) cho phép tải 1 component CHỈ KHI cần đến, tách thành 1 chunk JS riêng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&lt;Suspense fallback={...}&gt; hiển thị giao diện tạm trong lúc chờ chunk được tải về.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4007358"/>
            <a:ext cx="3160166" cy="1632204"/>
          </a:xfrm>
          <a:prstGeom prst="roundRect">
            <a:avLst>
              <a:gd name="adj" fmla="val 3361"/>
            </a:avLst>
          </a:prstGeom>
          <a:solidFill>
            <a:srgbClr val="DA21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007358"/>
            <a:ext cx="3160166" cy="1632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bundle.js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~2.4 MB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11726" y="4686300"/>
            <a:ext cx="502920" cy="274320"/>
          </a:xfrm>
          <a:prstGeom prst="rightArrow">
            <a:avLst/>
          </a:prstGeom>
          <a:solidFill>
            <a:srgbClr val="D9D9D9"/>
          </a:solidFill>
          <a:ln/>
        </p:spPr>
      </p:sp>
      <p:sp>
        <p:nvSpPr>
          <p:cNvPr id="8" name="Shape 6"/>
          <p:cNvSpPr/>
          <p:nvPr/>
        </p:nvSpPr>
        <p:spPr>
          <a:xfrm>
            <a:off x="4943246" y="3657600"/>
            <a:ext cx="5755234" cy="473202"/>
          </a:xfrm>
          <a:prstGeom prst="roundRect">
            <a:avLst>
              <a:gd name="adj" fmla="val 9662"/>
            </a:avLst>
          </a:prstGeom>
          <a:solidFill>
            <a:srgbClr val="A818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43246" y="3657600"/>
            <a:ext cx="575523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~600KB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43246" y="4240530"/>
            <a:ext cx="5755234" cy="473202"/>
          </a:xfrm>
          <a:prstGeom prst="roundRect">
            <a:avLst>
              <a:gd name="adj" fmla="val 9662"/>
            </a:avLst>
          </a:prstGeom>
          <a:solidFill>
            <a:srgbClr val="3FB6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43246" y="4240530"/>
            <a:ext cx="575523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Detail.chunk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43246" y="4823460"/>
            <a:ext cx="5755234" cy="473202"/>
          </a:xfrm>
          <a:prstGeom prst="roundRect">
            <a:avLst>
              <a:gd name="adj" fmla="val 9662"/>
            </a:avLst>
          </a:prstGeom>
          <a:solidFill>
            <a:srgbClr val="3FB6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43246" y="4823460"/>
            <a:ext cx="575523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.chunk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43246" y="5406390"/>
            <a:ext cx="5755234" cy="473202"/>
          </a:xfrm>
          <a:prstGeom prst="roundRect">
            <a:avLst>
              <a:gd name="adj" fmla="val 9662"/>
            </a:avLst>
          </a:prstGeom>
          <a:solidFill>
            <a:srgbClr val="3FB6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43246" y="5406390"/>
            <a:ext cx="5755234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.chunk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CODE-SPLITTING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Lazy load theo route — Ví dụ thực tế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phổ biến nhất: tách code theo từng trang/route — trang nào người dùng chưa vào thì chưa tải</a:t>
            </a:r>
            <a:endParaRPr lang="en-US" sz="1400" dirty="0"/>
          </a:p>
          <a:p>
            <a:pPr marL="0" indent="0" algn="l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React Router: bọc &lt;Route&gt; bằng &lt;Suspense&gt; ở cấp cao nhất của ứng dụng.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ProductDetailPage = React.lazy(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=&gt; import(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'./pages/ProductDetailPage'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App() {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&lt;Suspense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fallback={&lt;p&gt;Đang tải trang...&lt;/p&gt;}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&lt;Routes&gt;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&lt;Route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path=</a:t>
            </a:r>
            <a:r>
              <a:rPr lang="en-US" sz="9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"/product/:id"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element={&lt;ProductDetailPage /&gt;}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&lt;/Routes&gt;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&lt;/Suspense&gt;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CODE-SPLITTING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Trước/sau khi áp dụng code-splitting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28803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Trước (1 bundle)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(chia theo route)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Kích thước bundle chính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~850 KB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~320 KB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route tải sẵn dù chưa dùng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 cả (auth, checkout, profile...)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route đang xem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Interactive (mạng 3G)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~4.2 giây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 giây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request JS ban đầu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file lớn duy nhất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main.js + tải thêm khi cần route khác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800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rõ nhất ở LẦN TẢI ĐẦU TIÊN (đặc biệt mạng chậm); người dùng quay lại (đã cache chunk) sẽ ít thấy khác biệt hơn — vẫn nên đo bằng Lighthouse ở chế độ ẩn danh để có số liệu khách quan.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CODE-SPLITTING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Thư viện bổ trợ code-splitting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React.lazy + Suspense (built-in, không cần cài thêm) — đủ dùng cho hầu hết trường hợp render phía client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@loadable/component: thư viện ngoài, hỗ trợ tốt hơn cho Server-Side Rendering (SSR) — React.lazy mặc định KHÔNG hỗ trợ SSR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tên chunk dễ đọc bằng Magic Comments của Webpack, giúp dễ nhận diện file khi phân tích bundle (đã học ở phần công cụ đo lường).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@loadable/component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loadable </a:t>
            </a:r>
            <a:r>
              <a:rPr lang="en-US" sz="9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7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'@loadable/component'</a:t>
            </a: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ProductDetailPage = loadable(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=&gt; import(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7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'./ProductDetailPage'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Đặt tên chunk rõ ràng bằng magic comment: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CheckoutPage = React.lazy(() =&gt;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import(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webpackChunkName: "checkout" */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7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'./CheckoutPage'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97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Virtualization — Chỉ render những gì nhìn thấy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danh sách hàng nghìn phần tử, render toàn bộ DOM node cùng lúc (dù đa số nằm ngoài màn hình) gây chậm nghiêm trọng</a:t>
            </a:r>
            <a:endParaRPr lang="en-US" sz="1350" dirty="0"/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lý windowing: chỉ render các phần tử đang HIỂN THỊ trong viewport (+ vùng đệm nhỏ), phần còn lại không tồn tại trong DOM cho đến khi cuộn tới</a:t>
            </a:r>
            <a:endParaRPr lang="en-US" sz="1350" dirty="0"/>
          </a:p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phổ biến: react-window, react-virtualized — tự tính vị trí cuộn và chỉ mount đúng số dòng cần thiết.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363341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04088" y="361188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1 — chưa mount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390265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04088" y="388112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2 — chưa mount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417189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04088" y="415036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3 — chưa mount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444113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DA21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" y="441960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4 — đã render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471037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DA21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" y="468884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5 — đã render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497961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DA21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" y="495808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6 — đã render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524885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4088" y="522732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7 — chưa mount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551809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704088" y="549656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8 — chưa mount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5787339"/>
            <a:ext cx="4535424" cy="193853"/>
          </a:xfrm>
          <a:prstGeom prst="roundRect">
            <a:avLst>
              <a:gd name="adj" fmla="val 1415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04088" y="5765800"/>
            <a:ext cx="426110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9 — chưa mount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" y="4383024"/>
            <a:ext cx="4681728" cy="880872"/>
          </a:xfrm>
          <a:prstGeom prst="roundRect">
            <a:avLst>
              <a:gd name="adj" fmla="val 4152"/>
            </a:avLst>
          </a:prstGeom>
          <a:ln w="19050">
            <a:solidFill>
              <a:srgbClr val="A818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4373880"/>
            <a:ext cx="2487168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(đang thấy trên màn hình)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Áp dụng react-window cho danh sách sản phẩm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FixedSizeList nhận itemCount, itemSize (chiều cao mỗi dòng) và 1 hàm render dòng</a:t>
            </a:r>
            <a:endParaRPr lang="en-US" sz="1400" dirty="0"/>
          </a:p>
          <a:p>
            <a:pPr marL="0" indent="0" algn="l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vài chục dòng thực sự tồn tại trong DOM tại 1 thời điểm, dù danh sách có hàng nghìn phần tử.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FixedSizeList } </a:t>
            </a:r>
            <a:r>
              <a:rPr lang="en-US" sz="9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3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'react-window'</a:t>
            </a: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ProductVirtualList({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products,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</a:t>
            </a:r>
            <a:r>
              <a:rPr lang="en-US" sz="93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&lt;FixedSizeList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height={600}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width=</a:t>
            </a:r>
            <a:r>
              <a:rPr lang="en-US" sz="93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"100%"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itemCount={products.length}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itemSize={72}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{({ index, style }) =&gt; (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&lt;div style={style}&gt;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{products[index].name}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&lt;/div&gt;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&lt;/FixedSizeList&gt;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3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9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Trước/sau khi áp dụng virtualization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28803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Trước (render toàn bộ 10.000 dòng)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(react-window)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DOM node tạo 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~10.000 node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~15–20 node (chỉ viewport)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render lần đầu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~1.800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 nhớ sử dụng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Cao, tăng theo số dòng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Ổn định, không phụ thuộc số dòng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Trải nghiệm cuộn (scroll)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Giật, lag rõ rệt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Mượt, ~60 FPS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8006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liệu trên đo bằng tab Performance của Chrome DevTools khi render cùng 1 bộ dữ liệu mock 10.000 sản phẩm — càng nhiều phần tử, chênh lệch càng lớn.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 sánh thư viện virtualization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0881360" cy="285292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 viện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Ưu điểm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Nhược điểm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react-window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Nhẹ (~2KB), API đơn giản, đủ cho hầu hết trường hợp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 tính năng nâng cao, không hỗ trợ sẵn grid phức tạp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react-virtualized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Đầy đủ tính năng nhất (List, Grid, Table, Masonry...)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Nặng hơn (~30KB), API phức tạp hơn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@tanstack/react-virtual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Headless, linh hoạt tối đa, tương thích React 18+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Phải tự code UI, cần hiểu rõ để dùng đúng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" y="5029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react-window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hoặc: npm install @tanstack/react-virtual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CÔNG CỤ ĐO LƯỜNG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Đo hiệu năng component bằng React DevTools Profiler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Profiler trong React DevTools ghi lại thời gian render của từng component mỗi khi có tương tác</a:t>
            </a:r>
            <a:endParaRPr lang="en-US" sz="1300" dirty="0"/>
          </a:p>
          <a:p>
            <a:pPr marL="228600" indent="-228600" algn="l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"Flame graph": mỗi thanh ngang là 1 component; càng dài càng tốn thời gian; càng nóng (vàng/đỏ) càng chậm</a:t>
            </a:r>
            <a:endParaRPr lang="en-US" sz="1300" dirty="0"/>
          </a:p>
          <a:p>
            <a:pPr marL="228600" indent="-228600" algn="l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"Why did this render?" cho biết chính xác lý do 1 component render lại: props đổi, state đổi, hook đổi hay do parent render</a:t>
            </a:r>
            <a:endParaRPr lang="en-US" sz="1300" dirty="0"/>
          </a:p>
          <a:p>
            <a:pPr marL="0" indent="0" algn="l">
              <a:lnSpc>
                <a:spcPct val="116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nên tối ưu component nào THỰC SỰ xuất hiện trong Profiler là chậm và render thừa nhiều lần.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— FLAME GRAPH (minh hoạ)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22860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75320" y="2430841"/>
            <a:ext cx="2331720" cy="368686"/>
          </a:xfrm>
          <a:prstGeom prst="roundRect">
            <a:avLst>
              <a:gd name="adj" fmla="val 7440"/>
            </a:avLst>
          </a:prstGeom>
          <a:solidFill>
            <a:srgbClr val="E0AF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80192" y="22860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12.4ms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944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ProductList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3089209"/>
            <a:ext cx="1981962" cy="368686"/>
          </a:xfrm>
          <a:prstGeom prst="roundRect">
            <a:avLst>
              <a:gd name="adj" fmla="val 7440"/>
            </a:avLst>
          </a:prstGeom>
          <a:solidFill>
            <a:srgbClr val="DA21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330434" y="294436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9.8ms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6027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 × 40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3747577"/>
            <a:ext cx="1632204" cy="368686"/>
          </a:xfrm>
          <a:prstGeom prst="roundRect">
            <a:avLst>
              <a:gd name="adj" fmla="val 7440"/>
            </a:avLst>
          </a:prstGeom>
          <a:solidFill>
            <a:srgbClr val="DA21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80676" y="360273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8.1ms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2611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CartSummary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75320" y="4405945"/>
            <a:ext cx="582930" cy="368686"/>
          </a:xfrm>
          <a:prstGeom prst="roundRect">
            <a:avLst>
              <a:gd name="adj" fmla="val 7440"/>
            </a:avLst>
          </a:prstGeom>
          <a:solidFill>
            <a:srgbClr val="3FB6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31402" y="426110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9194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75320" y="5064313"/>
            <a:ext cx="279806" cy="368686"/>
          </a:xfrm>
          <a:prstGeom prst="roundRect">
            <a:avLst>
              <a:gd name="adj" fmla="val 9804"/>
            </a:avLst>
          </a:prstGeom>
          <a:solidFill>
            <a:srgbClr val="3FB68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28278" y="491947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CÔNG CỤ ĐO LƯỜNG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Lighthouse — Đo điểm hiệu năng tổng thể trang web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tích hợp sẵn trong Chrome DevTools (tab Lighthouse), chấm điểm trang theo 4 hạng mục: Performance, Accessibility, Best Practices, SEO</a:t>
            </a:r>
            <a:endParaRPr lang="en-US" sz="14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Performance quan trọng: FCP (First Contentful Paint), LCP (Largest Contentful Paint), TBT (Total Blocking Time), CLS (Cumulative Layout Shift)</a:t>
            </a:r>
            <a:endParaRPr lang="en-US" sz="1400" dirty="0"/>
          </a:p>
          <a:p>
            <a:pPr marL="0" indent="0" algn="l">
              <a:lnSpc>
                <a:spcPct val="120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với Profiler (đo TỪNG COMPONENT lúc tương tác), Lighthouse đo TRẢI NGHIỆM TẢI TRANG tổng thể — phù hợp để so sánh điểm số trước/sau khi tối ưu.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4428" y="4572000"/>
            <a:ext cx="1051560" cy="1051560"/>
          </a:xfrm>
          <a:prstGeom prst="ellipse">
            <a:avLst/>
          </a:prstGeom>
          <a:ln w="762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50615" y="4698187"/>
            <a:ext cx="799186" cy="799186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4428" y="4572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87268" y="5696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96028" y="4572000"/>
            <a:ext cx="1051560" cy="1051560"/>
          </a:xfrm>
          <a:prstGeom prst="ellipse">
            <a:avLst/>
          </a:prstGeom>
          <a:ln w="762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22215" y="4698187"/>
            <a:ext cx="799186" cy="799186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96028" y="4572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58868" y="5696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7628" y="4572000"/>
            <a:ext cx="1051560" cy="1051560"/>
          </a:xfrm>
          <a:prstGeom prst="ellipse">
            <a:avLst/>
          </a:prstGeom>
          <a:ln w="762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3815" y="4698187"/>
            <a:ext cx="799186" cy="799186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67628" y="4572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030468" y="5696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39228" y="4572000"/>
            <a:ext cx="1051560" cy="1051560"/>
          </a:xfrm>
          <a:prstGeom prst="ellipse">
            <a:avLst/>
          </a:prstGeom>
          <a:ln w="762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5415" y="4698187"/>
            <a:ext cx="799186" cy="799186"/>
          </a:xfrm>
          <a:prstGeom prst="ellipse">
            <a:avLst/>
          </a:prstGeom>
          <a:solidFill>
            <a:srgbClr val="3FB6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39228" y="45720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02068" y="56967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CÔNG CỤ ĐO LƯỜNG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Phân tích kích thước bundle JavaScript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JS quá lớn là nguyên nhân phổ biến khiến FCP/LCP chậm — cần biết chính xác module nào đang chiếm nhiều dung lượng nhất</a:t>
            </a:r>
            <a:endParaRPr lang="en-US" sz="1350" dirty="0"/>
          </a:p>
          <a:p>
            <a:pPr marL="228600" indent="-228600" algn="l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source-map-explorer: đọc file .map đã build, vẽ biểu đồ thể hiện tỷ lệ dung lượng từng module trong bundle</a:t>
            </a:r>
            <a:endParaRPr lang="en-US" sz="1350" dirty="0"/>
          </a:p>
          <a:p>
            <a:pPr marL="228600" indent="-228600" algn="l">
              <a:lnSpc>
                <a:spcPct val="11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webpack-bundle-analyzer: tương tự nhưng tích hợp trực tiếp vào quá trình build, chạy ngay khi build production</a:t>
            </a:r>
            <a:endParaRPr lang="en-US" sz="1350" dirty="0"/>
          </a:p>
          <a:p>
            <a:pPr marL="0" indent="0" algn="l">
              <a:lnSpc>
                <a:spcPct val="116000"/>
              </a:lnSpc>
              <a:spcAft>
                <a:spcPts val="11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 phát hiện: import cả thư viện lớn (vd toàn bộ lodash) chỉ để dùng 1 hàm nhỏ → nên import đúng phần cần dùng.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4515307" cy="1005840"/>
          </a:xfrm>
          <a:prstGeom prst="rect">
            <a:avLst/>
          </a:prstGeom>
          <a:solidFill>
            <a:srgbClr val="DA21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160520"/>
            <a:ext cx="45153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react-dom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132KB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37099" y="4160520"/>
            <a:ext cx="2339035" cy="1005840"/>
          </a:xfrm>
          <a:prstGeom prst="rect">
            <a:avLst/>
          </a:prstGeom>
          <a:solidFill>
            <a:srgbClr val="E0AF6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37099" y="4160520"/>
            <a:ext cx="23390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lodash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71KB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30998" y="4160520"/>
            <a:ext cx="1903781" cy="1005840"/>
          </a:xfrm>
          <a:prstGeom prst="rect">
            <a:avLst/>
          </a:prstGeom>
          <a:solidFill>
            <a:srgbClr val="3FB6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30998" y="4160520"/>
            <a:ext cx="190378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58KB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489643" y="4160520"/>
            <a:ext cx="1033272" cy="1005840"/>
          </a:xfrm>
          <a:prstGeom prst="rect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89643" y="4160520"/>
            <a:ext cx="1033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date-fns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34KB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577779" y="4160520"/>
            <a:ext cx="815645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77779" y="4160520"/>
            <a:ext cx="8156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26KB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53949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95528" y="5577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source-map-explorer build/static/js/*.js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CÔNG CỤ ĐO LƯỜNG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Thư viện bổ trợ đo lường &amp; phát hiện tự động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why-did-you-render: tự động log ra console khi 1 component render lại "không cần thiết" (props/state giống hệt lần trước) — phát hiện sớm ngay trong lúc code, không cần mở Profiler thủ công mỗi lần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web-vitals: thư viện chính thức của Google, đo Core Web Vitals (LCP, CLS, INP) ngay trong ứng dụng thực tế đang chạy ở production, có thể gửi số liệu lên Google Analytics</a:t>
            </a:r>
            <a:endParaRPr lang="en-US" sz="130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biệt: Profiler/Lighthouse đo thủ công lúc phát triển; 2 thư viện này đo TỰ ĐỘNG, LIÊN TỤC ngay cả khi đã lên production, trên máy thật của người dùng.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@welldone-software/why-did-you-render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whyDidYouRender </a:t>
            </a:r>
            <a:r>
              <a:rPr lang="en-US" sz="10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3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'@welldone-software/why-did-you-render'</a:t>
            </a: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whyDidYouRender(React, { trackAllPureComponents: </a:t>
            </a:r>
            <a:r>
              <a:rPr lang="en-US" sz="10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web-vitals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onCLS, onLCP, onINP } </a:t>
            </a:r>
            <a:r>
              <a:rPr lang="en-US" sz="103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3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'web-vitals'</a:t>
            </a: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onCLS(console.log);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onLCP(console.log);</a:t>
            </a:r>
            <a:endParaRPr lang="en-US" sz="10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3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onINP(console.log);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Tránh khởi tạo object/hàm inline trong JSX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&lt;Child style={{ color: 'red' }} /&gt; tạo ra 1 object MỚI mỗi lần render — dù nội dung giống hệt, React.memo trên Child vẫn thấy props "khác nhau"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tự với hàm inline: onClick={() =&gt; doSomething()} luôn tạo tham chiếu mới</a:t>
            </a:r>
            <a:endParaRPr lang="en-US" sz="130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khai báo object/style hằng số bên ngoài component, hoặc dùng useMemo/useCallback nếu phụ thuộc props/state.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Không tối ưu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style={{ padding: 8 }}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onAdd={() =&gt; dispatch(addItem(p.id))}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Tối ưu hơn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CARD_STYLE = { padding: 8 };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style={CARD_STYLE}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onAdd={handleAdd}</a:t>
            </a:r>
            <a:endParaRPr lang="en-US" sz="10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Đặt key đúng cách &amp; tách state hợp lý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index mảng làm key khi danh sách có thể thêm/xoá/sắp xếp lại — React so sánh sai phần tử, gây render thừa hoặc mất state đúng dòng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dùng 1 id ổn định, duy nhất (product.id) làm key</a:t>
            </a:r>
            <a:endParaRPr lang="en-US" sz="1350" dirty="0"/>
          </a:p>
          <a:p>
            <a:pPr marL="0" indent="0" algn="l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state theo đúng phạm vi: state chỉ 1 component cần thì giữ local (useState), đừng đẩy hết lên Redux/Context.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37960" y="192024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Sai — dùng index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{products.map((p, i) =&gt; (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&lt;ProductCard key={i} product={p} /&gt;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Đúng — dùng id ổn định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{products.map((p) =&gt; (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&lt;ProductCard key={p.id} product={p} /&gt;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BEST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Debounce &amp; Throttle cho sự kiện tần suất cao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như gõ phím tìm kiếm, scroll, resize có thể bắn hàng chục lần/giây — xử lý ở mọi lần là rất lãng phí</a:t>
            </a:r>
            <a:endParaRPr lang="en-US" sz="1300" dirty="0"/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Debounce: chỉ thực thi SAU KHI người dùng NGỪNG thao tác 1 khoảng thời gian — hợp cho ô tìm kiếm</a:t>
            </a:r>
            <a:endParaRPr lang="en-US" sz="1300" dirty="0"/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Throttle: thực thi ĐỀU ĐẶN theo chu kỳ cố định dù sự kiện bắn liên tục — hợp cho sự kiện scroll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3375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47088" y="4023360"/>
            <a:ext cx="411480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7964" y="39684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39684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9" name="Shape 7"/>
          <p:cNvSpPr/>
          <p:nvPr/>
        </p:nvSpPr>
        <p:spPr>
          <a:xfrm>
            <a:off x="2532888" y="39684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2779776" y="39684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1" name="Shape 9"/>
          <p:cNvSpPr/>
          <p:nvPr/>
        </p:nvSpPr>
        <p:spPr>
          <a:xfrm>
            <a:off x="3026664" y="39684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3968496"/>
            <a:ext cx="109728" cy="109728"/>
          </a:xfrm>
          <a:prstGeom prst="ellipse">
            <a:avLst/>
          </a:prstGeom>
          <a:solidFill>
            <a:srgbClr val="DA2128"/>
          </a:solidFill>
          <a:ln/>
        </p:spPr>
      </p:sp>
      <p:sp>
        <p:nvSpPr>
          <p:cNvPr id="13" name="Shape 11"/>
          <p:cNvSpPr/>
          <p:nvPr/>
        </p:nvSpPr>
        <p:spPr>
          <a:xfrm>
            <a:off x="3227832" y="3922776"/>
            <a:ext cx="201168" cy="201168"/>
          </a:xfrm>
          <a:prstGeom prst="ellipse">
            <a:avLst/>
          </a:prstGeom>
          <a:ln w="12700">
            <a:solidFill>
              <a:srgbClr val="DA21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2584" y="39684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47088" y="4133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gọi khi NGỪNG thao tác 1 khoảng thời gian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7091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47088" y="5394960"/>
            <a:ext cx="411480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7964" y="5340096"/>
            <a:ext cx="109728" cy="109728"/>
          </a:xfrm>
          <a:prstGeom prst="ellipse">
            <a:avLst/>
          </a:prstGeom>
          <a:solidFill>
            <a:srgbClr val="DA2128"/>
          </a:solidFill>
          <a:ln/>
        </p:spPr>
      </p:sp>
      <p:sp>
        <p:nvSpPr>
          <p:cNvPr id="19" name="Shape 17"/>
          <p:cNvSpPr/>
          <p:nvPr/>
        </p:nvSpPr>
        <p:spPr>
          <a:xfrm>
            <a:off x="1952244" y="5294376"/>
            <a:ext cx="201168" cy="201168"/>
          </a:xfrm>
          <a:prstGeom prst="ellipse">
            <a:avLst/>
          </a:prstGeom>
          <a:ln w="12700">
            <a:solidFill>
              <a:srgbClr val="DA21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68296" y="53400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2738628" y="53400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3108960" y="5340096"/>
            <a:ext cx="109728" cy="109728"/>
          </a:xfrm>
          <a:prstGeom prst="ellipse">
            <a:avLst/>
          </a:prstGeom>
          <a:solidFill>
            <a:srgbClr val="DA2128"/>
          </a:solidFill>
          <a:ln/>
        </p:spPr>
      </p:sp>
      <p:sp>
        <p:nvSpPr>
          <p:cNvPr id="23" name="Shape 21"/>
          <p:cNvSpPr/>
          <p:nvPr/>
        </p:nvSpPr>
        <p:spPr>
          <a:xfrm>
            <a:off x="3063240" y="5294376"/>
            <a:ext cx="201168" cy="201168"/>
          </a:xfrm>
          <a:prstGeom prst="ellipse">
            <a:avLst/>
          </a:prstGeom>
          <a:ln w="12700">
            <a:solidFill>
              <a:srgbClr val="DA21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9292" y="53400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9624" y="53400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6" name="Shape 24"/>
          <p:cNvSpPr/>
          <p:nvPr/>
        </p:nvSpPr>
        <p:spPr>
          <a:xfrm>
            <a:off x="4219956" y="5340096"/>
            <a:ext cx="109728" cy="109728"/>
          </a:xfrm>
          <a:prstGeom prst="ellipse">
            <a:avLst/>
          </a:prstGeom>
          <a:solidFill>
            <a:srgbClr val="DA2128"/>
          </a:solidFill>
          <a:ln/>
        </p:spPr>
      </p:sp>
      <p:sp>
        <p:nvSpPr>
          <p:cNvPr id="27" name="Shape 25"/>
          <p:cNvSpPr/>
          <p:nvPr/>
        </p:nvSpPr>
        <p:spPr>
          <a:xfrm>
            <a:off x="4174236" y="5294376"/>
            <a:ext cx="201168" cy="201168"/>
          </a:xfrm>
          <a:prstGeom prst="ellipse">
            <a:avLst/>
          </a:prstGeom>
          <a:ln w="12700">
            <a:solidFill>
              <a:srgbClr val="DA21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0288" y="53400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9" name="Shape 27"/>
          <p:cNvSpPr/>
          <p:nvPr/>
        </p:nvSpPr>
        <p:spPr>
          <a:xfrm>
            <a:off x="4960620" y="5340096"/>
            <a:ext cx="109728" cy="109728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30" name="Shape 28"/>
          <p:cNvSpPr/>
          <p:nvPr/>
        </p:nvSpPr>
        <p:spPr>
          <a:xfrm>
            <a:off x="5330952" y="5340096"/>
            <a:ext cx="109728" cy="109728"/>
          </a:xfrm>
          <a:prstGeom prst="ellipse">
            <a:avLst/>
          </a:prstGeom>
          <a:solidFill>
            <a:srgbClr val="DA2128"/>
          </a:solidFill>
          <a:ln/>
        </p:spPr>
      </p:sp>
      <p:sp>
        <p:nvSpPr>
          <p:cNvPr id="31" name="Shape 29"/>
          <p:cNvSpPr/>
          <p:nvPr/>
        </p:nvSpPr>
        <p:spPr>
          <a:xfrm>
            <a:off x="5285232" y="5294376"/>
            <a:ext cx="201168" cy="201168"/>
          </a:xfrm>
          <a:prstGeom prst="ellipse">
            <a:avLst/>
          </a:prstGeom>
          <a:ln w="12700">
            <a:solidFill>
              <a:srgbClr val="DA212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847088" y="5504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đều đặn theo chu kỳ cố định, dù sự kiện dồn dập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33375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537960" y="352044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useDebounce&lt;</a:t>
            </a:r>
            <a:r>
              <a:rPr lang="en-US" sz="11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&gt;(value: </a:t>
            </a:r>
            <a:r>
              <a:rPr lang="en-US" sz="11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delay = 300): </a:t>
            </a:r>
            <a:r>
              <a:rPr lang="en-US" sz="11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[debounced, setDebounced] =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useState(value);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timer = setTimeout(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() =&gt; setDebounced(value),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delay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 =&gt; clearTimeout(timer);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[value, delay]);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debounced;</a:t>
            </a:r>
            <a:endParaRPr lang="en-US" sz="1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Checklist tối ưu hiệu năng ứng dụng React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cơ chế render/re-render trước khi nghĩ đến việc tối ưu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bằng Profiler/Lighthouse/bundle analyzer trước khi tối ưu bất kỳ điều gì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React.memo cho component render tốn chi phí và nhận props ổn định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useMemo cho phép tính tốn chi phí, useCallback khi truyền hàm xuống component đã memo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Code-splitting theo route, virtualization cho danh sách dài hàng trăm/nghìn phần tử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cho input tìm kiếm, throttle cho sự kiện scroll/resize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object/hàm inline trong JSX, dùng key ổn định, tách state đúng phạm vi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nối với Redux Toolkit, Zustand &amp; Context đã học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useAppSelector chỉ nên lấy ĐÚNG phần state cần dùng (selector nhỏ) — tránh re-render thừa giống nguyên tắc của Zustand đã học ở Buổi 4</a:t>
            </a:r>
            <a:endParaRPr lang="en-US" sz="1550" dirty="0"/>
          </a:p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nâng cao (tách nhỏ Context, useMemo cho value) đã học ở Buổi 4 CHÍNH LÀ 1 dạng tối ưu hiệu năng</a:t>
            </a:r>
            <a:endParaRPr lang="en-US" sz="1550" dirty="0"/>
          </a:p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có thể dùng createSelector (Reselect) để ghi nhớ kết quả selector phức tạp — tương tự tinh thần useMemo nhưng ở tầng store</a:t>
            </a:r>
            <a:endParaRPr lang="en-US" sz="1550" dirty="0"/>
          </a:p>
          <a:p>
            <a:pPr marL="0" indent="0" algn="l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55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Tối ưu hiệu năng không phải chủ đề tách biệt — nó xuyên suốt mọi lựa chọn kiến trúc đã học từ Buổi 1 đến nay.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· THỰC HÀNH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CÙNG VIẾT CODE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hiện, đo lường và khắc phục vấn đề hiệu năng qua 3 bài thực hành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1 — Sửa re-render thừa bằng Profiler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React DevTools Profiler phát hiện component re-render thừa trong ứng dụng mẫu (giỏ hàng)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bằng React.memo + useCallback</a:t>
            </a:r>
            <a:endParaRPr lang="en-US" sz="1400" dirty="0"/>
          </a:p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Bật "Highlight updates when components render", thao tác thêm/xoá sản phẩm và quan sát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Xác định component nào sáng lên dù props không đổi — thường do handler tạo mới mỗi lần render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Bọc component đó bằng React.memo, bọc handler bằng useCallback, đo lại bằng Profiler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ProductCard = React.memo(function ProductCard(props: </a:t>
            </a:r>
            <a:r>
              <a:rPr lang="en-US" sz="1100" dirty="0">
                <a:solidFill>
                  <a:srgbClr val="E0A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</a:t>
            </a: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 */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2 — Virtualization cho 10.000 sản phẩm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danh sách giả lập 10.000 sản phẩm, cài đặt virtualization bằng react-window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thời gian render/FPS với cách render toàn bộ danh sách thông thường</a:t>
            </a:r>
            <a:endParaRPr lang="en-US" sz="1400" dirty="0"/>
          </a:p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Sinh mảng 10.000 sản phẩm mock (Array.from)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Thay .map() render toàn bộ bằng FixedSizeList của react-window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Đo lại bằng Profiler/Performance tab, ghi nhận sự khác biệt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= Array.from({ length: 10_000 }, (_, i) =&gt; ({ id: </a:t>
            </a:r>
            <a:r>
              <a:rPr lang="en-US" sz="10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(i), name: </a:t>
            </a:r>
            <a:r>
              <a:rPr lang="en-US" sz="10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`Sản phẩm ${i}`</a:t>
            </a: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Thực hành 3 — Lazy load theo route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React.lazy + Suspense để chia nhỏ theo route cho ứng dụng đã xây ở các buổi trước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bằng tab Network: chunk chỉ tải khi vào đúng route</a:t>
            </a:r>
            <a:endParaRPr lang="en-US" sz="1400" dirty="0"/>
          </a:p>
          <a:p>
            <a:pPr marL="0" indent="0" algn="l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A8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thực hiện: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Liệt kê các route hiện có trong ứng dụng (vd trang sản phẩm, giỏ hàng)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Chuyển ít nhất 1 route sang React.lazy(() =&gt; import(...))</a:t>
            </a:r>
            <a:endParaRPr lang="en-US" sz="1400" dirty="0"/>
          </a:p>
          <a:p>
            <a:pPr marL="228600" indent="-228600" algn="l">
              <a:lnSpc>
                <a:spcPct val="113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Bọc &lt;Suspense fallback={...}&gt; ở cấp Router, build production và kiểm tra chunk riêng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1E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ProductDetailPage = React.lazy(() =&gt; import(</a:t>
            </a: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'./ProductDetailPage'</a:t>
            </a:r>
            <a:r>
              <a:rPr lang="en-US" sz="11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31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11055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A21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trước khi vào Buổi 6 — Kiểm thử ứng dụng Frontend với TypeScript (Jest, RTL)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TRƯỚC BUỔI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Bài tập về nhà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5" name="Image 0" descr="/home/claude/pptx_work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70" y="1887322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810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Đề bài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377440"/>
            <a:ext cx="55778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1 trang ReactJS cần tối ưu (Quản lý user/product 10.000 sản phẩm…)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hiệu năng trang đó bằng Lighthouse TRƯỚC khi tối ưu — lưu lại điểm số &amp; chỉ số (FCP, LCP, TBT, CLS)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ít nhất 2 kỹ thuật đã học (memoization, code-splitting, virtualization...) phù hợp với vấn đề đã phát hiện</a:t>
            </a:r>
            <a:endParaRPr lang="en-US" sz="130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lại bằng Lighthouse SAU khi tối ưu, viết báo cáo so sánh chỉ số kèm giải pháp đã áp dụng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783080"/>
            <a:ext cx="5120640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12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246888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report Lighthouse trước và sau (ảnh chụp hoặc export)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ít nhất 2 chỉ số cải thiện rõ rệt (Performance score, LCP, TBT...)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áp dụng phù hợp với vấn đề đã phát hiện, không tối ưu ngẫu nhiên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trình bày rõ ràng, có nhận xét hợp lý</a:t>
            </a:r>
            <a:endParaRPr lang="en-US" sz="1350" dirty="0"/>
          </a:p>
          <a:p>
            <a:pPr marL="228600" indent="-228600" algn="l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đúng hạn trước giờ học Buổi 6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A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RỜI LỚP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418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Chuẩn bị &amp; tài liệu tham khảo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6" name="Image 0" descr="/home/claude/pptx_work/icons/too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89" y="21768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Công cụ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 (tab Profiler), Chrome DevTools (tab Lighthouse)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thêm: npm i react-window source-map-explorer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60302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4426062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1" name="Image 1" descr="/home/claude/pptx_work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762" y="217682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26062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Tài liệu chính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26062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Docs — memo, useMemo, useCallback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web.dev/lighthouse, react-window — Official Docs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553676" y="1783080"/>
            <a:ext cx="3219054" cy="4251960"/>
          </a:xfrm>
          <a:prstGeom prst="roundRect">
            <a:avLst>
              <a:gd name="adj" fmla="val 1704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7919436" y="2103120"/>
            <a:ext cx="566928" cy="566928"/>
          </a:xfrm>
          <a:prstGeom prst="ellipse">
            <a:avLst/>
          </a:prstGeom>
          <a:solidFill>
            <a:srgbClr val="DA2128"/>
          </a:solidFill>
          <a:ln/>
        </p:spPr>
      </p:sp>
      <p:pic>
        <p:nvPicPr>
          <p:cNvPr id="16" name="Image 2" descr="/home/claude/pptx_work/icons/rou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136" y="217682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19436" y="2834640"/>
            <a:ext cx="2578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22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Kết nối buổi sau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19436" y="3383280"/>
            <a:ext cx="257897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6: Kiểm thử ứng dụng Frontend với TypeScript (Jest, RTL)</a:t>
            </a:r>
            <a:endParaRPr lang="en-US" sz="1200" dirty="0"/>
          </a:p>
          <a:p>
            <a:pPr marL="228600" indent="-228600" algn="l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đã tối ưu hôm nay sẽ được viết test ở Buổi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27648"/>
            <a:ext cx="393192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A2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assets/logo_rip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6926" y="226771"/>
            <a:ext cx="444398" cy="5687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49494" y="123444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1" descr="/home/claude/pptx_work/icons/questio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481328"/>
            <a:ext cx="603504" cy="6035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66928" y="26974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CẢM ƠN &amp; HỎI ĐÁP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38328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6: Kiểm thử ứng dụng Frontend với TypeScript — hẹn gặp lại!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48056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Ngô Văn Nhận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0888726113  ·  nhannv@ptit.edu.vn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Web nâng cao  |  Buổi 5: Tối ưu hiệu năng ứng dụng React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4972</Words>
  <Application>Microsoft Office PowerPoint</Application>
  <PresentationFormat>Widescreen</PresentationFormat>
  <Paragraphs>604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Nhận NV</cp:lastModifiedBy>
  <cp:revision>1</cp:revision>
  <dcterms:created xsi:type="dcterms:W3CDTF">2026-09-27T14:48:37Z</dcterms:created>
  <dcterms:modified xsi:type="dcterms:W3CDTF">2026-09-28T04:26:27Z</dcterms:modified>
</cp:coreProperties>
</file>