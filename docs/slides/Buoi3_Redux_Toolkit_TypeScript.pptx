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jpeg"/><Relationship Id="rId3" Type="http://schemas.openxmlformats.org/officeDocument/2006/relationships/image" Target="../media/image-1002-3.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TIT_MASTER">
    <p:bg>
      <p:bgPr>
        <a:solidFill>
          <a:srgbClr val="FFFFFF"/>
        </a:solidFill>
      </p:bgPr>
    </p:bg>
    <p:spTree>
      <p:nvGrpSpPr>
        <p:cNvPr id="1" name=""/>
        <p:cNvGrpSpPr/>
        <p:nvPr/>
      </p:nvGrpSpPr>
      <p:grpSpPr>
        <a:xfrm>
          <a:off x="0" y="0"/>
          <a:ext cx="0" cy="0"/>
          <a:chOff x="0" y="0"/>
          <a:chExt cx="0" cy="0"/>
        </a:xfrm>
      </p:grpSpPr>
      <p:pic>
        <p:nvPicPr>
          <p:cNvPr id="2" name="Image 0" descr="/home/claude/pptx_work/assets/logo_ptit.png">    </p:cNvPr>
          <p:cNvPicPr>
            <a:picLocks noChangeAspect="1"/>
          </p:cNvPicPr>
          <p:nvPr/>
        </p:nvPicPr>
        <p:blipFill>
          <a:blip r:embed="rId1"/>
          <a:stretch>
            <a:fillRect/>
          </a:stretch>
        </p:blipFill>
        <p:spPr>
          <a:xfrm>
            <a:off x="0" y="0"/>
            <a:ext cx="4264762" cy="1022299"/>
          </a:xfrm>
          <a:prstGeom prst="rect">
            <a:avLst/>
          </a:prstGeom>
        </p:spPr>
      </p:pic>
      <p:pic>
        <p:nvPicPr>
          <p:cNvPr id="3" name="Image 1" descr="/home/claude/pptx_work/assets/logo_ript.jpeg">    </p:cNvPr>
          <p:cNvPicPr>
            <a:picLocks noChangeAspect="1"/>
          </p:cNvPicPr>
          <p:nvPr/>
        </p:nvPicPr>
        <p:blipFill>
          <a:blip r:embed="rId2"/>
          <a:stretch>
            <a:fillRect/>
          </a:stretch>
        </p:blipFill>
        <p:spPr>
          <a:xfrm>
            <a:off x="11526926" y="226771"/>
            <a:ext cx="444398" cy="568757"/>
          </a:xfrm>
          <a:prstGeom prst="rect">
            <a:avLst/>
          </a:prstGeom>
        </p:spPr>
      </p:pic>
      <p:pic>
        <p:nvPicPr>
          <p:cNvPr id="4" name="Image 2" descr="/home/claude/pptx_work/assets/footer_deco.png">    </p:cNvPr>
          <p:cNvPicPr>
            <a:picLocks noChangeAspect="1"/>
          </p:cNvPicPr>
          <p:nvPr/>
        </p:nvPicPr>
        <p:blipFill>
          <a:blip r:embed="rId3"/>
          <a:stretch>
            <a:fillRect/>
          </a:stretch>
        </p:blipFill>
        <p:spPr>
          <a:xfrm>
            <a:off x="0" y="6281928"/>
            <a:ext cx="12191695" cy="576072"/>
          </a:xfrm>
          <a:prstGeom prst="rect">
            <a:avLst/>
          </a:prstGeom>
        </p:spPr>
      </p:pic>
      <p:sp>
        <p:nvSpPr>
          <p:cNvPr id="5" name="Text 0"/>
          <p:cNvSpPr txBox="1"/>
          <p:nvPr/>
        </p:nvSpPr>
        <p:spPr>
          <a:xfrm>
            <a:off x="365760" y="6455664"/>
            <a:ext cx="8229600" cy="274320"/>
          </a:xfrm>
          <a:prstGeom prst="rect">
            <a:avLst/>
          </a:prstGeom>
          <a:noFill/>
          <a:ln/>
        </p:spPr>
        <p:txBody>
          <a:bodyPr wrap="square" lIns="0" tIns="0" rIns="0" bIns="0" rtlCol="0" anchor="ctr"/>
          <a:lstStyle/>
          <a:p>
            <a:pPr algn="l" indent="0" marL="0">
              <a:buNone/>
            </a:pPr>
            <a:r>
              <a:rPr lang="en-US" sz="900" dirty="0">
                <a:solidFill>
                  <a:srgbClr val="595959"/>
                </a:solidFill>
                <a:latin typeface="Calibri" pitchFamily="34" charset="0"/>
                <a:ea typeface="Calibri" pitchFamily="34" charset="-122"/>
                <a:cs typeface="Calibri" pitchFamily="34" charset="-120"/>
              </a:rPr>
              <a:t>Lập trình Web nâng cao  |  Buổi 3: Quản lý State nâng cao với Redux Toolkit + TypeScript</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image" Target="../media/image-1-3.jpe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2.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claude/pptx_work/assets/logo_ptit.png">    </p:cNvPr>
          <p:cNvPicPr>
            <a:picLocks noChangeAspect="1"/>
          </p:cNvPicPr>
          <p:nvPr/>
        </p:nvPicPr>
        <p:blipFill>
          <a:blip r:embed="rId1"/>
          <a:stretch>
            <a:fillRect/>
          </a:stretch>
        </p:blipFill>
        <p:spPr>
          <a:xfrm>
            <a:off x="0" y="0"/>
            <a:ext cx="4264762" cy="1022299"/>
          </a:xfrm>
          <a:prstGeom prst="rect">
            <a:avLst/>
          </a:prstGeom>
        </p:spPr>
      </p:pic>
      <p:pic>
        <p:nvPicPr>
          <p:cNvPr id="3" name="Image 1" descr="/home/claude/pptx_work/assets/logo_ript.jpeg">    </p:cNvPr>
          <p:cNvPicPr>
            <a:picLocks noChangeAspect="1"/>
          </p:cNvPicPr>
          <p:nvPr/>
        </p:nvPicPr>
        <p:blipFill>
          <a:blip r:embed="rId2"/>
          <a:stretch>
            <a:fillRect/>
          </a:stretch>
        </p:blipFill>
        <p:spPr>
          <a:xfrm>
            <a:off x="11526926" y="226771"/>
            <a:ext cx="444398" cy="568757"/>
          </a:xfrm>
          <a:prstGeom prst="rect">
            <a:avLst/>
          </a:prstGeom>
        </p:spPr>
      </p:pic>
      <p:pic>
        <p:nvPicPr>
          <p:cNvPr id="4" name="Image 2" descr="/home/claude/pptx_work/assets/cover_bg.jpeg">    </p:cNvPr>
          <p:cNvPicPr>
            <a:picLocks noChangeAspect="1"/>
          </p:cNvPicPr>
          <p:nvPr/>
        </p:nvPicPr>
        <p:blipFill>
          <a:blip r:embed="rId3"/>
          <a:stretch>
            <a:fillRect/>
          </a:stretch>
        </p:blipFill>
        <p:spPr>
          <a:xfrm>
            <a:off x="0" y="1358798"/>
            <a:ext cx="12191695" cy="5498287"/>
          </a:xfrm>
          <a:prstGeom prst="rect">
            <a:avLst/>
          </a:prstGeom>
        </p:spPr>
      </p:pic>
      <p:sp>
        <p:nvSpPr>
          <p:cNvPr id="5" name="Text 0"/>
          <p:cNvSpPr txBox="1"/>
          <p:nvPr/>
        </p:nvSpPr>
        <p:spPr>
          <a:xfrm>
            <a:off x="566928" y="2148840"/>
            <a:ext cx="11055096" cy="411480"/>
          </a:xfrm>
          <a:prstGeom prst="rect">
            <a:avLst/>
          </a:prstGeom>
          <a:noFill/>
          <a:ln/>
        </p:spPr>
        <p:txBody>
          <a:bodyPr wrap="square" lIns="0" tIns="0" rIns="0" bIns="0" rtlCol="0" anchor="ctr"/>
          <a:lstStyle/>
          <a:p>
            <a:pPr algn="l" indent="0" marL="0">
              <a:buNone/>
            </a:pPr>
            <a:r>
              <a:rPr lang="en-US" sz="1600" b="1" spc="200" kern="0" dirty="0">
                <a:solidFill>
                  <a:srgbClr val="595959"/>
                </a:solidFill>
                <a:latin typeface="Calibri" pitchFamily="34" charset="0"/>
                <a:ea typeface="Calibri" pitchFamily="34" charset="-122"/>
                <a:cs typeface="Calibri" pitchFamily="34" charset="-120"/>
              </a:rPr>
              <a:t>HỌC PHẦN: LẬP TRÌNH WEB NÂNG CAO</a:t>
            </a:r>
            <a:endParaRPr lang="en-US" sz="1600" dirty="0"/>
          </a:p>
        </p:txBody>
      </p:sp>
      <p:sp>
        <p:nvSpPr>
          <p:cNvPr id="6" name="Text 1"/>
          <p:cNvSpPr txBox="1"/>
          <p:nvPr/>
        </p:nvSpPr>
        <p:spPr>
          <a:xfrm>
            <a:off x="548640" y="2542032"/>
            <a:ext cx="11064240" cy="1737360"/>
          </a:xfrm>
          <a:prstGeom prst="rect">
            <a:avLst/>
          </a:prstGeom>
          <a:noFill/>
          <a:ln/>
        </p:spPr>
        <p:txBody>
          <a:bodyPr wrap="square" lIns="0" tIns="0" rIns="0" bIns="0" rtlCol="0" anchor="t"/>
          <a:lstStyle/>
          <a:p>
            <a:pPr algn="l" indent="0" marL="0">
              <a:lnSpc>
                <a:spcPct val="105000"/>
              </a:lnSpc>
              <a:buNone/>
            </a:pPr>
            <a:r>
              <a:rPr lang="en-US" sz="4000" b="1" dirty="0">
                <a:solidFill>
                  <a:srgbClr val="DA2128"/>
                </a:solidFill>
                <a:latin typeface="Lato" pitchFamily="34" charset="0"/>
                <a:ea typeface="Lato" pitchFamily="34" charset="-122"/>
                <a:cs typeface="Lato" pitchFamily="34" charset="-120"/>
              </a:rPr>
              <a:t>BUỔI 3 — QUẢN LÝ STATE NÂNG CAO</a:t>
            </a:r>
            <a:endParaRPr lang="en-US" sz="4000" dirty="0"/>
          </a:p>
          <a:p>
            <a:pPr algn="l" indent="0" marL="0">
              <a:lnSpc>
                <a:spcPct val="105000"/>
              </a:lnSpc>
              <a:buNone/>
            </a:pPr>
            <a:r>
              <a:rPr lang="en-US" sz="4000" b="1" dirty="0">
                <a:solidFill>
                  <a:srgbClr val="DA2128"/>
                </a:solidFill>
                <a:latin typeface="Lato" pitchFamily="34" charset="0"/>
                <a:ea typeface="Lato" pitchFamily="34" charset="-122"/>
                <a:cs typeface="Lato" pitchFamily="34" charset="-120"/>
              </a:rPr>
              <a:t>VỚI REDUX TOOLKIT + TYPESCRIPT</a:t>
            </a:r>
            <a:endParaRPr lang="en-US" sz="4000" dirty="0"/>
          </a:p>
        </p:txBody>
      </p:sp>
      <p:sp>
        <p:nvSpPr>
          <p:cNvPr id="7" name="Text 2"/>
          <p:cNvSpPr txBox="1"/>
          <p:nvPr/>
        </p:nvSpPr>
        <p:spPr>
          <a:xfrm>
            <a:off x="566928" y="4315968"/>
            <a:ext cx="11055096" cy="457200"/>
          </a:xfrm>
          <a:prstGeom prst="rect">
            <a:avLst/>
          </a:prstGeom>
          <a:noFill/>
          <a:ln/>
        </p:spPr>
        <p:txBody>
          <a:bodyPr wrap="square" lIns="0" tIns="0" rIns="0" bIns="0" rtlCol="0" anchor="ctr"/>
          <a:lstStyle/>
          <a:p>
            <a:pPr algn="l" indent="0" marL="0">
              <a:buNone/>
            </a:pPr>
            <a:r>
              <a:rPr lang="en-US" sz="1600" i="1" dirty="0">
                <a:solidFill>
                  <a:srgbClr val="222222"/>
                </a:solidFill>
                <a:latin typeface="Calibri" pitchFamily="34" charset="0"/>
                <a:ea typeface="Calibri" pitchFamily="34" charset="-122"/>
                <a:cs typeface="Calibri" pitchFamily="34" charset="-120"/>
              </a:rPr>
              <a:t>Lý thuyết + Thực hành với TypeScript  •  3 tiết học</a:t>
            </a:r>
            <a:endParaRPr lang="en-US" sz="1600" dirty="0"/>
          </a:p>
        </p:txBody>
      </p:sp>
      <p:sp>
        <p:nvSpPr>
          <p:cNvPr id="8" name="Text 3"/>
          <p:cNvSpPr txBox="1"/>
          <p:nvPr/>
        </p:nvSpPr>
        <p:spPr>
          <a:xfrm>
            <a:off x="566928" y="5532120"/>
            <a:ext cx="11055096" cy="868680"/>
          </a:xfrm>
          <a:prstGeom prst="rect">
            <a:avLst/>
          </a:prstGeom>
          <a:noFill/>
          <a:ln/>
        </p:spPr>
        <p:txBody>
          <a:bodyPr wrap="square" lIns="0" tIns="0" rIns="0" bIns="0" rtlCol="0" anchor="t"/>
          <a:lstStyle/>
          <a:p>
            <a:pPr algn="l" indent="0" marL="0">
              <a:lnSpc>
                <a:spcPct val="130000"/>
              </a:lnSpc>
              <a:buNone/>
            </a:pPr>
            <a:r>
              <a:rPr lang="en-US" sz="1800" b="1" dirty="0">
                <a:solidFill>
                  <a:srgbClr val="FFFFFF"/>
                </a:solidFill>
                <a:latin typeface="Lato" pitchFamily="34" charset="0"/>
                <a:ea typeface="Lato" pitchFamily="34" charset="-122"/>
                <a:cs typeface="Lato" pitchFamily="34" charset="-120"/>
              </a:rPr>
              <a:t>Giảng viên: Ngô Văn Nhận – 0888726113 – nhannv@ptit.edu.vn</a:t>
            </a:r>
            <a:endParaRPr lang="en-US" sz="1800" dirty="0"/>
          </a:p>
          <a:p>
            <a:pPr algn="l" indent="0" marL="0">
              <a:lnSpc>
                <a:spcPct val="130000"/>
              </a:lnSpc>
              <a:buNone/>
            </a:pPr>
            <a:r>
              <a:rPr lang="en-US" sz="1800" b="1" dirty="0">
                <a:solidFill>
                  <a:srgbClr val="FFFFFF"/>
                </a:solidFill>
                <a:latin typeface="Lato" pitchFamily="34" charset="0"/>
                <a:ea typeface="Lato" pitchFamily="34" charset="-122"/>
                <a:cs typeface="Lato" pitchFamily="34" charset="-120"/>
              </a:rPr>
              <a:t>Reseach Institute of Posts and Telecommunications  (RIPT)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713232"/>
            <a:ext cx="9144000" cy="274320"/>
          </a:xfrm>
          <a:prstGeom prst="rect">
            <a:avLst/>
          </a:prstGeom>
          <a:noFill/>
          <a:ln/>
        </p:spPr>
        <p:txBody>
          <a:bodyPr wrap="square" lIns="0" tIns="0" rIns="0" bIns="0" rtlCol="0" anchor="ctr"/>
          <a:lstStyle/>
          <a:p>
            <a:pPr algn="l" indent="0" marL="0">
              <a:buNone/>
            </a:pPr>
            <a:r>
              <a:rPr lang="en-US" sz="1100" b="1" spc="200" kern="0" dirty="0">
                <a:solidFill>
                  <a:srgbClr val="DA2128"/>
                </a:solidFill>
                <a:latin typeface="Calibri" pitchFamily="34" charset="0"/>
                <a:ea typeface="Calibri" pitchFamily="34" charset="-122"/>
                <a:cs typeface="Calibri" pitchFamily="34" charset="-120"/>
              </a:rPr>
              <a:t>BUỔI 3</a:t>
            </a:r>
            <a:endParaRPr lang="en-US" sz="1100" dirty="0"/>
          </a:p>
        </p:txBody>
      </p:sp>
      <p:sp>
        <p:nvSpPr>
          <p:cNvPr id="3" name="Text 1"/>
          <p:cNvSpPr txBox="1"/>
          <p:nvPr/>
        </p:nvSpPr>
        <p:spPr>
          <a:xfrm>
            <a:off x="566928" y="941832"/>
            <a:ext cx="10607040" cy="594360"/>
          </a:xfrm>
          <a:prstGeom prst="rect">
            <a:avLst/>
          </a:prstGeom>
          <a:noFill/>
          <a:ln/>
        </p:spPr>
        <p:txBody>
          <a:bodyPr wrap="square" lIns="0" tIns="0" rIns="0" bIns="0" rtlCol="0" anchor="ctr"/>
          <a:lstStyle/>
          <a:p>
            <a:pPr algn="l" indent="0" marL="0">
              <a:buNone/>
            </a:pPr>
            <a:r>
              <a:rPr lang="en-US" sz="2600" b="1" dirty="0">
                <a:solidFill>
                  <a:srgbClr val="222222"/>
                </a:solidFill>
                <a:latin typeface="Lato" pitchFamily="34" charset="0"/>
                <a:ea typeface="Lato" pitchFamily="34" charset="-122"/>
                <a:cs typeface="Lato" pitchFamily="34" charset="-120"/>
              </a:rPr>
              <a:t>Mục tiêu buổi học</a:t>
            </a:r>
            <a:endParaRPr lang="en-US" sz="2600" dirty="0"/>
          </a:p>
        </p:txBody>
      </p:sp>
      <p:sp>
        <p:nvSpPr>
          <p:cNvPr id="4" name="Shape 2"/>
          <p:cNvSpPr/>
          <p:nvPr/>
        </p:nvSpPr>
        <p:spPr>
          <a:xfrm>
            <a:off x="566928" y="1874520"/>
            <a:ext cx="566928" cy="566928"/>
          </a:xfrm>
          <a:prstGeom prst="ellipse">
            <a:avLst/>
          </a:prstGeom>
          <a:solidFill>
            <a:srgbClr val="DA2128"/>
          </a:solidFill>
          <a:ln/>
        </p:spPr>
      </p:sp>
      <p:pic>
        <p:nvPicPr>
          <p:cNvPr id="5" name="Image 0" descr="/home/claude/pptx_work/icons/database_white.png">    </p:cNvPr>
          <p:cNvPicPr>
            <a:picLocks noChangeAspect="1"/>
          </p:cNvPicPr>
          <p:nvPr/>
        </p:nvPicPr>
        <p:blipFill>
          <a:blip r:embed="rId1"/>
          <a:stretch>
            <a:fillRect/>
          </a:stretch>
        </p:blipFill>
        <p:spPr>
          <a:xfrm>
            <a:off x="640629" y="1948221"/>
            <a:ext cx="419527" cy="419527"/>
          </a:xfrm>
          <a:prstGeom prst="rect">
            <a:avLst/>
          </a:prstGeom>
        </p:spPr>
      </p:pic>
      <p:sp>
        <p:nvSpPr>
          <p:cNvPr id="6" name="Text 3"/>
          <p:cNvSpPr txBox="1"/>
          <p:nvPr/>
        </p:nvSpPr>
        <p:spPr>
          <a:xfrm>
            <a:off x="1371600" y="1828800"/>
            <a:ext cx="9966960" cy="822960"/>
          </a:xfrm>
          <a:prstGeom prst="rect">
            <a:avLst/>
          </a:prstGeom>
          <a:noFill/>
          <a:ln/>
        </p:spPr>
        <p:txBody>
          <a:bodyPr wrap="square" lIns="0" tIns="0" rIns="0" bIns="0" rtlCol="0" anchor="ctr"/>
          <a:lstStyle/>
          <a:p>
            <a:pPr algn="l" indent="0" marL="0">
              <a:lnSpc>
                <a:spcPct val="115000"/>
              </a:lnSpc>
              <a:buNone/>
            </a:pPr>
            <a:r>
              <a:rPr lang="en-US" sz="1600" dirty="0">
                <a:solidFill>
                  <a:srgbClr val="222222"/>
                </a:solidFill>
                <a:latin typeface="Calibri" pitchFamily="34" charset="0"/>
                <a:ea typeface="Calibri" pitchFamily="34" charset="-122"/>
                <a:cs typeface="Calibri" pitchFamily="34" charset="-120"/>
              </a:rPr>
              <a:t>Hiểu vì sao cần quản lý state tập trung khi ứng dụng lớn dần, và nắm được kiến trúc cốt lõi của Redux Toolkit (store, slice, reducer, action).</a:t>
            </a:r>
            <a:endParaRPr lang="en-US" sz="1600" dirty="0"/>
          </a:p>
        </p:txBody>
      </p:sp>
      <p:sp>
        <p:nvSpPr>
          <p:cNvPr id="7" name="Shape 4"/>
          <p:cNvSpPr/>
          <p:nvPr/>
        </p:nvSpPr>
        <p:spPr>
          <a:xfrm>
            <a:off x="566928" y="2926080"/>
            <a:ext cx="566928" cy="566928"/>
          </a:xfrm>
          <a:prstGeom prst="ellipse">
            <a:avLst/>
          </a:prstGeom>
          <a:solidFill>
            <a:srgbClr val="DA2128"/>
          </a:solidFill>
          <a:ln/>
        </p:spPr>
      </p:sp>
      <p:pic>
        <p:nvPicPr>
          <p:cNvPr id="8" name="Image 1" descr="/home/claude/pptx_work/icons/sync_white.png">    </p:cNvPr>
          <p:cNvPicPr>
            <a:picLocks noChangeAspect="1"/>
          </p:cNvPicPr>
          <p:nvPr/>
        </p:nvPicPr>
        <p:blipFill>
          <a:blip r:embed="rId2"/>
          <a:stretch>
            <a:fillRect/>
          </a:stretch>
        </p:blipFill>
        <p:spPr>
          <a:xfrm>
            <a:off x="640629" y="2999781"/>
            <a:ext cx="419527" cy="419527"/>
          </a:xfrm>
          <a:prstGeom prst="rect">
            <a:avLst/>
          </a:prstGeom>
        </p:spPr>
      </p:pic>
      <p:sp>
        <p:nvSpPr>
          <p:cNvPr id="9" name="Text 5"/>
          <p:cNvSpPr txBox="1"/>
          <p:nvPr/>
        </p:nvSpPr>
        <p:spPr>
          <a:xfrm>
            <a:off x="1371600" y="2880360"/>
            <a:ext cx="9966960" cy="822960"/>
          </a:xfrm>
          <a:prstGeom prst="rect">
            <a:avLst/>
          </a:prstGeom>
          <a:noFill/>
          <a:ln/>
        </p:spPr>
        <p:txBody>
          <a:bodyPr wrap="square" lIns="0" tIns="0" rIns="0" bIns="0" rtlCol="0" anchor="ctr"/>
          <a:lstStyle/>
          <a:p>
            <a:pPr algn="l" indent="0" marL="0">
              <a:lnSpc>
                <a:spcPct val="115000"/>
              </a:lnSpc>
              <a:buNone/>
            </a:pPr>
            <a:r>
              <a:rPr lang="en-US" sz="1600" dirty="0">
                <a:solidFill>
                  <a:srgbClr val="222222"/>
                </a:solidFill>
                <a:latin typeface="Calibri" pitchFamily="34" charset="0"/>
                <a:ea typeface="Calibri" pitchFamily="34" charset="-122"/>
                <a:cs typeface="Calibri" pitchFamily="34" charset="-120"/>
              </a:rPr>
              <a:t>Viết thành thạo configureStore, createSlice và createAsyncThunk bằng TypeScript để quản lý state đồng bộ lẫn bất đồng bộ.</a:t>
            </a:r>
            <a:endParaRPr lang="en-US" sz="1600" dirty="0"/>
          </a:p>
        </p:txBody>
      </p:sp>
      <p:sp>
        <p:nvSpPr>
          <p:cNvPr id="10" name="Shape 6"/>
          <p:cNvSpPr/>
          <p:nvPr/>
        </p:nvSpPr>
        <p:spPr>
          <a:xfrm>
            <a:off x="566928" y="3977640"/>
            <a:ext cx="566928" cy="566928"/>
          </a:xfrm>
          <a:prstGeom prst="ellipse">
            <a:avLst/>
          </a:prstGeom>
          <a:solidFill>
            <a:srgbClr val="DA2128"/>
          </a:solidFill>
          <a:ln/>
        </p:spPr>
      </p:sp>
      <p:pic>
        <p:nvPicPr>
          <p:cNvPr id="11" name="Image 2" descr="/home/claude/pptx_work/icons/shield_white.png">    </p:cNvPr>
          <p:cNvPicPr>
            <a:picLocks noChangeAspect="1"/>
          </p:cNvPicPr>
          <p:nvPr/>
        </p:nvPicPr>
        <p:blipFill>
          <a:blip r:embed="rId3"/>
          <a:stretch>
            <a:fillRect/>
          </a:stretch>
        </p:blipFill>
        <p:spPr>
          <a:xfrm>
            <a:off x="640629" y="4051341"/>
            <a:ext cx="419527" cy="419527"/>
          </a:xfrm>
          <a:prstGeom prst="rect">
            <a:avLst/>
          </a:prstGeom>
        </p:spPr>
      </p:pic>
      <p:sp>
        <p:nvSpPr>
          <p:cNvPr id="12" name="Text 7"/>
          <p:cNvSpPr txBox="1"/>
          <p:nvPr/>
        </p:nvSpPr>
        <p:spPr>
          <a:xfrm>
            <a:off x="1371600" y="3931920"/>
            <a:ext cx="9966960" cy="822960"/>
          </a:xfrm>
          <a:prstGeom prst="rect">
            <a:avLst/>
          </a:prstGeom>
          <a:noFill/>
          <a:ln/>
        </p:spPr>
        <p:txBody>
          <a:bodyPr wrap="square" lIns="0" tIns="0" rIns="0" bIns="0" rtlCol="0" anchor="ctr"/>
          <a:lstStyle/>
          <a:p>
            <a:pPr algn="l" indent="0" marL="0">
              <a:lnSpc>
                <a:spcPct val="115000"/>
              </a:lnSpc>
              <a:buNone/>
            </a:pPr>
            <a:r>
              <a:rPr lang="en-US" sz="1600" dirty="0">
                <a:solidFill>
                  <a:srgbClr val="222222"/>
                </a:solidFill>
                <a:latin typeface="Calibri" pitchFamily="34" charset="0"/>
                <a:ea typeface="Calibri" pitchFamily="34" charset="-122"/>
                <a:cs typeface="Calibri" pitchFamily="34" charset="-120"/>
              </a:rPr>
              <a:t>Xây dựng được typed hooks (useAppSelector, useAppDispatch) đảm bảo an toàn kiểu dữ liệu xuyên suốt ứng dụng.</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713232"/>
            <a:ext cx="9144000" cy="274320"/>
          </a:xfrm>
          <a:prstGeom prst="rect">
            <a:avLst/>
          </a:prstGeom>
          <a:noFill/>
          <a:ln/>
        </p:spPr>
        <p:txBody>
          <a:bodyPr wrap="square" lIns="0" tIns="0" rIns="0" bIns="0" rtlCol="0" anchor="ctr"/>
          <a:lstStyle/>
          <a:p>
            <a:pPr algn="l" indent="0" marL="0">
              <a:buNone/>
            </a:pPr>
            <a:r>
              <a:rPr lang="en-US" sz="1100" b="1" spc="200" kern="0" dirty="0">
                <a:solidFill>
                  <a:srgbClr val="DA2128"/>
                </a:solidFill>
                <a:latin typeface="Calibri" pitchFamily="34" charset="0"/>
                <a:ea typeface="Calibri" pitchFamily="34" charset="-122"/>
                <a:cs typeface="Calibri" pitchFamily="34" charset="-120"/>
              </a:rPr>
              <a:t>AGENDA</a:t>
            </a:r>
            <a:endParaRPr lang="en-US" sz="1100" dirty="0"/>
          </a:p>
        </p:txBody>
      </p:sp>
      <p:sp>
        <p:nvSpPr>
          <p:cNvPr id="3" name="Text 1"/>
          <p:cNvSpPr txBox="1"/>
          <p:nvPr/>
        </p:nvSpPr>
        <p:spPr>
          <a:xfrm>
            <a:off x="566928" y="941832"/>
            <a:ext cx="10607040" cy="594360"/>
          </a:xfrm>
          <a:prstGeom prst="rect">
            <a:avLst/>
          </a:prstGeom>
          <a:noFill/>
          <a:ln/>
        </p:spPr>
        <p:txBody>
          <a:bodyPr wrap="square" lIns="0" tIns="0" rIns="0" bIns="0" rtlCol="0" anchor="ctr"/>
          <a:lstStyle/>
          <a:p>
            <a:pPr algn="l" indent="0" marL="0">
              <a:buNone/>
            </a:pPr>
            <a:r>
              <a:rPr lang="en-US" sz="2600" b="1" dirty="0">
                <a:solidFill>
                  <a:srgbClr val="222222"/>
                </a:solidFill>
                <a:latin typeface="Lato" pitchFamily="34" charset="0"/>
                <a:ea typeface="Lato" pitchFamily="34" charset="-122"/>
                <a:cs typeface="Lato" pitchFamily="34" charset="-120"/>
              </a:rPr>
              <a:t>Nội dung buổi học</a:t>
            </a:r>
            <a:endParaRPr lang="en-US" sz="2600" dirty="0"/>
          </a:p>
        </p:txBody>
      </p:sp>
      <p:sp>
        <p:nvSpPr>
          <p:cNvPr id="4" name="Shape 2"/>
          <p:cNvSpPr/>
          <p:nvPr/>
        </p:nvSpPr>
        <p:spPr>
          <a:xfrm>
            <a:off x="566928" y="1791858"/>
            <a:ext cx="3219054" cy="3566160"/>
          </a:xfrm>
          <a:prstGeom prst="roundRect">
            <a:avLst>
              <a:gd name="adj" fmla="val 1704"/>
            </a:avLst>
          </a:prstGeom>
          <a:solidFill>
            <a:srgbClr val="F2F2F2"/>
          </a:solidFill>
          <a:ln/>
        </p:spPr>
      </p:sp>
      <p:sp>
        <p:nvSpPr>
          <p:cNvPr id="5" name="Shape 3"/>
          <p:cNvSpPr/>
          <p:nvPr/>
        </p:nvSpPr>
        <p:spPr>
          <a:xfrm>
            <a:off x="1810695" y="2157618"/>
            <a:ext cx="731520" cy="731520"/>
          </a:xfrm>
          <a:prstGeom prst="ellipse">
            <a:avLst/>
          </a:prstGeom>
          <a:solidFill>
            <a:srgbClr val="DA2128"/>
          </a:solidFill>
          <a:ln/>
        </p:spPr>
      </p:sp>
      <p:pic>
        <p:nvPicPr>
          <p:cNvPr id="6" name="Image 0" descr="/home/claude/pptx_work/icons/book_white.png">    </p:cNvPr>
          <p:cNvPicPr>
            <a:picLocks noChangeAspect="1"/>
          </p:cNvPicPr>
          <p:nvPr/>
        </p:nvPicPr>
        <p:blipFill>
          <a:blip r:embed="rId1"/>
          <a:stretch>
            <a:fillRect/>
          </a:stretch>
        </p:blipFill>
        <p:spPr>
          <a:xfrm>
            <a:off x="1905792" y="2252716"/>
            <a:ext cx="541325" cy="541325"/>
          </a:xfrm>
          <a:prstGeom prst="rect">
            <a:avLst/>
          </a:prstGeom>
        </p:spPr>
      </p:pic>
      <p:sp>
        <p:nvSpPr>
          <p:cNvPr id="7" name="Text 4"/>
          <p:cNvSpPr txBox="1"/>
          <p:nvPr/>
        </p:nvSpPr>
        <p:spPr>
          <a:xfrm>
            <a:off x="566928" y="2934858"/>
            <a:ext cx="3219054" cy="292608"/>
          </a:xfrm>
          <a:prstGeom prst="rect">
            <a:avLst/>
          </a:prstGeom>
          <a:noFill/>
          <a:ln/>
        </p:spPr>
        <p:txBody>
          <a:bodyPr wrap="square" lIns="0" tIns="0" rIns="0" bIns="0" rtlCol="0" anchor="ctr"/>
          <a:lstStyle/>
          <a:p>
            <a:pPr algn="ctr" indent="0" marL="0">
              <a:buNone/>
            </a:pPr>
            <a:r>
              <a:rPr lang="en-US" sz="1200" b="1" spc="150" kern="0" dirty="0">
                <a:solidFill>
                  <a:srgbClr val="DA2128"/>
                </a:solidFill>
                <a:latin typeface="Calibri" pitchFamily="34" charset="0"/>
                <a:ea typeface="Calibri" pitchFamily="34" charset="-122"/>
                <a:cs typeface="Calibri" pitchFamily="34" charset="-120"/>
              </a:rPr>
              <a:t>Phần 1</a:t>
            </a:r>
            <a:endParaRPr lang="en-US" sz="1200" dirty="0"/>
          </a:p>
        </p:txBody>
      </p:sp>
      <p:sp>
        <p:nvSpPr>
          <p:cNvPr id="8" name="Text 5"/>
          <p:cNvSpPr txBox="1"/>
          <p:nvPr/>
        </p:nvSpPr>
        <p:spPr>
          <a:xfrm>
            <a:off x="566928" y="3236610"/>
            <a:ext cx="3219054" cy="502920"/>
          </a:xfrm>
          <a:prstGeom prst="rect">
            <a:avLst/>
          </a:prstGeom>
          <a:noFill/>
          <a:ln/>
        </p:spPr>
        <p:txBody>
          <a:bodyPr wrap="square" lIns="0" tIns="0" rIns="0" bIns="0" rtlCol="0" anchor="ctr"/>
          <a:lstStyle/>
          <a:p>
            <a:pPr algn="ctr" indent="0" marL="0">
              <a:buNone/>
            </a:pPr>
            <a:r>
              <a:rPr lang="en-US" sz="2200" b="1" dirty="0">
                <a:solidFill>
                  <a:srgbClr val="222222"/>
                </a:solidFill>
                <a:latin typeface="Lato" pitchFamily="34" charset="0"/>
                <a:ea typeface="Lato" pitchFamily="34" charset="-122"/>
                <a:cs typeface="Lato" pitchFamily="34" charset="-120"/>
              </a:rPr>
              <a:t>Lý thuyết</a:t>
            </a:r>
            <a:endParaRPr lang="en-US" sz="2200" dirty="0"/>
          </a:p>
        </p:txBody>
      </p:sp>
      <p:sp>
        <p:nvSpPr>
          <p:cNvPr id="9" name="Text 6"/>
          <p:cNvSpPr txBox="1"/>
          <p:nvPr/>
        </p:nvSpPr>
        <p:spPr>
          <a:xfrm>
            <a:off x="886968" y="3803538"/>
            <a:ext cx="2578974" cy="1463040"/>
          </a:xfrm>
          <a:prstGeom prst="rect">
            <a:avLst/>
          </a:prstGeom>
          <a:noFill/>
          <a:ln/>
        </p:spPr>
        <p:txBody>
          <a:bodyPr wrap="square" lIns="0" tIns="0" rIns="0" bIns="0" rtlCol="0" anchor="t"/>
          <a:lstStyle/>
          <a:p>
            <a:pPr algn="ctr" indent="0" marL="0">
              <a:lnSpc>
                <a:spcPct val="120000"/>
              </a:lnSpc>
              <a:buNone/>
            </a:pPr>
            <a:r>
              <a:rPr lang="en-US" sz="1300" dirty="0">
                <a:solidFill>
                  <a:srgbClr val="595959"/>
                </a:solidFill>
                <a:latin typeface="Calibri" pitchFamily="34" charset="0"/>
                <a:ea typeface="Calibri" pitchFamily="34" charset="-122"/>
                <a:cs typeface="Calibri" pitchFamily="34" charset="-120"/>
              </a:rPr>
              <a:t>8 chủ đề: vì sao cần Redux Toolkit, configureStore &amp; createSlice, createAsyncThunk, cấu trúc thư mục feature-based, kết nối Redux với React, RTK Query, middleware &amp; DevTools, so sánh lựa chọn</a:t>
            </a:r>
            <a:endParaRPr lang="en-US" sz="1300" dirty="0"/>
          </a:p>
        </p:txBody>
      </p:sp>
      <p:sp>
        <p:nvSpPr>
          <p:cNvPr id="10" name="Shape 7"/>
          <p:cNvSpPr/>
          <p:nvPr/>
        </p:nvSpPr>
        <p:spPr>
          <a:xfrm>
            <a:off x="4060302" y="1791858"/>
            <a:ext cx="3219054" cy="3566160"/>
          </a:xfrm>
          <a:prstGeom prst="roundRect">
            <a:avLst>
              <a:gd name="adj" fmla="val 1704"/>
            </a:avLst>
          </a:prstGeom>
          <a:solidFill>
            <a:srgbClr val="DA2128"/>
          </a:solidFill>
          <a:ln/>
        </p:spPr>
      </p:sp>
      <p:sp>
        <p:nvSpPr>
          <p:cNvPr id="11" name="Shape 8"/>
          <p:cNvSpPr/>
          <p:nvPr/>
        </p:nvSpPr>
        <p:spPr>
          <a:xfrm>
            <a:off x="5304069" y="2157618"/>
            <a:ext cx="731520" cy="731520"/>
          </a:xfrm>
          <a:prstGeom prst="ellipse">
            <a:avLst/>
          </a:prstGeom>
          <a:solidFill>
            <a:srgbClr val="FFFFFF"/>
          </a:solidFill>
          <a:ln/>
        </p:spPr>
      </p:sp>
      <p:pic>
        <p:nvPicPr>
          <p:cNvPr id="12" name="Image 1" descr="/home/claude/pptx_work/icons/laptop_white.png">    </p:cNvPr>
          <p:cNvPicPr>
            <a:picLocks noChangeAspect="1"/>
          </p:cNvPicPr>
          <p:nvPr/>
        </p:nvPicPr>
        <p:blipFill>
          <a:blip r:embed="rId2"/>
          <a:stretch>
            <a:fillRect/>
          </a:stretch>
        </p:blipFill>
        <p:spPr>
          <a:xfrm>
            <a:off x="5399166" y="2252716"/>
            <a:ext cx="541325" cy="541325"/>
          </a:xfrm>
          <a:prstGeom prst="rect">
            <a:avLst/>
          </a:prstGeom>
        </p:spPr>
      </p:pic>
      <p:sp>
        <p:nvSpPr>
          <p:cNvPr id="13" name="Text 9"/>
          <p:cNvSpPr txBox="1"/>
          <p:nvPr/>
        </p:nvSpPr>
        <p:spPr>
          <a:xfrm>
            <a:off x="4060302" y="2934858"/>
            <a:ext cx="3219054" cy="292608"/>
          </a:xfrm>
          <a:prstGeom prst="rect">
            <a:avLst/>
          </a:prstGeom>
          <a:noFill/>
          <a:ln/>
        </p:spPr>
        <p:txBody>
          <a:bodyPr wrap="square" lIns="0" tIns="0" rIns="0" bIns="0"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Phần 2</a:t>
            </a:r>
            <a:endParaRPr lang="en-US" sz="1200" dirty="0"/>
          </a:p>
        </p:txBody>
      </p:sp>
      <p:sp>
        <p:nvSpPr>
          <p:cNvPr id="14" name="Text 10"/>
          <p:cNvSpPr txBox="1"/>
          <p:nvPr/>
        </p:nvSpPr>
        <p:spPr>
          <a:xfrm>
            <a:off x="4060302" y="3236610"/>
            <a:ext cx="3219054"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Lato" pitchFamily="34" charset="0"/>
                <a:ea typeface="Lato" pitchFamily="34" charset="-122"/>
                <a:cs typeface="Lato" pitchFamily="34" charset="-120"/>
              </a:rPr>
              <a:t>Thực hành</a:t>
            </a:r>
            <a:endParaRPr lang="en-US" sz="2200" dirty="0"/>
          </a:p>
        </p:txBody>
      </p:sp>
      <p:sp>
        <p:nvSpPr>
          <p:cNvPr id="15" name="Text 11"/>
          <p:cNvSpPr txBox="1"/>
          <p:nvPr/>
        </p:nvSpPr>
        <p:spPr>
          <a:xfrm>
            <a:off x="4380342" y="3803538"/>
            <a:ext cx="2578974" cy="1463040"/>
          </a:xfrm>
          <a:prstGeom prst="rect">
            <a:avLst/>
          </a:prstGeom>
          <a:noFill/>
          <a:ln/>
        </p:spPr>
        <p:txBody>
          <a:bodyPr wrap="square" lIns="0" tIns="0" rIns="0" bIns="0" rtlCol="0" anchor="t"/>
          <a:lstStyle/>
          <a:p>
            <a:pPr algn="ctr" indent="0" marL="0">
              <a:lnSpc>
                <a:spcPct val="120000"/>
              </a:lnSpc>
              <a:buNone/>
            </a:pPr>
            <a:r>
              <a:rPr lang="en-US" sz="1300" dirty="0">
                <a:solidFill>
                  <a:srgbClr val="FFFFFF"/>
                </a:solidFill>
                <a:latin typeface="Calibri" pitchFamily="34" charset="0"/>
                <a:ea typeface="Calibri" pitchFamily="34" charset="-122"/>
                <a:cs typeface="Calibri" pitchFamily="34" charset="-120"/>
              </a:rPr>
              <a:t>3 bài thực hành trực tiếp: cartSlice với createSlice, productsSlice với createAsyncThunk, typed hooks useAppDispatch/useAppSelector — đặt đúng theo cấu trúc feature-based</a:t>
            </a:r>
            <a:endParaRPr lang="en-US" sz="1300" dirty="0"/>
          </a:p>
        </p:txBody>
      </p:sp>
      <p:sp>
        <p:nvSpPr>
          <p:cNvPr id="16" name="Shape 12"/>
          <p:cNvSpPr/>
          <p:nvPr/>
        </p:nvSpPr>
        <p:spPr>
          <a:xfrm>
            <a:off x="7553676" y="1791858"/>
            <a:ext cx="3219054" cy="3566160"/>
          </a:xfrm>
          <a:prstGeom prst="roundRect">
            <a:avLst>
              <a:gd name="adj" fmla="val 1704"/>
            </a:avLst>
          </a:prstGeom>
          <a:solidFill>
            <a:srgbClr val="F2F2F2"/>
          </a:solidFill>
          <a:ln/>
        </p:spPr>
      </p:sp>
      <p:sp>
        <p:nvSpPr>
          <p:cNvPr id="17" name="Shape 13"/>
          <p:cNvSpPr/>
          <p:nvPr/>
        </p:nvSpPr>
        <p:spPr>
          <a:xfrm>
            <a:off x="8797442" y="2157618"/>
            <a:ext cx="731520" cy="731520"/>
          </a:xfrm>
          <a:prstGeom prst="ellipse">
            <a:avLst/>
          </a:prstGeom>
          <a:solidFill>
            <a:srgbClr val="DA2128"/>
          </a:solidFill>
          <a:ln/>
        </p:spPr>
      </p:sp>
      <p:pic>
        <p:nvPicPr>
          <p:cNvPr id="18" name="Image 2" descr="/home/claude/pptx_work/icons/clipboard_white.png">    </p:cNvPr>
          <p:cNvPicPr>
            <a:picLocks noChangeAspect="1"/>
          </p:cNvPicPr>
          <p:nvPr/>
        </p:nvPicPr>
        <p:blipFill>
          <a:blip r:embed="rId3"/>
          <a:stretch>
            <a:fillRect/>
          </a:stretch>
        </p:blipFill>
        <p:spPr>
          <a:xfrm>
            <a:off x="8892540" y="2252716"/>
            <a:ext cx="541325" cy="541325"/>
          </a:xfrm>
          <a:prstGeom prst="rect">
            <a:avLst/>
          </a:prstGeom>
        </p:spPr>
      </p:pic>
      <p:sp>
        <p:nvSpPr>
          <p:cNvPr id="19" name="Text 14"/>
          <p:cNvSpPr txBox="1"/>
          <p:nvPr/>
        </p:nvSpPr>
        <p:spPr>
          <a:xfrm>
            <a:off x="7553676" y="2934858"/>
            <a:ext cx="3219054" cy="292608"/>
          </a:xfrm>
          <a:prstGeom prst="rect">
            <a:avLst/>
          </a:prstGeom>
          <a:noFill/>
          <a:ln/>
        </p:spPr>
        <p:txBody>
          <a:bodyPr wrap="square" lIns="0" tIns="0" rIns="0" bIns="0" rtlCol="0" anchor="ctr"/>
          <a:lstStyle/>
          <a:p>
            <a:pPr algn="ctr" indent="0" marL="0">
              <a:buNone/>
            </a:pPr>
            <a:r>
              <a:rPr lang="en-US" sz="1200" b="1" spc="150" kern="0" dirty="0">
                <a:solidFill>
                  <a:srgbClr val="DA2128"/>
                </a:solidFill>
                <a:latin typeface="Calibri" pitchFamily="34" charset="0"/>
                <a:ea typeface="Calibri" pitchFamily="34" charset="-122"/>
                <a:cs typeface="Calibri" pitchFamily="34" charset="-120"/>
              </a:rPr>
              <a:t>Phần 3</a:t>
            </a:r>
            <a:endParaRPr lang="en-US" sz="1200" dirty="0"/>
          </a:p>
        </p:txBody>
      </p:sp>
      <p:sp>
        <p:nvSpPr>
          <p:cNvPr id="20" name="Text 15"/>
          <p:cNvSpPr txBox="1"/>
          <p:nvPr/>
        </p:nvSpPr>
        <p:spPr>
          <a:xfrm>
            <a:off x="7553676" y="3236610"/>
            <a:ext cx="3219054" cy="502920"/>
          </a:xfrm>
          <a:prstGeom prst="rect">
            <a:avLst/>
          </a:prstGeom>
          <a:noFill/>
          <a:ln/>
        </p:spPr>
        <p:txBody>
          <a:bodyPr wrap="square" lIns="0" tIns="0" rIns="0" bIns="0" rtlCol="0" anchor="ctr"/>
          <a:lstStyle/>
          <a:p>
            <a:pPr algn="ctr" indent="0" marL="0">
              <a:buNone/>
            </a:pPr>
            <a:r>
              <a:rPr lang="en-US" sz="2200" b="1" dirty="0">
                <a:solidFill>
                  <a:srgbClr val="222222"/>
                </a:solidFill>
                <a:latin typeface="Lato" pitchFamily="34" charset="0"/>
                <a:ea typeface="Lato" pitchFamily="34" charset="-122"/>
                <a:cs typeface="Lato" pitchFamily="34" charset="-120"/>
              </a:rPr>
              <a:t>Bài tập về nhà</a:t>
            </a:r>
            <a:endParaRPr lang="en-US" sz="2200" dirty="0"/>
          </a:p>
        </p:txBody>
      </p:sp>
      <p:sp>
        <p:nvSpPr>
          <p:cNvPr id="21" name="Text 16"/>
          <p:cNvSpPr txBox="1"/>
          <p:nvPr/>
        </p:nvSpPr>
        <p:spPr>
          <a:xfrm>
            <a:off x="7873716" y="3803538"/>
            <a:ext cx="2578974" cy="1463040"/>
          </a:xfrm>
          <a:prstGeom prst="rect">
            <a:avLst/>
          </a:prstGeom>
          <a:noFill/>
          <a:ln/>
        </p:spPr>
        <p:txBody>
          <a:bodyPr wrap="square" lIns="0" tIns="0" rIns="0" bIns="0" rtlCol="0" anchor="t"/>
          <a:lstStyle/>
          <a:p>
            <a:pPr algn="ctr" indent="0" marL="0">
              <a:lnSpc>
                <a:spcPct val="120000"/>
              </a:lnSpc>
              <a:buNone/>
            </a:pPr>
            <a:r>
              <a:rPr lang="en-US" sz="1300" dirty="0">
                <a:solidFill>
                  <a:srgbClr val="595959"/>
                </a:solidFill>
                <a:latin typeface="Calibri" pitchFamily="34" charset="0"/>
                <a:ea typeface="Calibri" pitchFamily="34" charset="-122"/>
                <a:cs typeface="Calibri" pitchFamily="34" charset="-120"/>
              </a:rPr>
              <a:t>Xây dựng module giỏ hàng hoàn chỉnh kết nối Redux Toolkit với API sản phẩm, áp dụng đủ slice + async thunk + typed hooks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2331720"/>
            <a:ext cx="11055096" cy="457200"/>
          </a:xfrm>
          <a:prstGeom prst="rect">
            <a:avLst/>
          </a:prstGeom>
          <a:noFill/>
          <a:ln/>
        </p:spPr>
        <p:txBody>
          <a:bodyPr wrap="square" lIns="0" tIns="0" rIns="0" bIns="0" rtlCol="0" anchor="ctr"/>
          <a:lstStyle/>
          <a:p>
            <a:pPr algn="ctr" indent="0" marL="0">
              <a:buNone/>
            </a:pPr>
            <a:r>
              <a:rPr lang="en-US" sz="1600" b="1" spc="300" kern="0" dirty="0">
                <a:solidFill>
                  <a:srgbClr val="595959"/>
                </a:solidFill>
                <a:latin typeface="Calibri" pitchFamily="34" charset="0"/>
                <a:ea typeface="Calibri" pitchFamily="34" charset="-122"/>
                <a:cs typeface="Calibri" pitchFamily="34" charset="-120"/>
              </a:rPr>
              <a:t>PHẦN 1 · LÝ THUYẾT</a:t>
            </a:r>
            <a:endParaRPr lang="en-US" sz="1600" dirty="0"/>
          </a:p>
        </p:txBody>
      </p:sp>
      <p:sp>
        <p:nvSpPr>
          <p:cNvPr id="3" name="Text 1"/>
          <p:cNvSpPr txBox="1"/>
          <p:nvPr/>
        </p:nvSpPr>
        <p:spPr>
          <a:xfrm>
            <a:off x="566928" y="2788920"/>
            <a:ext cx="11055096" cy="1188720"/>
          </a:xfrm>
          <a:prstGeom prst="rect">
            <a:avLst/>
          </a:prstGeom>
          <a:noFill/>
          <a:ln/>
        </p:spPr>
        <p:txBody>
          <a:bodyPr wrap="square" lIns="0" tIns="0" rIns="0" bIns="0" rtlCol="0" anchor="ctr"/>
          <a:lstStyle/>
          <a:p>
            <a:pPr algn="ctr" indent="0" marL="0">
              <a:buNone/>
            </a:pPr>
            <a:r>
              <a:rPr lang="en-US" sz="3400" b="1" dirty="0">
                <a:solidFill>
                  <a:srgbClr val="DA2128"/>
                </a:solidFill>
                <a:latin typeface="Lato" pitchFamily="34" charset="0"/>
                <a:ea typeface="Lato" pitchFamily="34" charset="-122"/>
                <a:cs typeface="Lato" pitchFamily="34" charset="-120"/>
              </a:rPr>
              <a:t>QUẢN LÝ STATE NÂNG CAO</a:t>
            </a:r>
            <a:endParaRPr lang="en-US" sz="3400" dirty="0"/>
          </a:p>
          <a:p>
            <a:pPr algn="ctr" indent="0" marL="0">
              <a:buNone/>
            </a:pPr>
            <a:r>
              <a:rPr lang="en-US" sz="3400" b="1" dirty="0">
                <a:solidFill>
                  <a:srgbClr val="DA2128"/>
                </a:solidFill>
                <a:latin typeface="Lato" pitchFamily="34" charset="0"/>
                <a:ea typeface="Lato" pitchFamily="34" charset="-122"/>
                <a:cs typeface="Lato" pitchFamily="34" charset="-120"/>
              </a:rPr>
              <a:t>VỚI REDUX TOOLKIT</a:t>
            </a:r>
            <a:endParaRPr lang="en-US" sz="3400" dirty="0"/>
          </a:p>
        </p:txBody>
      </p:sp>
      <p:sp>
        <p:nvSpPr>
          <p:cNvPr id="4" name="Text 2"/>
          <p:cNvSpPr txBox="1"/>
          <p:nvPr/>
        </p:nvSpPr>
        <p:spPr>
          <a:xfrm>
            <a:off x="1371600" y="3977640"/>
            <a:ext cx="9445752" cy="548640"/>
          </a:xfrm>
          <a:prstGeom prst="rect">
            <a:avLst/>
          </a:prstGeom>
          <a:noFill/>
          <a:ln/>
        </p:spPr>
        <p:txBody>
          <a:bodyPr wrap="square" lIns="0" tIns="0" rIns="0" bIns="0" rtlCol="0" anchor="ctr"/>
          <a:lstStyle/>
          <a:p>
            <a:pPr algn="ctr" indent="0" marL="0">
              <a:buNone/>
            </a:pPr>
            <a:r>
              <a:rPr lang="en-US" sz="1500" i="1" dirty="0">
                <a:solidFill>
                  <a:srgbClr val="595959"/>
                </a:solidFill>
                <a:latin typeface="Calibri" pitchFamily="34" charset="0"/>
                <a:ea typeface="Calibri" pitchFamily="34" charset="-122"/>
                <a:cs typeface="Calibri" pitchFamily="34" charset="-120"/>
              </a:rPr>
              <a:t>8 chủ đề giúp quản lý state tập trung, an toàn kiểu dữ liệu và dễ mở rộng</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713232"/>
            <a:ext cx="9144000" cy="274320"/>
          </a:xfrm>
          <a:prstGeom prst="rect">
            <a:avLst/>
          </a:prstGeom>
          <a:noFill/>
          <a:ln/>
        </p:spPr>
        <p:txBody>
          <a:bodyPr wrap="square" lIns="0" tIns="0" rIns="0" bIns="0" rtlCol="0" anchor="ctr"/>
          <a:lstStyle/>
          <a:p>
            <a:pPr algn="l" indent="0" marL="0">
              <a:buNone/>
            </a:pPr>
            <a:r>
              <a:rPr lang="en-US" sz="1100" b="1" spc="200" kern="0" dirty="0">
                <a:solidFill>
                  <a:srgbClr val="DA2128"/>
                </a:solidFill>
                <a:latin typeface="Calibri" pitchFamily="34" charset="0"/>
                <a:ea typeface="Calibri" pitchFamily="34" charset="-122"/>
                <a:cs typeface="Calibri" pitchFamily="34" charset="-120"/>
              </a:rPr>
              <a:t>01 · ĐẶT VẤN ĐỀ</a:t>
            </a:r>
            <a:endParaRPr lang="en-US" sz="1100" dirty="0"/>
          </a:p>
        </p:txBody>
      </p:sp>
      <p:sp>
        <p:nvSpPr>
          <p:cNvPr id="3" name="Text 1"/>
          <p:cNvSpPr txBox="1"/>
          <p:nvPr/>
        </p:nvSpPr>
        <p:spPr>
          <a:xfrm>
            <a:off x="566928" y="941832"/>
            <a:ext cx="10607040" cy="594360"/>
          </a:xfrm>
          <a:prstGeom prst="rect">
            <a:avLst/>
          </a:prstGeom>
          <a:noFill/>
          <a:ln/>
        </p:spPr>
        <p:txBody>
          <a:bodyPr wrap="square" lIns="0" tIns="0" rIns="0" bIns="0" rtlCol="0" anchor="ctr"/>
          <a:lstStyle/>
          <a:p>
            <a:pPr algn="l" indent="0" marL="0">
              <a:buNone/>
            </a:pPr>
            <a:r>
              <a:rPr lang="en-US" sz="2600" b="1" dirty="0">
                <a:solidFill>
                  <a:srgbClr val="222222"/>
                </a:solidFill>
                <a:latin typeface="Lato" pitchFamily="34" charset="0"/>
                <a:ea typeface="Lato" pitchFamily="34" charset="-122"/>
                <a:cs typeface="Lato" pitchFamily="34" charset="-120"/>
              </a:rPr>
              <a:t>Vì sao cần quản lý state tập trung?</a:t>
            </a:r>
            <a:endParaRPr lang="en-US" sz="2600" dirty="0"/>
          </a:p>
        </p:txBody>
      </p:sp>
      <p:sp>
        <p:nvSpPr>
          <p:cNvPr id="4" name="Text 2"/>
          <p:cNvSpPr txBox="1"/>
          <p:nvPr/>
        </p:nvSpPr>
        <p:spPr>
          <a:xfrm>
            <a:off x="566928" y="1545336"/>
            <a:ext cx="9948672" cy="338328"/>
          </a:xfrm>
          <a:prstGeom prst="rect">
            <a:avLst/>
          </a:prstGeom>
          <a:noFill/>
          <a:ln/>
        </p:spPr>
        <p:txBody>
          <a:bodyPr wrap="square" lIns="0" tIns="0" rIns="0" bIns="0" rtlCol="0" anchor="ctr"/>
          <a:lstStyle/>
          <a:p>
            <a:pPr algn="l" indent="0" marL="0">
              <a:buNone/>
            </a:pPr>
            <a:r>
              <a:rPr lang="en-US" sz="1500" b="1" dirty="0">
                <a:solidFill>
                  <a:srgbClr val="DA2128"/>
                </a:solidFill>
                <a:latin typeface="Calibri" pitchFamily="34" charset="0"/>
                <a:ea typeface="Calibri" pitchFamily="34" charset="-122"/>
                <a:cs typeface="Calibri" pitchFamily="34" charset="-120"/>
              </a:rPr>
              <a:t>Context API và useState có đủ để quản lý state toàn cục hay không?</a:t>
            </a:r>
            <a:endParaRPr lang="en-US" sz="1500" dirty="0"/>
          </a:p>
        </p:txBody>
      </p:sp>
      <p:sp>
        <p:nvSpPr>
          <p:cNvPr id="5" name="Text 3"/>
          <p:cNvSpPr txBox="1"/>
          <p:nvPr/>
        </p:nvSpPr>
        <p:spPr>
          <a:xfrm>
            <a:off x="566928" y="1920240"/>
            <a:ext cx="10881360" cy="3931920"/>
          </a:xfrm>
          <a:prstGeom prst="rect">
            <a:avLst/>
          </a:prstGeom>
          <a:noFill/>
          <a:ln/>
        </p:spPr>
        <p:txBody>
          <a:bodyPr wrap="square" lIns="0" tIns="0" rIns="0" bIns="0" rtlCol="0" anchor="t"/>
          <a:lstStyle/>
          <a:p>
            <a:pPr algn="l" marL="228600" indent="-228600">
              <a:lnSpc>
                <a:spcPct val="115000"/>
              </a:lnSpc>
              <a:spcAft>
                <a:spcPts val="1100"/>
              </a:spcAft>
              <a:buSzPct val="100000"/>
              <a:buChar char="•"/>
            </a:pPr>
            <a:r>
              <a:rPr lang="en-US" sz="1450" dirty="0">
                <a:solidFill>
                  <a:srgbClr val="222222"/>
                </a:solidFill>
                <a:latin typeface="Calibri" pitchFamily="34" charset="0"/>
                <a:ea typeface="Calibri" pitchFamily="34" charset="-122"/>
                <a:cs typeface="Calibri" pitchFamily="34" charset="-120"/>
              </a:rPr>
              <a:t>Khi ứng dụng lớn dần, nhiều component ở xa nhau cùng cần đọc/ghi 1 phần state chung (giỏ hàng, thông tin người dùng, danh sách sản phẩm) → dễ dẫn đến "prop drilling" khi truyền props qua nhiều tầng</a:t>
            </a:r>
            <a:endParaRPr lang="en-US" sz="1450" dirty="0"/>
          </a:p>
          <a:p>
            <a:pPr algn="l" marL="228600" indent="-228600">
              <a:lnSpc>
                <a:spcPct val="115000"/>
              </a:lnSpc>
              <a:spcAft>
                <a:spcPts val="1100"/>
              </a:spcAft>
              <a:buSzPct val="100000"/>
              <a:buChar char="•"/>
            </a:pPr>
            <a:r>
              <a:rPr lang="en-US" sz="1450" dirty="0">
                <a:solidFill>
                  <a:srgbClr val="222222"/>
                </a:solidFill>
                <a:latin typeface="Calibri" pitchFamily="34" charset="0"/>
                <a:ea typeface="Calibri" pitchFamily="34" charset="-122"/>
                <a:cs typeface="Calibri" pitchFamily="34" charset="-120"/>
              </a:rPr>
              <a:t>Dùng Context để chia sẻ state cũng khiến MỌI component con của Provider bị re-render mỗi khi giá trị context thay đổi, dù chỉ cần đúng 1 phần dữ liệu → re-render không kiểm soát nếu không tách nhỏ context hợp lý</a:t>
            </a:r>
            <a:endParaRPr lang="en-US" sz="1450" dirty="0"/>
          </a:p>
          <a:p>
            <a:pPr algn="l" marL="228600" indent="-228600">
              <a:lnSpc>
                <a:spcPct val="115000"/>
              </a:lnSpc>
              <a:spcAft>
                <a:spcPts val="1100"/>
              </a:spcAft>
              <a:buSzPct val="100000"/>
              <a:buChar char="•"/>
            </a:pPr>
            <a:r>
              <a:rPr lang="en-US" sz="1450" dirty="0">
                <a:solidFill>
                  <a:srgbClr val="222222"/>
                </a:solidFill>
                <a:latin typeface="Calibri" pitchFamily="34" charset="0"/>
                <a:ea typeface="Calibri" pitchFamily="34" charset="-122"/>
                <a:cs typeface="Calibri" pitchFamily="34" charset="-120"/>
              </a:rPr>
              <a:t>Context + useReducer giải quyết được phần nào, nhưng khi state phức tạp (nhiều phần độc lập, xử lý bất đồng bộ, cần debug) thì code trở nên khó tổ chức và khó theo dõi lịch sử thay đổi</a:t>
            </a:r>
            <a:endParaRPr lang="en-US" sz="1450" dirty="0"/>
          </a:p>
          <a:p>
            <a:pPr algn="l" marL="228600" indent="-228600">
              <a:lnSpc>
                <a:spcPct val="115000"/>
              </a:lnSpc>
              <a:spcAft>
                <a:spcPts val="1100"/>
              </a:spcAft>
              <a:buSzPct val="100000"/>
              <a:buChar char="•"/>
            </a:pPr>
            <a:r>
              <a:rPr lang="en-US" sz="1450" dirty="0">
                <a:solidFill>
                  <a:srgbClr val="222222"/>
                </a:solidFill>
                <a:latin typeface="Calibri" pitchFamily="34" charset="0"/>
                <a:ea typeface="Calibri" pitchFamily="34" charset="-122"/>
                <a:cs typeface="Calibri" pitchFamily="34" charset="-120"/>
              </a:rPr>
              <a:t>Redux Toolkit (RTK) là bộ công cụ chính thức giúp viết Redux ngắn gọn, ít boilerplate, tích hợp sẵn Immer và làm việc rất tốt với TypeScript</a:t>
            </a:r>
            <a:endParaRPr lang="en-US" sz="1450" dirty="0"/>
          </a:p>
          <a:p>
            <a:pPr algn="l" indent="0" marL="0">
              <a:lnSpc>
                <a:spcPct val="115000"/>
              </a:lnSpc>
              <a:spcAft>
                <a:spcPts val="1100"/>
              </a:spcAft>
              <a:buNone/>
            </a:pPr>
            <a:r>
              <a:rPr lang="en-US" sz="1450" b="1" dirty="0">
                <a:solidFill>
                  <a:srgbClr val="A81820"/>
                </a:solidFill>
                <a:latin typeface="Calibri" pitchFamily="34" charset="0"/>
                <a:ea typeface="Calibri" pitchFamily="34" charset="-122"/>
                <a:cs typeface="Calibri" pitchFamily="34" charset="-120"/>
              </a:rPr>
              <a:t>→ Cần một kiến trúc state tập trung, có thể debug (Redux DevTools), type-safe, kiểm soát re-render và dễ mở rộng cho ứng dụng lớn.</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713232"/>
            <a:ext cx="9144000" cy="274320"/>
          </a:xfrm>
          <a:prstGeom prst="rect">
            <a:avLst/>
          </a:prstGeom>
          <a:noFill/>
          <a:ln/>
        </p:spPr>
        <p:txBody>
          <a:bodyPr wrap="square" lIns="0" tIns="0" rIns="0" bIns="0" rtlCol="0" anchor="ctr"/>
          <a:lstStyle/>
          <a:p>
            <a:pPr algn="l" indent="0" marL="0">
              <a:buNone/>
            </a:pPr>
            <a:r>
              <a:rPr lang="en-US" sz="1100" b="1" spc="200" kern="0" dirty="0">
                <a:solidFill>
                  <a:srgbClr val="DA2128"/>
                </a:solidFill>
                <a:latin typeface="Calibri" pitchFamily="34" charset="0"/>
                <a:ea typeface="Calibri" pitchFamily="34" charset="-122"/>
                <a:cs typeface="Calibri" pitchFamily="34" charset="-120"/>
              </a:rPr>
              <a:t>02 · CONFIGURESTORE &amp; CREATESLICE</a:t>
            </a:r>
            <a:endParaRPr lang="en-US" sz="1100" dirty="0"/>
          </a:p>
        </p:txBody>
      </p:sp>
      <p:sp>
        <p:nvSpPr>
          <p:cNvPr id="3" name="Text 1"/>
          <p:cNvSpPr txBox="1"/>
          <p:nvPr/>
        </p:nvSpPr>
        <p:spPr>
          <a:xfrm>
            <a:off x="566928" y="941832"/>
            <a:ext cx="10607040" cy="594360"/>
          </a:xfrm>
          <a:prstGeom prst="rect">
            <a:avLst/>
          </a:prstGeom>
          <a:noFill/>
          <a:ln/>
        </p:spPr>
        <p:txBody>
          <a:bodyPr wrap="square" lIns="0" tIns="0" rIns="0" bIns="0" rtlCol="0" anchor="ctr"/>
          <a:lstStyle/>
          <a:p>
            <a:pPr algn="l" indent="0" marL="0">
              <a:buNone/>
            </a:pPr>
            <a:r>
              <a:rPr lang="en-US" sz="2600" b="1" dirty="0">
                <a:solidFill>
                  <a:srgbClr val="222222"/>
                </a:solidFill>
                <a:latin typeface="Lato" pitchFamily="34" charset="0"/>
                <a:ea typeface="Lato" pitchFamily="34" charset="-122"/>
                <a:cs typeface="Lato" pitchFamily="34" charset="-120"/>
              </a:rPr>
              <a:t>configureStore &amp; createSlice với TypeScript — Khái niệm</a:t>
            </a:r>
            <a:endParaRPr lang="en-US" sz="2600" dirty="0"/>
          </a:p>
        </p:txBody>
      </p:sp>
      <p:sp>
        <p:nvSpPr>
          <p:cNvPr id="4" name="Text 2"/>
          <p:cNvSpPr txBox="1"/>
          <p:nvPr/>
        </p:nvSpPr>
        <p:spPr>
          <a:xfrm>
            <a:off x="566928" y="1737360"/>
            <a:ext cx="5394960" cy="3566160"/>
          </a:xfrm>
          <a:prstGeom prst="rect">
            <a:avLst/>
          </a:prstGeom>
          <a:noFill/>
          <a:ln/>
        </p:spPr>
        <p:txBody>
          <a:bodyPr wrap="square" lIns="0" tIns="0" rIns="0" bIns="0" rtlCol="0" anchor="t"/>
          <a:lstStyle/>
          <a:p>
            <a:pPr algn="l" marL="228600" indent="-228600">
              <a:lnSpc>
                <a:spcPct val="115000"/>
              </a:lnSpc>
              <a:spcAft>
                <a:spcPts val="1200"/>
              </a:spcAft>
              <a:buSzPct val="100000"/>
              <a:buChar char="•"/>
            </a:pPr>
            <a:r>
              <a:rPr lang="en-US" sz="1450" dirty="0">
                <a:solidFill>
                  <a:srgbClr val="222222"/>
                </a:solidFill>
                <a:latin typeface="Calibri" pitchFamily="34" charset="0"/>
                <a:ea typeface="Calibri" pitchFamily="34" charset="-122"/>
                <a:cs typeface="Calibri" pitchFamily="34" charset="-120"/>
              </a:rPr>
              <a:t>configureStore() thay cho createStore() cũ: tự động gộp middleware, bật Redux DevTools, cấu hình chuẩn ngay từ đầu</a:t>
            </a:r>
            <a:endParaRPr lang="en-US" sz="1450" dirty="0"/>
          </a:p>
          <a:p>
            <a:pPr algn="l" marL="228600" indent="-228600">
              <a:lnSpc>
                <a:spcPct val="115000"/>
              </a:lnSpc>
              <a:spcAft>
                <a:spcPts val="1200"/>
              </a:spcAft>
              <a:buSzPct val="100000"/>
              <a:buChar char="•"/>
            </a:pPr>
            <a:r>
              <a:rPr lang="en-US" sz="1450" dirty="0">
                <a:solidFill>
                  <a:srgbClr val="222222"/>
                </a:solidFill>
                <a:latin typeface="Calibri" pitchFamily="34" charset="0"/>
                <a:ea typeface="Calibri" pitchFamily="34" charset="-122"/>
                <a:cs typeface="Calibri" pitchFamily="34" charset="-120"/>
              </a:rPr>
              <a:t>createSlice() gộp 3 việc trước đây tách rời: state ban đầu, reducer và action creator — chỉ cần viết reducer, action sẽ tự được sinh ra</a:t>
            </a:r>
            <a:endParaRPr lang="en-US" sz="1450" dirty="0"/>
          </a:p>
          <a:p>
            <a:pPr algn="l" marL="228600" indent="-228600">
              <a:lnSpc>
                <a:spcPct val="115000"/>
              </a:lnSpc>
              <a:spcAft>
                <a:spcPts val="1200"/>
              </a:spcAft>
              <a:buSzPct val="100000"/>
              <a:buChar char="•"/>
            </a:pPr>
            <a:r>
              <a:rPr lang="en-US" sz="1450" dirty="0">
                <a:solidFill>
                  <a:srgbClr val="222222"/>
                </a:solidFill>
                <a:latin typeface="Calibri" pitchFamily="34" charset="0"/>
                <a:ea typeface="Calibri" pitchFamily="34" charset="-122"/>
                <a:cs typeface="Calibri" pitchFamily="34" charset="-120"/>
              </a:rPr>
              <a:t>Nhờ thư viện Immer tích hợp sẵn, có thể viết state.value += 1 (trông như mutate) nhưng RTK vẫn đảm bảo trả về state mới, immutable</a:t>
            </a:r>
            <a:endParaRPr lang="en-US" sz="1450" dirty="0"/>
          </a:p>
          <a:p>
            <a:pPr algn="l" marL="228600" indent="-228600">
              <a:lnSpc>
                <a:spcPct val="115000"/>
              </a:lnSpc>
              <a:spcAft>
                <a:spcPts val="1200"/>
              </a:spcAft>
              <a:buSzPct val="100000"/>
              <a:buChar char="•"/>
            </a:pPr>
            <a:r>
              <a:rPr lang="en-US" sz="1450" dirty="0">
                <a:solidFill>
                  <a:srgbClr val="222222"/>
                </a:solidFill>
                <a:latin typeface="Calibri" pitchFamily="34" charset="0"/>
                <a:ea typeface="Calibri" pitchFamily="34" charset="-122"/>
                <a:cs typeface="Calibri" pitchFamily="34" charset="-120"/>
              </a:rPr>
              <a:t>Với TypeScript: khai báo interface cho state, dùng PayloadAction&lt;T&gt; để gõ kiểu cho action.payload</a:t>
            </a:r>
            <a:endParaRPr lang="en-US" sz="1450" dirty="0"/>
          </a:p>
        </p:txBody>
      </p:sp>
      <p:sp>
        <p:nvSpPr>
          <p:cNvPr id="5" name="Shape 3"/>
          <p:cNvSpPr/>
          <p:nvPr/>
        </p:nvSpPr>
        <p:spPr>
          <a:xfrm>
            <a:off x="6309360" y="1737360"/>
            <a:ext cx="5349240" cy="4023360"/>
          </a:xfrm>
          <a:prstGeom prst="roundRect">
            <a:avLst>
              <a:gd name="adj" fmla="val 1818"/>
            </a:avLst>
          </a:prstGeom>
          <a:solidFill>
            <a:srgbClr val="1E1E2E"/>
          </a:solidFill>
          <a:ln/>
          <a:effectLst>
            <a:outerShdw sx="100000" sy="100000" kx="0" ky="0" algn="bl" rotWithShape="0" blurRad="76200" dist="25400" dir="5400000">
              <a:srgbClr val="000000">
                <a:alpha val="25000"/>
              </a:srgbClr>
            </a:outerShdw>
          </a:effectLst>
        </p:spPr>
      </p:sp>
      <p:sp>
        <p:nvSpPr>
          <p:cNvPr id="6" name="Text 4"/>
          <p:cNvSpPr txBox="1"/>
          <p:nvPr/>
        </p:nvSpPr>
        <p:spPr>
          <a:xfrm>
            <a:off x="6537960" y="1920240"/>
            <a:ext cx="4892040" cy="3657600"/>
          </a:xfrm>
          <a:prstGeom prst="rect">
            <a:avLst/>
          </a:prstGeom>
          <a:noFill/>
          <a:ln/>
        </p:spPr>
        <p:txBody>
          <a:bodyPr wrap="square" lIns="0" tIns="0" rIns="0" bIns="0" rtlCol="0" anchor="t"/>
          <a:lstStyle/>
          <a:p>
            <a:pPr algn="l" indent="0" marL="0">
              <a:lnSpc>
                <a:spcPct val="120000"/>
              </a:lnSpc>
              <a:buNone/>
            </a:pPr>
            <a:r>
              <a:rPr lang="en-US" sz="1100" dirty="0">
                <a:solidFill>
                  <a:srgbClr val="6B7280"/>
                </a:solidFill>
                <a:latin typeface="Courier New" pitchFamily="34" charset="0"/>
                <a:ea typeface="Courier New" pitchFamily="34" charset="-122"/>
                <a:cs typeface="Courier New" pitchFamily="34" charset="-120"/>
              </a:rPr>
              <a:t>// cartSlice.ts</a:t>
            </a:r>
            <a:endParaRPr lang="en-US" sz="1100" dirty="0"/>
          </a:p>
          <a:p>
            <a:pPr algn="l" indent="0" marL="0">
              <a:lnSpc>
                <a:spcPct val="120000"/>
              </a:lnSpc>
              <a:buNone/>
            </a:pPr>
            <a:r>
              <a:rPr lang="en-US" sz="1100" dirty="0">
                <a:solidFill>
                  <a:srgbClr val="7AA2F7"/>
                </a:solidFill>
                <a:latin typeface="Courier New" pitchFamily="34" charset="0"/>
                <a:ea typeface="Courier New" pitchFamily="34" charset="-122"/>
                <a:cs typeface="Courier New" pitchFamily="34" charset="-120"/>
              </a:rPr>
              <a:t>interface</a:t>
            </a:r>
            <a:pPr algn="l" indent="0" marL="0">
              <a:lnSpc>
                <a:spcPct val="120000"/>
              </a:lnSpc>
              <a:buNone/>
            </a:pPr>
            <a:r>
              <a:rPr lang="en-US" sz="1100" dirty="0">
                <a:solidFill>
                  <a:srgbClr val="D8DEE9"/>
                </a:solidFill>
                <a:latin typeface="Courier New" pitchFamily="34" charset="0"/>
                <a:ea typeface="Courier New" pitchFamily="34" charset="-122"/>
                <a:cs typeface="Courier New" pitchFamily="34" charset="-120"/>
              </a:rPr>
              <a:t> </a:t>
            </a:r>
            <a:pPr algn="l" indent="0" marL="0">
              <a:lnSpc>
                <a:spcPct val="120000"/>
              </a:lnSpc>
              <a:buNone/>
            </a:pPr>
            <a:r>
              <a:rPr lang="en-US" sz="1100" dirty="0">
                <a:solidFill>
                  <a:srgbClr val="E0AF68"/>
                </a:solidFill>
                <a:latin typeface="Courier New" pitchFamily="34" charset="0"/>
                <a:ea typeface="Courier New" pitchFamily="34" charset="-122"/>
                <a:cs typeface="Courier New" pitchFamily="34" charset="-120"/>
              </a:rPr>
              <a:t>CartState</a:t>
            </a:r>
            <a:pPr algn="l" indent="0" marL="0">
              <a:lnSpc>
                <a:spcPct val="120000"/>
              </a:lnSpc>
              <a:buNone/>
            </a:pPr>
            <a:r>
              <a:rPr lang="en-US" sz="1100" dirty="0">
                <a:solidFill>
                  <a:srgbClr val="D8DEE9"/>
                </a:solidFill>
                <a:latin typeface="Courier New" pitchFamily="34" charset="0"/>
                <a:ea typeface="Courier New" pitchFamily="34" charset="-122"/>
                <a:cs typeface="Courier New" pitchFamily="34" charset="-120"/>
              </a:rPr>
              <a:t> {</a:t>
            </a:r>
            <a:endParaRPr lang="en-US" sz="1100" dirty="0"/>
          </a:p>
          <a:p>
            <a:pPr algn="l" indent="0" marL="0">
              <a:lnSpc>
                <a:spcPct val="120000"/>
              </a:lnSpc>
              <a:buNone/>
            </a:pPr>
            <a:r>
              <a:rPr lang="en-US" sz="1100" dirty="0">
                <a:solidFill>
                  <a:srgbClr val="D8DEE9"/>
                </a:solidFill>
                <a:latin typeface="Courier New" pitchFamily="34" charset="0"/>
                <a:ea typeface="Courier New" pitchFamily="34" charset="-122"/>
                <a:cs typeface="Courier New" pitchFamily="34" charset="-120"/>
              </a:rPr>
              <a:t>  items: </a:t>
            </a:r>
            <a:pPr algn="l" indent="0" marL="0">
              <a:lnSpc>
                <a:spcPct val="120000"/>
              </a:lnSpc>
              <a:buNone/>
            </a:pPr>
            <a:r>
              <a:rPr lang="en-US" sz="1100" dirty="0">
                <a:solidFill>
                  <a:srgbClr val="E0AF68"/>
                </a:solidFill>
                <a:latin typeface="Courier New" pitchFamily="34" charset="0"/>
                <a:ea typeface="Courier New" pitchFamily="34" charset="-122"/>
                <a:cs typeface="Courier New" pitchFamily="34" charset="-120"/>
              </a:rPr>
              <a:t>CartItem</a:t>
            </a:r>
            <a:pPr algn="l" indent="0" marL="0">
              <a:lnSpc>
                <a:spcPct val="120000"/>
              </a:lnSpc>
              <a:buNone/>
            </a:pPr>
            <a:r>
              <a:rPr lang="en-US" sz="1100" dirty="0">
                <a:solidFill>
                  <a:srgbClr val="D8DEE9"/>
                </a:solidFill>
                <a:latin typeface="Courier New" pitchFamily="34" charset="0"/>
                <a:ea typeface="Courier New" pitchFamily="34" charset="-122"/>
                <a:cs typeface="Courier New" pitchFamily="34" charset="-120"/>
              </a:rPr>
              <a:t>[];</a:t>
            </a:r>
            <a:endParaRPr lang="en-US" sz="1100" dirty="0"/>
          </a:p>
          <a:p>
            <a:pPr algn="l" indent="0" marL="0">
              <a:lnSpc>
                <a:spcPct val="120000"/>
              </a:lnSpc>
              <a:buNone/>
            </a:pPr>
            <a:r>
              <a:rPr lang="en-US" sz="1100" dirty="0">
                <a:solidFill>
                  <a:srgbClr val="D8DEE9"/>
                </a:solidFill>
                <a:latin typeface="Courier New" pitchFamily="34" charset="0"/>
                <a:ea typeface="Courier New" pitchFamily="34" charset="-122"/>
                <a:cs typeface="Courier New" pitchFamily="34" charset="-120"/>
              </a:rPr>
              <a:t>  totalQuantity: </a:t>
            </a:r>
            <a:pPr algn="l" indent="0" marL="0">
              <a:lnSpc>
                <a:spcPct val="120000"/>
              </a:lnSpc>
              <a:buNone/>
            </a:pPr>
            <a:r>
              <a:rPr lang="en-US" sz="1100" dirty="0">
                <a:solidFill>
                  <a:srgbClr val="E0AF68"/>
                </a:solidFill>
                <a:latin typeface="Courier New" pitchFamily="34" charset="0"/>
                <a:ea typeface="Courier New" pitchFamily="34" charset="-122"/>
                <a:cs typeface="Courier New" pitchFamily="34" charset="-120"/>
              </a:rPr>
              <a:t>number</a:t>
            </a:r>
            <a:pPr algn="l" indent="0" marL="0">
              <a:lnSpc>
                <a:spcPct val="120000"/>
              </a:lnSpc>
              <a:buNone/>
            </a:pPr>
            <a:r>
              <a:rPr lang="en-US" sz="1100" dirty="0">
                <a:solidFill>
                  <a:srgbClr val="D8DEE9"/>
                </a:solidFill>
                <a:latin typeface="Courier New" pitchFamily="34" charset="0"/>
                <a:ea typeface="Courier New" pitchFamily="34" charset="-122"/>
                <a:cs typeface="Courier New" pitchFamily="34" charset="-120"/>
              </a:rPr>
              <a:t>;</a:t>
            </a:r>
            <a:endParaRPr lang="en-US" sz="1100" dirty="0"/>
          </a:p>
          <a:p>
            <a:pPr algn="l" indent="0" marL="0">
              <a:lnSpc>
                <a:spcPct val="120000"/>
              </a:lnSpc>
              <a:buNone/>
            </a:pPr>
            <a:r>
              <a:rPr lang="en-US" sz="1100" dirty="0">
                <a:solidFill>
                  <a:srgbClr val="D8DEE9"/>
                </a:solidFill>
                <a:latin typeface="Courier New" pitchFamily="34" charset="0"/>
                <a:ea typeface="Courier New" pitchFamily="34" charset="-122"/>
                <a:cs typeface="Courier New" pitchFamily="34" charset="-120"/>
              </a:rPr>
              <a:t>}</a:t>
            </a:r>
            <a:endParaRPr lang="en-US" sz="1100" dirty="0"/>
          </a:p>
          <a:p>
            <a:pPr algn="l" indent="0" marL="0">
              <a:lnSpc>
                <a:spcPct val="120000"/>
              </a:lnSpc>
              <a:buNone/>
            </a:pPr>
            <a:r>
              <a:rPr lang="en-US" sz="1100" dirty="0">
                <a:solidFill>
                  <a:srgbClr val="7AA2F7"/>
                </a:solidFill>
                <a:latin typeface="Courier New" pitchFamily="34" charset="0"/>
                <a:ea typeface="Courier New" pitchFamily="34" charset="-122"/>
                <a:cs typeface="Courier New" pitchFamily="34" charset="-120"/>
              </a:rPr>
              <a:t>const</a:t>
            </a:r>
            <a:pPr algn="l" indent="0" marL="0">
              <a:lnSpc>
                <a:spcPct val="120000"/>
              </a:lnSpc>
              <a:buNone/>
            </a:pPr>
            <a:r>
              <a:rPr lang="en-US" sz="1100" dirty="0">
                <a:solidFill>
                  <a:srgbClr val="D8DEE9"/>
                </a:solidFill>
                <a:latin typeface="Courier New" pitchFamily="34" charset="0"/>
                <a:ea typeface="Courier New" pitchFamily="34" charset="-122"/>
                <a:cs typeface="Courier New" pitchFamily="34" charset="-120"/>
              </a:rPr>
              <a:t> initialState: </a:t>
            </a:r>
            <a:pPr algn="l" indent="0" marL="0">
              <a:lnSpc>
                <a:spcPct val="120000"/>
              </a:lnSpc>
              <a:buNone/>
            </a:pPr>
            <a:r>
              <a:rPr lang="en-US" sz="1100" dirty="0">
                <a:solidFill>
                  <a:srgbClr val="E0AF68"/>
                </a:solidFill>
                <a:latin typeface="Courier New" pitchFamily="34" charset="0"/>
                <a:ea typeface="Courier New" pitchFamily="34" charset="-122"/>
                <a:cs typeface="Courier New" pitchFamily="34" charset="-120"/>
              </a:rPr>
              <a:t>CartState</a:t>
            </a:r>
            <a:pPr algn="l" indent="0" marL="0">
              <a:lnSpc>
                <a:spcPct val="120000"/>
              </a:lnSpc>
              <a:buNone/>
            </a:pPr>
            <a:r>
              <a:rPr lang="en-US" sz="1100" dirty="0">
                <a:solidFill>
                  <a:srgbClr val="D8DEE9"/>
                </a:solidFill>
                <a:latin typeface="Courier New" pitchFamily="34" charset="0"/>
                <a:ea typeface="Courier New" pitchFamily="34" charset="-122"/>
                <a:cs typeface="Courier New" pitchFamily="34" charset="-120"/>
              </a:rPr>
              <a:t> = { items: [], totalQuantity: 0 };</a:t>
            </a:r>
            <a:endParaRPr lang="en-US" sz="1100" dirty="0"/>
          </a:p>
          <a:p>
            <a:pPr algn="l" indent="0" marL="0">
              <a:lnSpc>
                <a:spcPct val="120000"/>
              </a:lnSpc>
              <a:buNone/>
            </a:pPr>
            <a:endParaRPr lang="en-US" sz="1100" dirty="0"/>
          </a:p>
          <a:p>
            <a:pPr algn="l" indent="0" marL="0">
              <a:lnSpc>
                <a:spcPct val="120000"/>
              </a:lnSpc>
              <a:buNone/>
            </a:pPr>
            <a:r>
              <a:rPr lang="en-US" sz="1100" dirty="0">
                <a:solidFill>
                  <a:srgbClr val="7AA2F7"/>
                </a:solidFill>
                <a:latin typeface="Courier New" pitchFamily="34" charset="0"/>
                <a:ea typeface="Courier New" pitchFamily="34" charset="-122"/>
                <a:cs typeface="Courier New" pitchFamily="34" charset="-120"/>
              </a:rPr>
              <a:t>const</a:t>
            </a:r>
            <a:pPr algn="l" indent="0" marL="0">
              <a:lnSpc>
                <a:spcPct val="120000"/>
              </a:lnSpc>
              <a:buNone/>
            </a:pPr>
            <a:r>
              <a:rPr lang="en-US" sz="1100" dirty="0">
                <a:solidFill>
                  <a:srgbClr val="D8DEE9"/>
                </a:solidFill>
                <a:latin typeface="Courier New" pitchFamily="34" charset="0"/>
                <a:ea typeface="Courier New" pitchFamily="34" charset="-122"/>
                <a:cs typeface="Courier New" pitchFamily="34" charset="-120"/>
              </a:rPr>
              <a:t> cartSlice = </a:t>
            </a:r>
            <a:pPr algn="l" indent="0" marL="0">
              <a:lnSpc>
                <a:spcPct val="120000"/>
              </a:lnSpc>
              <a:buNone/>
            </a:pPr>
            <a:r>
              <a:rPr lang="en-US" sz="1100" dirty="0">
                <a:solidFill>
                  <a:srgbClr val="D8DEE9"/>
                </a:solidFill>
                <a:latin typeface="Courier New" pitchFamily="34" charset="0"/>
                <a:ea typeface="Courier New" pitchFamily="34" charset="-122"/>
                <a:cs typeface="Courier New" pitchFamily="34" charset="-120"/>
              </a:rPr>
              <a:t>createSlice</a:t>
            </a:r>
            <a:pPr algn="l" indent="0" marL="0">
              <a:lnSpc>
                <a:spcPct val="120000"/>
              </a:lnSpc>
              <a:buNone/>
            </a:pPr>
            <a:r>
              <a:rPr lang="en-US" sz="1100" dirty="0">
                <a:solidFill>
                  <a:srgbClr val="D8DEE9"/>
                </a:solidFill>
                <a:latin typeface="Courier New" pitchFamily="34" charset="0"/>
                <a:ea typeface="Courier New" pitchFamily="34" charset="-122"/>
                <a:cs typeface="Courier New" pitchFamily="34" charset="-120"/>
              </a:rPr>
              <a:t>({</a:t>
            </a:r>
            <a:endParaRPr lang="en-US" sz="1100" dirty="0"/>
          </a:p>
          <a:p>
            <a:pPr algn="l" indent="0" marL="0">
              <a:lnSpc>
                <a:spcPct val="120000"/>
              </a:lnSpc>
              <a:buNone/>
            </a:pPr>
            <a:r>
              <a:rPr lang="en-US" sz="1100" dirty="0">
                <a:solidFill>
                  <a:srgbClr val="D8DEE9"/>
                </a:solidFill>
                <a:latin typeface="Courier New" pitchFamily="34" charset="0"/>
                <a:ea typeface="Courier New" pitchFamily="34" charset="-122"/>
                <a:cs typeface="Courier New" pitchFamily="34" charset="-120"/>
              </a:rPr>
              <a:t>  name: </a:t>
            </a:r>
            <a:pPr algn="l" indent="0" marL="0">
              <a:lnSpc>
                <a:spcPct val="120000"/>
              </a:lnSpc>
              <a:buNone/>
            </a:pPr>
            <a:r>
              <a:rPr lang="en-US" sz="1100" dirty="0">
                <a:solidFill>
                  <a:srgbClr val="9ECE6A"/>
                </a:solidFill>
                <a:latin typeface="Courier New" pitchFamily="34" charset="0"/>
                <a:ea typeface="Courier New" pitchFamily="34" charset="-122"/>
                <a:cs typeface="Courier New" pitchFamily="34" charset="-120"/>
              </a:rPr>
              <a:t>'cart'</a:t>
            </a:r>
            <a:pPr algn="l" indent="0" marL="0">
              <a:lnSpc>
                <a:spcPct val="120000"/>
              </a:lnSpc>
              <a:buNone/>
            </a:pPr>
            <a:r>
              <a:rPr lang="en-US" sz="1100" dirty="0">
                <a:solidFill>
                  <a:srgbClr val="D8DEE9"/>
                </a:solidFill>
                <a:latin typeface="Courier New" pitchFamily="34" charset="0"/>
                <a:ea typeface="Courier New" pitchFamily="34" charset="-122"/>
                <a:cs typeface="Courier New" pitchFamily="34" charset="-120"/>
              </a:rPr>
              <a:t>,</a:t>
            </a:r>
            <a:endParaRPr lang="en-US" sz="1100" dirty="0"/>
          </a:p>
          <a:p>
            <a:pPr algn="l" indent="0" marL="0">
              <a:lnSpc>
                <a:spcPct val="120000"/>
              </a:lnSpc>
              <a:buNone/>
            </a:pPr>
            <a:r>
              <a:rPr lang="en-US" sz="1100" dirty="0">
                <a:solidFill>
                  <a:srgbClr val="D8DEE9"/>
                </a:solidFill>
                <a:latin typeface="Courier New" pitchFamily="34" charset="0"/>
                <a:ea typeface="Courier New" pitchFamily="34" charset="-122"/>
                <a:cs typeface="Courier New" pitchFamily="34" charset="-120"/>
              </a:rPr>
              <a:t>  initialState,</a:t>
            </a:r>
            <a:endParaRPr lang="en-US" sz="1100" dirty="0"/>
          </a:p>
          <a:p>
            <a:pPr algn="l" indent="0" marL="0">
              <a:lnSpc>
                <a:spcPct val="120000"/>
              </a:lnSpc>
              <a:buNone/>
            </a:pPr>
            <a:r>
              <a:rPr lang="en-US" sz="1100" dirty="0">
                <a:solidFill>
                  <a:srgbClr val="D8DEE9"/>
                </a:solidFill>
                <a:latin typeface="Courier New" pitchFamily="34" charset="0"/>
                <a:ea typeface="Courier New" pitchFamily="34" charset="-122"/>
                <a:cs typeface="Courier New" pitchFamily="34" charset="-120"/>
              </a:rPr>
              <a:t>  reducers: {</a:t>
            </a:r>
            <a:endParaRPr lang="en-US" sz="1100" dirty="0"/>
          </a:p>
          <a:p>
            <a:pPr algn="l" indent="0" marL="0">
              <a:lnSpc>
                <a:spcPct val="120000"/>
              </a:lnSpc>
              <a:buNone/>
            </a:pPr>
            <a:r>
              <a:rPr lang="en-US" sz="1100" dirty="0">
                <a:solidFill>
                  <a:srgbClr val="D8DEE9"/>
                </a:solidFill>
                <a:latin typeface="Courier New" pitchFamily="34" charset="0"/>
                <a:ea typeface="Courier New" pitchFamily="34" charset="-122"/>
                <a:cs typeface="Courier New" pitchFamily="34" charset="-120"/>
              </a:rPr>
              <a:t>    addItem(state, action: </a:t>
            </a:r>
            <a:pPr algn="l" indent="0" marL="0">
              <a:lnSpc>
                <a:spcPct val="120000"/>
              </a:lnSpc>
              <a:buNone/>
            </a:pPr>
            <a:r>
              <a:rPr lang="en-US" sz="1100" dirty="0">
                <a:solidFill>
                  <a:srgbClr val="E0AF68"/>
                </a:solidFill>
                <a:latin typeface="Courier New" pitchFamily="34" charset="0"/>
                <a:ea typeface="Courier New" pitchFamily="34" charset="-122"/>
                <a:cs typeface="Courier New" pitchFamily="34" charset="-120"/>
              </a:rPr>
              <a:t>PayloadAction</a:t>
            </a:r>
            <a:pPr algn="l" indent="0" marL="0">
              <a:lnSpc>
                <a:spcPct val="120000"/>
              </a:lnSpc>
              <a:buNone/>
            </a:pPr>
            <a:r>
              <a:rPr lang="en-US" sz="1100" dirty="0">
                <a:solidFill>
                  <a:srgbClr val="D8DEE9"/>
                </a:solidFill>
                <a:latin typeface="Courier New" pitchFamily="34" charset="0"/>
                <a:ea typeface="Courier New" pitchFamily="34" charset="-122"/>
                <a:cs typeface="Courier New" pitchFamily="34" charset="-120"/>
              </a:rPr>
              <a:t>&lt;</a:t>
            </a:r>
            <a:pPr algn="l" indent="0" marL="0">
              <a:lnSpc>
                <a:spcPct val="120000"/>
              </a:lnSpc>
              <a:buNone/>
            </a:pPr>
            <a:r>
              <a:rPr lang="en-US" sz="1100" dirty="0">
                <a:solidFill>
                  <a:srgbClr val="E0AF68"/>
                </a:solidFill>
                <a:latin typeface="Courier New" pitchFamily="34" charset="0"/>
                <a:ea typeface="Courier New" pitchFamily="34" charset="-122"/>
                <a:cs typeface="Courier New" pitchFamily="34" charset="-120"/>
              </a:rPr>
              <a:t>CartItem</a:t>
            </a:r>
            <a:pPr algn="l" indent="0" marL="0">
              <a:lnSpc>
                <a:spcPct val="120000"/>
              </a:lnSpc>
              <a:buNone/>
            </a:pPr>
            <a:r>
              <a:rPr lang="en-US" sz="1100" dirty="0">
                <a:solidFill>
                  <a:srgbClr val="D8DEE9"/>
                </a:solidFill>
                <a:latin typeface="Courier New" pitchFamily="34" charset="0"/>
                <a:ea typeface="Courier New" pitchFamily="34" charset="-122"/>
                <a:cs typeface="Courier New" pitchFamily="34" charset="-120"/>
              </a:rPr>
              <a:t>&gt;) {</a:t>
            </a:r>
            <a:endParaRPr lang="en-US" sz="1100" dirty="0"/>
          </a:p>
          <a:p>
            <a:pPr algn="l" indent="0" marL="0">
              <a:lnSpc>
                <a:spcPct val="120000"/>
              </a:lnSpc>
              <a:buNone/>
            </a:pPr>
            <a:r>
              <a:rPr lang="en-US" sz="1100" dirty="0">
                <a:solidFill>
                  <a:srgbClr val="D8DEE9"/>
                </a:solidFill>
                <a:latin typeface="Courier New" pitchFamily="34" charset="0"/>
                <a:ea typeface="Courier New" pitchFamily="34" charset="-122"/>
                <a:cs typeface="Courier New" pitchFamily="34" charset="-120"/>
              </a:rPr>
              <a:t>      state.items.push(action.payload);</a:t>
            </a:r>
            <a:endParaRPr lang="en-US" sz="1100" dirty="0"/>
          </a:p>
          <a:p>
            <a:pPr algn="l" indent="0" marL="0">
              <a:lnSpc>
                <a:spcPct val="120000"/>
              </a:lnSpc>
              <a:buNone/>
            </a:pPr>
            <a:r>
              <a:rPr lang="en-US" sz="1100" dirty="0">
                <a:solidFill>
                  <a:srgbClr val="D8DEE9"/>
                </a:solidFill>
                <a:latin typeface="Courier New" pitchFamily="34" charset="0"/>
                <a:ea typeface="Courier New" pitchFamily="34" charset="-122"/>
                <a:cs typeface="Courier New" pitchFamily="34" charset="-120"/>
              </a:rPr>
              <a:t>      state.totalQuantity += 1;</a:t>
            </a:r>
            <a:endParaRPr lang="en-US" sz="1100" dirty="0"/>
          </a:p>
          <a:p>
            <a:pPr algn="l" indent="0" marL="0">
              <a:lnSpc>
                <a:spcPct val="120000"/>
              </a:lnSpc>
              <a:buNone/>
            </a:pPr>
            <a:r>
              <a:rPr lang="en-US" sz="1100" dirty="0">
                <a:solidFill>
                  <a:srgbClr val="D8DEE9"/>
                </a:solidFill>
                <a:latin typeface="Courier New" pitchFamily="34" charset="0"/>
                <a:ea typeface="Courier New" pitchFamily="34" charset="-122"/>
                <a:cs typeface="Courier New" pitchFamily="34" charset="-120"/>
              </a:rPr>
              <a:t>    },</a:t>
            </a:r>
            <a:endParaRPr lang="en-US" sz="1100" dirty="0"/>
          </a:p>
          <a:p>
            <a:pPr algn="l" indent="0" marL="0">
              <a:lnSpc>
                <a:spcPct val="120000"/>
              </a:lnSpc>
              <a:buNone/>
            </a:pPr>
            <a:r>
              <a:rPr lang="en-US" sz="1100" dirty="0">
                <a:solidFill>
                  <a:srgbClr val="D8DEE9"/>
                </a:solidFill>
                <a:latin typeface="Courier New" pitchFamily="34" charset="0"/>
                <a:ea typeface="Courier New" pitchFamily="34" charset="-122"/>
                <a:cs typeface="Courier New" pitchFamily="34" charset="-120"/>
              </a:rPr>
              <a:t>  },</a:t>
            </a:r>
            <a:endParaRPr lang="en-US" sz="1100" dirty="0"/>
          </a:p>
          <a:p>
            <a:pPr algn="l" indent="0" marL="0">
              <a:lnSpc>
                <a:spcPct val="120000"/>
              </a:lnSpc>
              <a:buNone/>
            </a:pPr>
            <a:r>
              <a:rPr lang="en-US" sz="1100" dirty="0">
                <a:solidFill>
                  <a:srgbClr val="D8DEE9"/>
                </a:solidFill>
                <a:latin typeface="Courier New" pitchFamily="34" charset="0"/>
                <a:ea typeface="Courier New" pitchFamily="34" charset="-122"/>
                <a:cs typeface="Courier New" pitchFamily="34" charset="-120"/>
              </a:rPr>
              <a: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713232"/>
            <a:ext cx="9144000" cy="274320"/>
          </a:xfrm>
          <a:prstGeom prst="rect">
            <a:avLst/>
          </a:prstGeom>
          <a:noFill/>
          <a:ln/>
        </p:spPr>
        <p:txBody>
          <a:bodyPr wrap="square" lIns="0" tIns="0" rIns="0" bIns="0" rtlCol="0" anchor="ctr"/>
          <a:lstStyle/>
          <a:p>
            <a:pPr algn="l" indent="0" marL="0">
              <a:buNone/>
            </a:pPr>
            <a:r>
              <a:rPr lang="en-US" sz="1100" b="1" spc="200" kern="0" dirty="0">
                <a:solidFill>
                  <a:srgbClr val="DA2128"/>
                </a:solidFill>
                <a:latin typeface="Calibri" pitchFamily="34" charset="0"/>
                <a:ea typeface="Calibri" pitchFamily="34" charset="-122"/>
                <a:cs typeface="Calibri" pitchFamily="34" charset="-120"/>
              </a:rPr>
              <a:t>02 · CONFIGURESTORE &amp; CREATESLICE</a:t>
            </a:r>
            <a:endParaRPr lang="en-US" sz="1100" dirty="0"/>
          </a:p>
        </p:txBody>
      </p:sp>
      <p:sp>
        <p:nvSpPr>
          <p:cNvPr id="3" name="Text 1"/>
          <p:cNvSpPr txBox="1"/>
          <p:nvPr/>
        </p:nvSpPr>
        <p:spPr>
          <a:xfrm>
            <a:off x="566928" y="941832"/>
            <a:ext cx="10607040" cy="594360"/>
          </a:xfrm>
          <a:prstGeom prst="rect">
            <a:avLst/>
          </a:prstGeom>
          <a:noFill/>
          <a:ln/>
        </p:spPr>
        <p:txBody>
          <a:bodyPr wrap="square" lIns="0" tIns="0" rIns="0" bIns="0" rtlCol="0" anchor="ctr"/>
          <a:lstStyle/>
          <a:p>
            <a:pPr algn="l" indent="0" marL="0">
              <a:buNone/>
            </a:pPr>
            <a:r>
              <a:rPr lang="en-US" sz="2600" b="1" dirty="0">
                <a:solidFill>
                  <a:srgbClr val="222222"/>
                </a:solidFill>
                <a:latin typeface="Lato" pitchFamily="34" charset="0"/>
                <a:ea typeface="Lato" pitchFamily="34" charset="-122"/>
                <a:cs typeface="Lato" pitchFamily="34" charset="-120"/>
              </a:rPr>
              <a:t>Ghép các slice vào store</a:t>
            </a:r>
            <a:endParaRPr lang="en-US" sz="2600" dirty="0"/>
          </a:p>
        </p:txBody>
      </p:sp>
      <p:sp>
        <p:nvSpPr>
          <p:cNvPr id="4" name="Text 2"/>
          <p:cNvSpPr txBox="1"/>
          <p:nvPr/>
        </p:nvSpPr>
        <p:spPr>
          <a:xfrm>
            <a:off x="566928" y="1737360"/>
            <a:ext cx="5394960" cy="3566160"/>
          </a:xfrm>
          <a:prstGeom prst="rect">
            <a:avLst/>
          </a:prstGeom>
          <a:noFill/>
          <a:ln/>
        </p:spPr>
        <p:txBody>
          <a:bodyPr wrap="square" lIns="0" tIns="0" rIns="0" bIns="0" rtlCol="0" anchor="t"/>
          <a:lstStyle/>
          <a:p>
            <a:pPr algn="l" marL="228600" indent="-228600">
              <a:lnSpc>
                <a:spcPct val="115000"/>
              </a:lnSpc>
              <a:spcAft>
                <a:spcPts val="1200"/>
              </a:spcAft>
              <a:buSzPct val="100000"/>
              <a:buChar char="•"/>
            </a:pPr>
            <a:r>
              <a:rPr lang="en-US" sz="1450" dirty="0">
                <a:solidFill>
                  <a:srgbClr val="222222"/>
                </a:solidFill>
                <a:latin typeface="Calibri" pitchFamily="34" charset="0"/>
                <a:ea typeface="Calibri" pitchFamily="34" charset="-122"/>
                <a:cs typeface="Calibri" pitchFamily="34" charset="-120"/>
              </a:rPr>
              <a:t>Khi nào NÊN tách slice riêng:</a:t>
            </a:r>
            <a:endParaRPr lang="en-US" sz="1450" dirty="0"/>
          </a:p>
          <a:p>
            <a:pPr algn="l" lvl="1" marL="457200" indent="-228600">
              <a:lnSpc>
                <a:spcPct val="115000"/>
              </a:lnSpc>
              <a:spcAft>
                <a:spcPts val="1200"/>
              </a:spcAft>
              <a:buSzPct val="100000"/>
              <a:buChar char="•"/>
            </a:pPr>
            <a:r>
              <a:rPr lang="en-US" sz="1450" dirty="0">
                <a:solidFill>
                  <a:srgbClr val="222222"/>
                </a:solidFill>
                <a:latin typeface="Calibri" pitchFamily="34" charset="0"/>
                <a:ea typeface="Calibri" pitchFamily="34" charset="-122"/>
                <a:cs typeface="Calibri" pitchFamily="34" charset="-120"/>
              </a:rPr>
              <a:t>Mỗi phần state độc lập về nghiệp vụ (cart, auth, products) nên có 1 slice riêng, dễ bảo trì</a:t>
            </a:r>
            <a:endParaRPr lang="en-US" sz="1450" dirty="0"/>
          </a:p>
          <a:p>
            <a:pPr algn="l" marL="228600" indent="-228600">
              <a:lnSpc>
                <a:spcPct val="115000"/>
              </a:lnSpc>
              <a:spcAft>
                <a:spcPts val="1200"/>
              </a:spcAft>
              <a:buSzPct val="100000"/>
              <a:buChar char="•"/>
            </a:pPr>
            <a:r>
              <a:rPr lang="en-US" sz="1450" dirty="0">
                <a:solidFill>
                  <a:srgbClr val="222222"/>
                </a:solidFill>
                <a:latin typeface="Calibri" pitchFamily="34" charset="0"/>
                <a:ea typeface="Calibri" pitchFamily="34" charset="-122"/>
                <a:cs typeface="Calibri" pitchFamily="34" charset="-120"/>
              </a:rPr>
              <a:t>Khi KHÔNG nên:</a:t>
            </a:r>
            <a:endParaRPr lang="en-US" sz="1450" dirty="0"/>
          </a:p>
          <a:p>
            <a:pPr algn="l" lvl="1" marL="457200" indent="-228600">
              <a:lnSpc>
                <a:spcPct val="115000"/>
              </a:lnSpc>
              <a:spcAft>
                <a:spcPts val="1200"/>
              </a:spcAft>
              <a:buSzPct val="100000"/>
              <a:buChar char="•"/>
            </a:pPr>
            <a:r>
              <a:rPr lang="en-US" sz="1450" dirty="0">
                <a:solidFill>
                  <a:srgbClr val="222222"/>
                </a:solidFill>
                <a:latin typeface="Calibri" pitchFamily="34" charset="0"/>
                <a:ea typeface="Calibri" pitchFamily="34" charset="-122"/>
                <a:cs typeface="Calibri" pitchFamily="34" charset="-120"/>
              </a:rPr>
              <a:t>Đừng gộp toàn bộ state ứng dụng vào 1 slice duy nhất → mất đi lợi ích tách biệt của Redux Toolkit</a:t>
            </a:r>
            <a:endParaRPr lang="en-US" sz="1450" dirty="0"/>
          </a:p>
          <a:p>
            <a:pPr algn="l" indent="0" marL="0">
              <a:lnSpc>
                <a:spcPct val="115000"/>
              </a:lnSpc>
              <a:spcAft>
                <a:spcPts val="1200"/>
              </a:spcAft>
              <a:buNone/>
            </a:pPr>
            <a:r>
              <a:rPr lang="en-US" sz="1450" b="1" dirty="0">
                <a:solidFill>
                  <a:srgbClr val="A81820"/>
                </a:solidFill>
                <a:latin typeface="Calibri" pitchFamily="34" charset="0"/>
                <a:ea typeface="Calibri" pitchFamily="34" charset="-122"/>
                <a:cs typeface="Calibri" pitchFamily="34" charset="-120"/>
              </a:rPr>
              <a:t>→ RootState và AppDispatch được suy ra tự động từ store, không cần viết tay.</a:t>
            </a:r>
            <a:endParaRPr lang="en-US" sz="1450" dirty="0"/>
          </a:p>
        </p:txBody>
      </p:sp>
      <p:sp>
        <p:nvSpPr>
          <p:cNvPr id="5" name="Shape 3"/>
          <p:cNvSpPr/>
          <p:nvPr/>
        </p:nvSpPr>
        <p:spPr>
          <a:xfrm>
            <a:off x="6309360" y="1737360"/>
            <a:ext cx="5349240" cy="4023360"/>
          </a:xfrm>
          <a:prstGeom prst="roundRect">
            <a:avLst>
              <a:gd name="adj" fmla="val 1818"/>
            </a:avLst>
          </a:prstGeom>
          <a:solidFill>
            <a:srgbClr val="1E1E2E"/>
          </a:solidFill>
          <a:ln/>
          <a:effectLst>
            <a:outerShdw sx="100000" sy="100000" kx="0" ky="0" algn="bl" rotWithShape="0" blurRad="76200" dist="25400" dir="5400000">
              <a:srgbClr val="000000">
                <a:alpha val="25000"/>
              </a:srgbClr>
            </a:outerShdw>
          </a:effectLst>
        </p:spPr>
      </p:sp>
      <p:sp>
        <p:nvSpPr>
          <p:cNvPr id="6" name="Text 4"/>
          <p:cNvSpPr txBox="1"/>
          <p:nvPr/>
        </p:nvSpPr>
        <p:spPr>
          <a:xfrm>
            <a:off x="6537960" y="1920240"/>
            <a:ext cx="4892040" cy="3657600"/>
          </a:xfrm>
          <a:prstGeom prst="rect">
            <a:avLst/>
          </a:prstGeom>
          <a:noFill/>
          <a:ln/>
        </p:spPr>
        <p:txBody>
          <a:bodyPr wrap="square" lIns="0" tIns="0" rIns="0" bIns="0" rtlCol="0" anchor="t"/>
          <a:lstStyle/>
          <a:p>
            <a:pPr algn="l" indent="0" marL="0">
              <a:lnSpc>
                <a:spcPct val="120000"/>
              </a:lnSpc>
              <a:buNone/>
            </a:pPr>
            <a:r>
              <a:rPr lang="en-US" sz="1250" dirty="0">
                <a:solidFill>
                  <a:srgbClr val="6B7280"/>
                </a:solidFill>
                <a:latin typeface="Courier New" pitchFamily="34" charset="0"/>
                <a:ea typeface="Courier New" pitchFamily="34" charset="-122"/>
                <a:cs typeface="Courier New" pitchFamily="34" charset="-120"/>
              </a:rPr>
              <a:t>// store.ts</a:t>
            </a:r>
            <a:endParaRPr lang="en-US" sz="1250" dirty="0"/>
          </a:p>
          <a:p>
            <a:pPr algn="l" indent="0" marL="0">
              <a:lnSpc>
                <a:spcPct val="120000"/>
              </a:lnSpc>
              <a:buNone/>
            </a:pPr>
            <a:r>
              <a:rPr lang="en-US" sz="1250" dirty="0">
                <a:solidFill>
                  <a:srgbClr val="7AA2F7"/>
                </a:solidFill>
                <a:latin typeface="Courier New" pitchFamily="34" charset="0"/>
                <a:ea typeface="Courier New" pitchFamily="34" charset="-122"/>
                <a:cs typeface="Courier New" pitchFamily="34" charset="-120"/>
              </a:rPr>
              <a:t>import</a:t>
            </a:r>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 { configureStore } </a:t>
            </a:r>
            <a:pPr algn="l" indent="0" marL="0">
              <a:lnSpc>
                <a:spcPct val="120000"/>
              </a:lnSpc>
              <a:buNone/>
            </a:pPr>
            <a:r>
              <a:rPr lang="en-US" sz="1250" dirty="0">
                <a:solidFill>
                  <a:srgbClr val="7AA2F7"/>
                </a:solidFill>
                <a:latin typeface="Courier New" pitchFamily="34" charset="0"/>
                <a:ea typeface="Courier New" pitchFamily="34" charset="-122"/>
                <a:cs typeface="Courier New" pitchFamily="34" charset="-120"/>
              </a:rPr>
              <a:t>from</a:t>
            </a:r>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 </a:t>
            </a:r>
            <a:pPr algn="l" indent="0" marL="0">
              <a:lnSpc>
                <a:spcPct val="120000"/>
              </a:lnSpc>
              <a:buNone/>
            </a:pPr>
            <a:r>
              <a:rPr lang="en-US" sz="1250" dirty="0">
                <a:solidFill>
                  <a:srgbClr val="9ECE6A"/>
                </a:solidFill>
                <a:latin typeface="Courier New" pitchFamily="34" charset="0"/>
                <a:ea typeface="Courier New" pitchFamily="34" charset="-122"/>
                <a:cs typeface="Courier New" pitchFamily="34" charset="-120"/>
              </a:rPr>
              <a:t>'@reduxjs/toolkit'</a:t>
            </a:r>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a:t>
            </a:r>
            <a:endParaRPr lang="en-US" sz="1250" dirty="0"/>
          </a:p>
          <a:p>
            <a:pPr algn="l" indent="0" marL="0">
              <a:lnSpc>
                <a:spcPct val="120000"/>
              </a:lnSpc>
              <a:buNone/>
            </a:pPr>
            <a:r>
              <a:rPr lang="en-US" sz="1250" dirty="0">
                <a:solidFill>
                  <a:srgbClr val="7AA2F7"/>
                </a:solidFill>
                <a:latin typeface="Courier New" pitchFamily="34" charset="0"/>
                <a:ea typeface="Courier New" pitchFamily="34" charset="-122"/>
                <a:cs typeface="Courier New" pitchFamily="34" charset="-120"/>
              </a:rPr>
              <a:t>import</a:t>
            </a:r>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 cartReducer </a:t>
            </a:r>
            <a:pPr algn="l" indent="0" marL="0">
              <a:lnSpc>
                <a:spcPct val="120000"/>
              </a:lnSpc>
              <a:buNone/>
            </a:pPr>
            <a:r>
              <a:rPr lang="en-US" sz="1250" dirty="0">
                <a:solidFill>
                  <a:srgbClr val="7AA2F7"/>
                </a:solidFill>
                <a:latin typeface="Courier New" pitchFamily="34" charset="0"/>
                <a:ea typeface="Courier New" pitchFamily="34" charset="-122"/>
                <a:cs typeface="Courier New" pitchFamily="34" charset="-120"/>
              </a:rPr>
              <a:t>from</a:t>
            </a:r>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 </a:t>
            </a:r>
            <a:pPr algn="l" indent="0" marL="0">
              <a:lnSpc>
                <a:spcPct val="120000"/>
              </a:lnSpc>
              <a:buNone/>
            </a:pPr>
            <a:r>
              <a:rPr lang="en-US" sz="1250" dirty="0">
                <a:solidFill>
                  <a:srgbClr val="9ECE6A"/>
                </a:solidFill>
                <a:latin typeface="Courier New" pitchFamily="34" charset="0"/>
                <a:ea typeface="Courier New" pitchFamily="34" charset="-122"/>
                <a:cs typeface="Courier New" pitchFamily="34" charset="-120"/>
              </a:rPr>
              <a:t>'./cartSlice'</a:t>
            </a:r>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a:t>
            </a:r>
            <a:endParaRPr lang="en-US" sz="1250" dirty="0"/>
          </a:p>
          <a:p>
            <a:pPr algn="l" indent="0" marL="0">
              <a:lnSpc>
                <a:spcPct val="120000"/>
              </a:lnSpc>
              <a:buNone/>
            </a:pPr>
            <a:r>
              <a:rPr lang="en-US" sz="1250" dirty="0">
                <a:solidFill>
                  <a:srgbClr val="7AA2F7"/>
                </a:solidFill>
                <a:latin typeface="Courier New" pitchFamily="34" charset="0"/>
                <a:ea typeface="Courier New" pitchFamily="34" charset="-122"/>
                <a:cs typeface="Courier New" pitchFamily="34" charset="-120"/>
              </a:rPr>
              <a:t>import</a:t>
            </a:r>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 authReducer </a:t>
            </a:r>
            <a:pPr algn="l" indent="0" marL="0">
              <a:lnSpc>
                <a:spcPct val="120000"/>
              </a:lnSpc>
              <a:buNone/>
            </a:pPr>
            <a:r>
              <a:rPr lang="en-US" sz="1250" dirty="0">
                <a:solidFill>
                  <a:srgbClr val="7AA2F7"/>
                </a:solidFill>
                <a:latin typeface="Courier New" pitchFamily="34" charset="0"/>
                <a:ea typeface="Courier New" pitchFamily="34" charset="-122"/>
                <a:cs typeface="Courier New" pitchFamily="34" charset="-120"/>
              </a:rPr>
              <a:t>from</a:t>
            </a:r>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 </a:t>
            </a:r>
            <a:pPr algn="l" indent="0" marL="0">
              <a:lnSpc>
                <a:spcPct val="120000"/>
              </a:lnSpc>
              <a:buNone/>
            </a:pPr>
            <a:r>
              <a:rPr lang="en-US" sz="1250" dirty="0">
                <a:solidFill>
                  <a:srgbClr val="9ECE6A"/>
                </a:solidFill>
                <a:latin typeface="Courier New" pitchFamily="34" charset="0"/>
                <a:ea typeface="Courier New" pitchFamily="34" charset="-122"/>
                <a:cs typeface="Courier New" pitchFamily="34" charset="-120"/>
              </a:rPr>
              <a:t>'./authSlice'</a:t>
            </a:r>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a:t>
            </a:r>
            <a:endParaRPr lang="en-US" sz="1250" dirty="0"/>
          </a:p>
          <a:p>
            <a:pPr algn="l" indent="0" marL="0">
              <a:lnSpc>
                <a:spcPct val="120000"/>
              </a:lnSpc>
              <a:buNone/>
            </a:pPr>
            <a:endParaRPr lang="en-US" sz="1250" dirty="0"/>
          </a:p>
          <a:p>
            <a:pPr algn="l" indent="0" marL="0">
              <a:lnSpc>
                <a:spcPct val="120000"/>
              </a:lnSpc>
              <a:buNone/>
            </a:pPr>
            <a:r>
              <a:rPr lang="en-US" sz="1250" dirty="0">
                <a:solidFill>
                  <a:srgbClr val="7AA2F7"/>
                </a:solidFill>
                <a:latin typeface="Courier New" pitchFamily="34" charset="0"/>
                <a:ea typeface="Courier New" pitchFamily="34" charset="-122"/>
                <a:cs typeface="Courier New" pitchFamily="34" charset="-120"/>
              </a:rPr>
              <a:t>export const</a:t>
            </a:r>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 store = </a:t>
            </a:r>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configureStore</a:t>
            </a:r>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a:t>
            </a:r>
            <a:endParaRPr lang="en-US" sz="1250" dirty="0"/>
          </a:p>
          <a:p>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  reducer: {</a:t>
            </a:r>
            <a:endParaRPr lang="en-US" sz="1250" dirty="0"/>
          </a:p>
          <a:p>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    cart: cartReducer,</a:t>
            </a:r>
            <a:endParaRPr lang="en-US" sz="1250" dirty="0"/>
          </a:p>
          <a:p>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    auth: authReducer,</a:t>
            </a:r>
            <a:endParaRPr lang="en-US" sz="1250" dirty="0"/>
          </a:p>
          <a:p>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  },</a:t>
            </a:r>
            <a:endParaRPr lang="en-US" sz="1250" dirty="0"/>
          </a:p>
          <a:p>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a:t>
            </a:r>
            <a:endParaRPr lang="en-US" sz="1250" dirty="0"/>
          </a:p>
          <a:p>
            <a:pPr algn="l" indent="0" marL="0">
              <a:lnSpc>
                <a:spcPct val="120000"/>
              </a:lnSpc>
              <a:buNone/>
            </a:pPr>
            <a:endParaRPr lang="en-US" sz="1250" dirty="0"/>
          </a:p>
          <a:p>
            <a:pPr algn="l" indent="0" marL="0">
              <a:lnSpc>
                <a:spcPct val="120000"/>
              </a:lnSpc>
              <a:buNone/>
            </a:pPr>
            <a:r>
              <a:rPr lang="en-US" sz="1250" dirty="0">
                <a:solidFill>
                  <a:srgbClr val="7AA2F7"/>
                </a:solidFill>
                <a:latin typeface="Courier New" pitchFamily="34" charset="0"/>
                <a:ea typeface="Courier New" pitchFamily="34" charset="-122"/>
                <a:cs typeface="Courier New" pitchFamily="34" charset="-120"/>
              </a:rPr>
              <a:t>export type</a:t>
            </a:r>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 </a:t>
            </a:r>
            <a:pPr algn="l" indent="0" marL="0">
              <a:lnSpc>
                <a:spcPct val="120000"/>
              </a:lnSpc>
              <a:buNone/>
            </a:pPr>
            <a:r>
              <a:rPr lang="en-US" sz="1250" dirty="0">
                <a:solidFill>
                  <a:srgbClr val="E0AF68"/>
                </a:solidFill>
                <a:latin typeface="Courier New" pitchFamily="34" charset="0"/>
                <a:ea typeface="Courier New" pitchFamily="34" charset="-122"/>
                <a:cs typeface="Courier New" pitchFamily="34" charset="-120"/>
              </a:rPr>
              <a:t>RootState</a:t>
            </a:r>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 = </a:t>
            </a:r>
            <a:pPr algn="l" indent="0" marL="0">
              <a:lnSpc>
                <a:spcPct val="120000"/>
              </a:lnSpc>
              <a:buNone/>
            </a:pPr>
            <a:r>
              <a:rPr lang="en-US" sz="1250" dirty="0">
                <a:solidFill>
                  <a:srgbClr val="E0AF68"/>
                </a:solidFill>
                <a:latin typeface="Courier New" pitchFamily="34" charset="0"/>
                <a:ea typeface="Courier New" pitchFamily="34" charset="-122"/>
                <a:cs typeface="Courier New" pitchFamily="34" charset="-120"/>
              </a:rPr>
              <a:t>ReturnType</a:t>
            </a:r>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&lt;</a:t>
            </a:r>
            <a:pPr algn="l" indent="0" marL="0">
              <a:lnSpc>
                <a:spcPct val="120000"/>
              </a:lnSpc>
              <a:buNone/>
            </a:pPr>
            <a:r>
              <a:rPr lang="en-US" sz="1250" dirty="0">
                <a:solidFill>
                  <a:srgbClr val="7AA2F7"/>
                </a:solidFill>
                <a:latin typeface="Courier New" pitchFamily="34" charset="0"/>
                <a:ea typeface="Courier New" pitchFamily="34" charset="-122"/>
                <a:cs typeface="Courier New" pitchFamily="34" charset="-120"/>
              </a:rPr>
              <a:t>typeof</a:t>
            </a:r>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 store.getState&gt;;</a:t>
            </a:r>
            <a:endParaRPr lang="en-US" sz="1250" dirty="0"/>
          </a:p>
          <a:p>
            <a:pPr algn="l" indent="0" marL="0">
              <a:lnSpc>
                <a:spcPct val="120000"/>
              </a:lnSpc>
              <a:buNone/>
            </a:pPr>
            <a:r>
              <a:rPr lang="en-US" sz="1250" dirty="0">
                <a:solidFill>
                  <a:srgbClr val="7AA2F7"/>
                </a:solidFill>
                <a:latin typeface="Courier New" pitchFamily="34" charset="0"/>
                <a:ea typeface="Courier New" pitchFamily="34" charset="-122"/>
                <a:cs typeface="Courier New" pitchFamily="34" charset="-120"/>
              </a:rPr>
              <a:t>export type</a:t>
            </a:r>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 </a:t>
            </a:r>
            <a:pPr algn="l" indent="0" marL="0">
              <a:lnSpc>
                <a:spcPct val="120000"/>
              </a:lnSpc>
              <a:buNone/>
            </a:pPr>
            <a:r>
              <a:rPr lang="en-US" sz="1250" dirty="0">
                <a:solidFill>
                  <a:srgbClr val="E0AF68"/>
                </a:solidFill>
                <a:latin typeface="Courier New" pitchFamily="34" charset="0"/>
                <a:ea typeface="Courier New" pitchFamily="34" charset="-122"/>
                <a:cs typeface="Courier New" pitchFamily="34" charset="-120"/>
              </a:rPr>
              <a:t>AppDispatch</a:t>
            </a:r>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 = </a:t>
            </a:r>
            <a:pPr algn="l" indent="0" marL="0">
              <a:lnSpc>
                <a:spcPct val="120000"/>
              </a:lnSpc>
              <a:buNone/>
            </a:pPr>
            <a:r>
              <a:rPr lang="en-US" sz="1250" dirty="0">
                <a:solidFill>
                  <a:srgbClr val="7AA2F7"/>
                </a:solidFill>
                <a:latin typeface="Courier New" pitchFamily="34" charset="0"/>
                <a:ea typeface="Courier New" pitchFamily="34" charset="-122"/>
                <a:cs typeface="Courier New" pitchFamily="34" charset="-120"/>
              </a:rPr>
              <a:t>typeof</a:t>
            </a:r>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 store.dispatch;</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713232"/>
            <a:ext cx="9144000" cy="274320"/>
          </a:xfrm>
          <a:prstGeom prst="rect">
            <a:avLst/>
          </a:prstGeom>
          <a:noFill/>
          <a:ln/>
        </p:spPr>
        <p:txBody>
          <a:bodyPr wrap="square" lIns="0" tIns="0" rIns="0" bIns="0" rtlCol="0" anchor="ctr"/>
          <a:lstStyle/>
          <a:p>
            <a:pPr algn="l" indent="0" marL="0">
              <a:buNone/>
            </a:pPr>
            <a:r>
              <a:rPr lang="en-US" sz="1100" b="1" spc="200" kern="0" dirty="0">
                <a:solidFill>
                  <a:srgbClr val="DA2128"/>
                </a:solidFill>
                <a:latin typeface="Calibri" pitchFamily="34" charset="0"/>
                <a:ea typeface="Calibri" pitchFamily="34" charset="-122"/>
                <a:cs typeface="Calibri" pitchFamily="34" charset="-120"/>
              </a:rPr>
              <a:t>03 · CREATEASYNCTHUNK</a:t>
            </a:r>
            <a:endParaRPr lang="en-US" sz="1100" dirty="0"/>
          </a:p>
        </p:txBody>
      </p:sp>
      <p:sp>
        <p:nvSpPr>
          <p:cNvPr id="3" name="Text 1"/>
          <p:cNvSpPr txBox="1"/>
          <p:nvPr/>
        </p:nvSpPr>
        <p:spPr>
          <a:xfrm>
            <a:off x="566928" y="941832"/>
            <a:ext cx="10607040" cy="594360"/>
          </a:xfrm>
          <a:prstGeom prst="rect">
            <a:avLst/>
          </a:prstGeom>
          <a:noFill/>
          <a:ln/>
        </p:spPr>
        <p:txBody>
          <a:bodyPr wrap="square" lIns="0" tIns="0" rIns="0" bIns="0" rtlCol="0" anchor="ctr"/>
          <a:lstStyle/>
          <a:p>
            <a:pPr algn="l" indent="0" marL="0">
              <a:buNone/>
            </a:pPr>
            <a:r>
              <a:rPr lang="en-US" sz="2600" b="1" dirty="0">
                <a:solidFill>
                  <a:srgbClr val="222222"/>
                </a:solidFill>
                <a:latin typeface="Lato" pitchFamily="34" charset="0"/>
                <a:ea typeface="Lato" pitchFamily="34" charset="-122"/>
                <a:cs typeface="Lato" pitchFamily="34" charset="-120"/>
              </a:rPr>
              <a:t>Xử lý bất đồng bộ với createAsyncThunk</a:t>
            </a:r>
            <a:endParaRPr lang="en-US" sz="2600" dirty="0"/>
          </a:p>
        </p:txBody>
      </p:sp>
      <p:sp>
        <p:nvSpPr>
          <p:cNvPr id="4" name="Text 2"/>
          <p:cNvSpPr txBox="1"/>
          <p:nvPr/>
        </p:nvSpPr>
        <p:spPr>
          <a:xfrm>
            <a:off x="566928" y="1737360"/>
            <a:ext cx="5394960" cy="3566160"/>
          </a:xfrm>
          <a:prstGeom prst="rect">
            <a:avLst/>
          </a:prstGeom>
          <a:noFill/>
          <a:ln/>
        </p:spPr>
        <p:txBody>
          <a:bodyPr wrap="square" lIns="0" tIns="0" rIns="0" bIns="0" rtlCol="0" anchor="t"/>
          <a:lstStyle/>
          <a:p>
            <a:pPr algn="l" marL="228600" indent="-228600">
              <a:lnSpc>
                <a:spcPct val="115000"/>
              </a:lnSpc>
              <a:spcAft>
                <a:spcPts val="1200"/>
              </a:spcAft>
              <a:buSzPct val="100000"/>
              <a:buChar char="•"/>
            </a:pPr>
            <a:r>
              <a:rPr lang="en-US" sz="1450" dirty="0">
                <a:solidFill>
                  <a:srgbClr val="222222"/>
                </a:solidFill>
                <a:latin typeface="Calibri" pitchFamily="34" charset="0"/>
                <a:ea typeface="Calibri" pitchFamily="34" charset="-122"/>
                <a:cs typeface="Calibri" pitchFamily="34" charset="-120"/>
              </a:rPr>
              <a:t>createAsyncThunk(typePrefix, payloadCreator) tạo ra 1 action bất đồng bộ, tự động sinh 3 trạng thái: pending, fulfilled, rejected</a:t>
            </a:r>
            <a:endParaRPr lang="en-US" sz="1450" dirty="0"/>
          </a:p>
          <a:p>
            <a:pPr algn="l" marL="228600" indent="-228600">
              <a:lnSpc>
                <a:spcPct val="115000"/>
              </a:lnSpc>
              <a:spcAft>
                <a:spcPts val="1200"/>
              </a:spcAft>
              <a:buSzPct val="100000"/>
              <a:buChar char="•"/>
            </a:pPr>
            <a:r>
              <a:rPr lang="en-US" sz="1450" dirty="0">
                <a:solidFill>
                  <a:srgbClr val="222222"/>
                </a:solidFill>
                <a:latin typeface="Calibri" pitchFamily="34" charset="0"/>
                <a:ea typeface="Calibri" pitchFamily="34" charset="-122"/>
                <a:cs typeface="Calibri" pitchFamily="34" charset="-120"/>
              </a:rPr>
              <a:t>Trong extraReducers của slice, xử lý riêng từng trạng thái để cập nhật loading/error/data</a:t>
            </a:r>
            <a:endParaRPr lang="en-US" sz="1450" dirty="0"/>
          </a:p>
          <a:p>
            <a:pPr algn="l" marL="228600" indent="-228600">
              <a:lnSpc>
                <a:spcPct val="115000"/>
              </a:lnSpc>
              <a:spcAft>
                <a:spcPts val="1200"/>
              </a:spcAft>
              <a:buSzPct val="100000"/>
              <a:buChar char="•"/>
            </a:pPr>
            <a:r>
              <a:rPr lang="en-US" sz="1450" dirty="0">
                <a:solidFill>
                  <a:srgbClr val="222222"/>
                </a:solidFill>
                <a:latin typeface="Calibri" pitchFamily="34" charset="0"/>
                <a:ea typeface="Calibri" pitchFamily="34" charset="-122"/>
                <a:cs typeface="Calibri" pitchFamily="34" charset="-120"/>
              </a:rPr>
              <a:t>Với TypeScript, khai báo kiểu trả về và kiểu tham số bằng generic: createAsyncThunk&lt;ReturnType, ArgType&gt;</a:t>
            </a:r>
            <a:endParaRPr lang="en-US" sz="1450" dirty="0"/>
          </a:p>
          <a:p>
            <a:pPr algn="l" marL="228600" indent="-228600">
              <a:lnSpc>
                <a:spcPct val="115000"/>
              </a:lnSpc>
              <a:spcAft>
                <a:spcPts val="1200"/>
              </a:spcAft>
              <a:buSzPct val="100000"/>
              <a:buChar char="•"/>
            </a:pPr>
            <a:r>
              <a:rPr lang="en-US" sz="1450" dirty="0">
                <a:solidFill>
                  <a:srgbClr val="222222"/>
                </a:solidFill>
                <a:latin typeface="Calibri" pitchFamily="34" charset="0"/>
                <a:ea typeface="Calibri" pitchFamily="34" charset="-122"/>
                <a:cs typeface="Calibri" pitchFamily="34" charset="-120"/>
              </a:rPr>
              <a:t>Thay thế hoàn toàn cách tự viết loading/error thủ công như useFetch&lt;T&gt; đã học ở Buổi 2</a:t>
            </a:r>
            <a:endParaRPr lang="en-US" sz="1450" dirty="0"/>
          </a:p>
        </p:txBody>
      </p:sp>
      <p:sp>
        <p:nvSpPr>
          <p:cNvPr id="5" name="Shape 3"/>
          <p:cNvSpPr/>
          <p:nvPr/>
        </p:nvSpPr>
        <p:spPr>
          <a:xfrm>
            <a:off x="6309360" y="1737360"/>
            <a:ext cx="5349240" cy="4023360"/>
          </a:xfrm>
          <a:prstGeom prst="roundRect">
            <a:avLst>
              <a:gd name="adj" fmla="val 1818"/>
            </a:avLst>
          </a:prstGeom>
          <a:solidFill>
            <a:srgbClr val="1E1E2E"/>
          </a:solidFill>
          <a:ln/>
          <a:effectLst>
            <a:outerShdw sx="100000" sy="100000" kx="0" ky="0" algn="bl" rotWithShape="0" blurRad="76200" dist="25400" dir="5400000">
              <a:srgbClr val="000000">
                <a:alpha val="25000"/>
              </a:srgbClr>
            </a:outerShdw>
          </a:effectLst>
        </p:spPr>
      </p:sp>
      <p:sp>
        <p:nvSpPr>
          <p:cNvPr id="6" name="Text 4"/>
          <p:cNvSpPr txBox="1"/>
          <p:nvPr/>
        </p:nvSpPr>
        <p:spPr>
          <a:xfrm>
            <a:off x="6537960" y="1920240"/>
            <a:ext cx="4892040" cy="3657600"/>
          </a:xfrm>
          <a:prstGeom prst="rect">
            <a:avLst/>
          </a:prstGeom>
          <a:noFill/>
          <a:ln/>
        </p:spPr>
        <p:txBody>
          <a:bodyPr wrap="square" lIns="0" tIns="0" rIns="0" bIns="0" rtlCol="0" anchor="t"/>
          <a:lstStyle/>
          <a:p>
            <a:pPr algn="l" indent="0" marL="0">
              <a:lnSpc>
                <a:spcPct val="120000"/>
              </a:lnSpc>
              <a:buNone/>
            </a:pPr>
            <a:r>
              <a:rPr lang="en-US" sz="1250" dirty="0">
                <a:solidFill>
                  <a:srgbClr val="6B7280"/>
                </a:solidFill>
                <a:latin typeface="Courier New" pitchFamily="34" charset="0"/>
                <a:ea typeface="Courier New" pitchFamily="34" charset="-122"/>
                <a:cs typeface="Courier New" pitchFamily="34" charset="-120"/>
              </a:rPr>
              <a:t>// productsSlice.ts</a:t>
            </a:r>
            <a:endParaRPr lang="en-US" sz="1250" dirty="0"/>
          </a:p>
          <a:p>
            <a:pPr algn="l" indent="0" marL="0">
              <a:lnSpc>
                <a:spcPct val="120000"/>
              </a:lnSpc>
              <a:buNone/>
            </a:pPr>
            <a:r>
              <a:rPr lang="en-US" sz="1250" dirty="0">
                <a:solidFill>
                  <a:srgbClr val="7AA2F7"/>
                </a:solidFill>
                <a:latin typeface="Courier New" pitchFamily="34" charset="0"/>
                <a:ea typeface="Courier New" pitchFamily="34" charset="-122"/>
                <a:cs typeface="Courier New" pitchFamily="34" charset="-120"/>
              </a:rPr>
              <a:t>export const</a:t>
            </a:r>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 fetchProducts = </a:t>
            </a:r>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createAsyncThunk</a:t>
            </a:r>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&lt;</a:t>
            </a:r>
            <a:pPr algn="l" indent="0" marL="0">
              <a:lnSpc>
                <a:spcPct val="120000"/>
              </a:lnSpc>
              <a:buNone/>
            </a:pPr>
            <a:r>
              <a:rPr lang="en-US" sz="1250" dirty="0">
                <a:solidFill>
                  <a:srgbClr val="E0AF68"/>
                </a:solidFill>
                <a:latin typeface="Courier New" pitchFamily="34" charset="0"/>
                <a:ea typeface="Courier New" pitchFamily="34" charset="-122"/>
                <a:cs typeface="Courier New" pitchFamily="34" charset="-120"/>
              </a:rPr>
              <a:t>Product</a:t>
            </a:r>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 </a:t>
            </a:r>
            <a:pPr algn="l" indent="0" marL="0">
              <a:lnSpc>
                <a:spcPct val="120000"/>
              </a:lnSpc>
              <a:buNone/>
            </a:pPr>
            <a:r>
              <a:rPr lang="en-US" sz="1250" dirty="0">
                <a:solidFill>
                  <a:srgbClr val="7AA2F7"/>
                </a:solidFill>
                <a:latin typeface="Courier New" pitchFamily="34" charset="0"/>
                <a:ea typeface="Courier New" pitchFamily="34" charset="-122"/>
                <a:cs typeface="Courier New" pitchFamily="34" charset="-120"/>
              </a:rPr>
              <a:t>void</a:t>
            </a:r>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&gt;(</a:t>
            </a:r>
            <a:endParaRPr lang="en-US" sz="1250" dirty="0"/>
          </a:p>
          <a:p>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  </a:t>
            </a:r>
            <a:pPr algn="l" indent="0" marL="0">
              <a:lnSpc>
                <a:spcPct val="120000"/>
              </a:lnSpc>
              <a:buNone/>
            </a:pPr>
            <a:r>
              <a:rPr lang="en-US" sz="1250" dirty="0">
                <a:solidFill>
                  <a:srgbClr val="9ECE6A"/>
                </a:solidFill>
                <a:latin typeface="Courier New" pitchFamily="34" charset="0"/>
                <a:ea typeface="Courier New" pitchFamily="34" charset="-122"/>
                <a:cs typeface="Courier New" pitchFamily="34" charset="-120"/>
              </a:rPr>
              <a:t>'products/fetchAll'</a:t>
            </a:r>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a:t>
            </a:r>
            <a:endParaRPr lang="en-US" sz="1250" dirty="0"/>
          </a:p>
          <a:p>
            <a:pPr algn="l" indent="0" marL="0">
              <a:lnSpc>
                <a:spcPct val="120000"/>
              </a:lnSpc>
              <a:buNone/>
            </a:pPr>
            <a:r>
              <a:rPr lang="en-US" sz="1250" dirty="0">
                <a:solidFill>
                  <a:srgbClr val="7AA2F7"/>
                </a:solidFill>
                <a:latin typeface="Courier New" pitchFamily="34" charset="0"/>
                <a:ea typeface="Courier New" pitchFamily="34" charset="-122"/>
                <a:cs typeface="Courier New" pitchFamily="34" charset="-120"/>
              </a:rPr>
              <a:t>  async</a:t>
            </a:r>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 () =&gt; {</a:t>
            </a:r>
            <a:endParaRPr lang="en-US" sz="1250" dirty="0"/>
          </a:p>
          <a:p>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    </a:t>
            </a:r>
            <a:pPr algn="l" indent="0" marL="0">
              <a:lnSpc>
                <a:spcPct val="120000"/>
              </a:lnSpc>
              <a:buNone/>
            </a:pPr>
            <a:r>
              <a:rPr lang="en-US" sz="1250" dirty="0">
                <a:solidFill>
                  <a:srgbClr val="7AA2F7"/>
                </a:solidFill>
                <a:latin typeface="Courier New" pitchFamily="34" charset="0"/>
                <a:ea typeface="Courier New" pitchFamily="34" charset="-122"/>
                <a:cs typeface="Courier New" pitchFamily="34" charset="-120"/>
              </a:rPr>
              <a:t>const</a:t>
            </a:r>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 res = </a:t>
            </a:r>
            <a:pPr algn="l" indent="0" marL="0">
              <a:lnSpc>
                <a:spcPct val="120000"/>
              </a:lnSpc>
              <a:buNone/>
            </a:pPr>
            <a:r>
              <a:rPr lang="en-US" sz="1250" dirty="0">
                <a:solidFill>
                  <a:srgbClr val="7AA2F7"/>
                </a:solidFill>
                <a:latin typeface="Courier New" pitchFamily="34" charset="0"/>
                <a:ea typeface="Courier New" pitchFamily="34" charset="-122"/>
                <a:cs typeface="Courier New" pitchFamily="34" charset="-120"/>
              </a:rPr>
              <a:t>await</a:t>
            </a:r>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 fetch(</a:t>
            </a:r>
            <a:endParaRPr lang="en-US" sz="1250" dirty="0"/>
          </a:p>
          <a:p>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      </a:t>
            </a:r>
            <a:pPr algn="l" indent="0" marL="0">
              <a:lnSpc>
                <a:spcPct val="120000"/>
              </a:lnSpc>
              <a:buNone/>
            </a:pPr>
            <a:r>
              <a:rPr lang="en-US" sz="1250" dirty="0">
                <a:solidFill>
                  <a:srgbClr val="9ECE6A"/>
                </a:solidFill>
                <a:latin typeface="Courier New" pitchFamily="34" charset="0"/>
                <a:ea typeface="Courier New" pitchFamily="34" charset="-122"/>
                <a:cs typeface="Courier New" pitchFamily="34" charset="-120"/>
              </a:rPr>
              <a:t>'/api/products'</a:t>
            </a:r>
            <a:endParaRPr lang="en-US" sz="1250" dirty="0"/>
          </a:p>
          <a:p>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    );</a:t>
            </a:r>
            <a:endParaRPr lang="en-US" sz="1250" dirty="0"/>
          </a:p>
          <a:p>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    </a:t>
            </a:r>
            <a:pPr algn="l" indent="0" marL="0">
              <a:lnSpc>
                <a:spcPct val="120000"/>
              </a:lnSpc>
              <a:buNone/>
            </a:pPr>
            <a:r>
              <a:rPr lang="en-US" sz="1250" dirty="0">
                <a:solidFill>
                  <a:srgbClr val="7AA2F7"/>
                </a:solidFill>
                <a:latin typeface="Courier New" pitchFamily="34" charset="0"/>
                <a:ea typeface="Courier New" pitchFamily="34" charset="-122"/>
                <a:cs typeface="Courier New" pitchFamily="34" charset="-120"/>
              </a:rPr>
              <a:t>return</a:t>
            </a:r>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 (</a:t>
            </a:r>
            <a:endParaRPr lang="en-US" sz="1250" dirty="0"/>
          </a:p>
          <a:p>
            <a:pPr algn="l" indent="0" marL="0">
              <a:lnSpc>
                <a:spcPct val="120000"/>
              </a:lnSpc>
              <a:buNone/>
            </a:pPr>
            <a:r>
              <a:rPr lang="en-US" sz="1250" dirty="0">
                <a:solidFill>
                  <a:srgbClr val="7AA2F7"/>
                </a:solidFill>
                <a:latin typeface="Courier New" pitchFamily="34" charset="0"/>
                <a:ea typeface="Courier New" pitchFamily="34" charset="-122"/>
                <a:cs typeface="Courier New" pitchFamily="34" charset="-120"/>
              </a:rPr>
              <a:t>      await</a:t>
            </a:r>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 res.json()</a:t>
            </a:r>
            <a:endParaRPr lang="en-US" sz="1250" dirty="0"/>
          </a:p>
          <a:p>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    ) </a:t>
            </a:r>
            <a:pPr algn="l" indent="0" marL="0">
              <a:lnSpc>
                <a:spcPct val="120000"/>
              </a:lnSpc>
              <a:buNone/>
            </a:pPr>
            <a:r>
              <a:rPr lang="en-US" sz="1250" dirty="0">
                <a:solidFill>
                  <a:srgbClr val="7AA2F7"/>
                </a:solidFill>
                <a:latin typeface="Courier New" pitchFamily="34" charset="0"/>
                <a:ea typeface="Courier New" pitchFamily="34" charset="-122"/>
                <a:cs typeface="Courier New" pitchFamily="34" charset="-120"/>
              </a:rPr>
              <a:t>as</a:t>
            </a:r>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 </a:t>
            </a:r>
            <a:pPr algn="l" indent="0" marL="0">
              <a:lnSpc>
                <a:spcPct val="120000"/>
              </a:lnSpc>
              <a:buNone/>
            </a:pPr>
            <a:r>
              <a:rPr lang="en-US" sz="1250" dirty="0">
                <a:solidFill>
                  <a:srgbClr val="E0AF68"/>
                </a:solidFill>
                <a:latin typeface="Courier New" pitchFamily="34" charset="0"/>
                <a:ea typeface="Courier New" pitchFamily="34" charset="-122"/>
                <a:cs typeface="Courier New" pitchFamily="34" charset="-120"/>
              </a:rPr>
              <a:t>Product</a:t>
            </a:r>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a:t>
            </a:r>
            <a:endParaRPr lang="en-US" sz="1250" dirty="0"/>
          </a:p>
          <a:p>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  }</a:t>
            </a:r>
            <a:endParaRPr lang="en-US" sz="1250" dirty="0"/>
          </a:p>
          <a:p>
            <a:pPr algn="l" indent="0" marL="0">
              <a:lnSpc>
                <a:spcPct val="120000"/>
              </a:lnSpc>
              <a:buNone/>
            </a:pPr>
            <a:r>
              <a:rPr lang="en-US" sz="1250" dirty="0">
                <a:solidFill>
                  <a:srgbClr val="D8DEE9"/>
                </a:solidFill>
                <a:latin typeface="Courier New" pitchFamily="34" charset="0"/>
                <a:ea typeface="Courier New" pitchFamily="34" charset="-122"/>
                <a:cs typeface="Courier New" pitchFamily="34" charset="-120"/>
              </a:rPr>
              <a: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713232"/>
            <a:ext cx="9144000" cy="274320"/>
          </a:xfrm>
          <a:prstGeom prst="rect">
            <a:avLst/>
          </a:prstGeom>
          <a:noFill/>
          <a:ln/>
        </p:spPr>
        <p:txBody>
          <a:bodyPr wrap="square" lIns="0" tIns="0" rIns="0" bIns="0" rtlCol="0" anchor="ctr"/>
          <a:lstStyle/>
          <a:p>
            <a:pPr algn="l" indent="0" marL="0">
              <a:buNone/>
            </a:pPr>
            <a:r>
              <a:rPr lang="en-US" sz="1100" b="1" spc="200" kern="0" dirty="0">
                <a:solidFill>
                  <a:srgbClr val="DA2128"/>
                </a:solidFill>
                <a:latin typeface="Calibri" pitchFamily="34" charset="0"/>
                <a:ea typeface="Calibri" pitchFamily="34" charset="-122"/>
                <a:cs typeface="Calibri" pitchFamily="34" charset="-120"/>
              </a:rPr>
              <a:t>03 · CREATEASYNCTHUNK</a:t>
            </a:r>
            <a:endParaRPr lang="en-US" sz="1100" dirty="0"/>
          </a:p>
        </p:txBody>
      </p:sp>
      <p:sp>
        <p:nvSpPr>
          <p:cNvPr id="3" name="Text 1"/>
          <p:cNvSpPr txBox="1"/>
          <p:nvPr/>
        </p:nvSpPr>
        <p:spPr>
          <a:xfrm>
            <a:off x="566928" y="941832"/>
            <a:ext cx="10607040" cy="594360"/>
          </a:xfrm>
          <a:prstGeom prst="rect">
            <a:avLst/>
          </a:prstGeom>
          <a:noFill/>
          <a:ln/>
        </p:spPr>
        <p:txBody>
          <a:bodyPr wrap="square" lIns="0" tIns="0" rIns="0" bIns="0" rtlCol="0" anchor="ctr"/>
          <a:lstStyle/>
          <a:p>
            <a:pPr algn="l" indent="0" marL="0">
              <a:buNone/>
            </a:pPr>
            <a:r>
              <a:rPr lang="en-US" sz="2600" b="1" dirty="0">
                <a:solidFill>
                  <a:srgbClr val="222222"/>
                </a:solidFill>
                <a:latin typeface="Lato" pitchFamily="34" charset="0"/>
                <a:ea typeface="Lato" pitchFamily="34" charset="-122"/>
                <a:cs typeface="Lato" pitchFamily="34" charset="-120"/>
              </a:rPr>
              <a:t>createAsyncThunk — Xử lý trong extraReducers</a:t>
            </a:r>
            <a:endParaRPr lang="en-US" sz="2600" dirty="0"/>
          </a:p>
        </p:txBody>
      </p:sp>
      <p:sp>
        <p:nvSpPr>
          <p:cNvPr id="4" name="Text 2"/>
          <p:cNvSpPr txBox="1"/>
          <p:nvPr/>
        </p:nvSpPr>
        <p:spPr>
          <a:xfrm>
            <a:off x="566928" y="1737360"/>
            <a:ext cx="5394960" cy="4023360"/>
          </a:xfrm>
          <a:prstGeom prst="rect">
            <a:avLst/>
          </a:prstGeom>
          <a:noFill/>
          <a:ln/>
        </p:spPr>
        <p:txBody>
          <a:bodyPr wrap="square" lIns="0" tIns="0" rIns="0" bIns="0" rtlCol="0" anchor="t"/>
          <a:lstStyle/>
          <a:p>
            <a:pPr algn="l" marL="228600" indent="-228600">
              <a:lnSpc>
                <a:spcPct val="120000"/>
              </a:lnSpc>
              <a:spcAft>
                <a:spcPts val="1400"/>
              </a:spcAft>
              <a:buSzPct val="100000"/>
              <a:buChar char="•"/>
            </a:pPr>
            <a:r>
              <a:rPr lang="en-US" sz="1450" dirty="0">
                <a:solidFill>
                  <a:srgbClr val="222222"/>
                </a:solidFill>
                <a:latin typeface="Calibri" pitchFamily="34" charset="0"/>
                <a:ea typeface="Calibri" pitchFamily="34" charset="-122"/>
                <a:cs typeface="Calibri" pitchFamily="34" charset="-120"/>
              </a:rPr>
              <a:t>builder.addCase() xử lý từng trạng thái, có đầy đủ gợi ý kiểu (autocomplete) nhờ TypeScript</a:t>
            </a:r>
            <a:endParaRPr lang="en-US" sz="1450" dirty="0"/>
          </a:p>
          <a:p>
            <a:pPr algn="l" marL="228600" indent="-228600">
              <a:lnSpc>
                <a:spcPct val="120000"/>
              </a:lnSpc>
              <a:spcAft>
                <a:spcPts val="1400"/>
              </a:spcAft>
              <a:buSzPct val="100000"/>
              <a:buChar char="•"/>
            </a:pPr>
            <a:r>
              <a:rPr lang="en-US" sz="1450" dirty="0">
                <a:solidFill>
                  <a:srgbClr val="222222"/>
                </a:solidFill>
                <a:latin typeface="Calibri" pitchFamily="34" charset="0"/>
                <a:ea typeface="Calibri" pitchFamily="34" charset="-122"/>
                <a:cs typeface="Calibri" pitchFamily="34" charset="-120"/>
              </a:rPr>
              <a:t>action.payload trong fulfilled đã được suy ra đúng kiểu Product[] từ khai báo generic ban đầu</a:t>
            </a:r>
            <a:endParaRPr lang="en-US" sz="1450" dirty="0"/>
          </a:p>
          <a:p>
            <a:pPr algn="l" marL="228600" indent="-228600">
              <a:lnSpc>
                <a:spcPct val="120000"/>
              </a:lnSpc>
              <a:spcAft>
                <a:spcPts val="1400"/>
              </a:spcAft>
              <a:buSzPct val="100000"/>
              <a:buChar char="•"/>
            </a:pPr>
            <a:r>
              <a:rPr lang="en-US" sz="1450" dirty="0">
                <a:solidFill>
                  <a:srgbClr val="222222"/>
                </a:solidFill>
                <a:latin typeface="Calibri" pitchFamily="34" charset="0"/>
                <a:ea typeface="Calibri" pitchFamily="34" charset="-122"/>
                <a:cs typeface="Calibri" pitchFamily="34" charset="-120"/>
              </a:rPr>
              <a:t>status dạng union literal ('idle'|'loading'|'succeeded'|'failed') giúp UI hiển thị đúng trạng thái loading/error</a:t>
            </a:r>
            <a:endParaRPr lang="en-US" sz="1450" dirty="0"/>
          </a:p>
        </p:txBody>
      </p:sp>
      <p:sp>
        <p:nvSpPr>
          <p:cNvPr id="5" name="Shape 3"/>
          <p:cNvSpPr/>
          <p:nvPr/>
        </p:nvSpPr>
        <p:spPr>
          <a:xfrm>
            <a:off x="6309360" y="1737360"/>
            <a:ext cx="5349240" cy="4114800"/>
          </a:xfrm>
          <a:prstGeom prst="roundRect">
            <a:avLst>
              <a:gd name="adj" fmla="val 1778"/>
            </a:avLst>
          </a:prstGeom>
          <a:solidFill>
            <a:srgbClr val="1E1E2E"/>
          </a:solidFill>
          <a:ln/>
          <a:effectLst>
            <a:outerShdw sx="100000" sy="100000" kx="0" ky="0" algn="bl" rotWithShape="0" blurRad="76200" dist="25400" dir="5400000">
              <a:srgbClr val="000000">
                <a:alpha val="25000"/>
              </a:srgbClr>
            </a:outerShdw>
          </a:effectLst>
        </p:spPr>
      </p:sp>
      <p:sp>
        <p:nvSpPr>
          <p:cNvPr id="6" name="Text 4"/>
          <p:cNvSpPr txBox="1"/>
          <p:nvPr/>
        </p:nvSpPr>
        <p:spPr>
          <a:xfrm>
            <a:off x="6537960" y="1920240"/>
            <a:ext cx="4892040" cy="3749040"/>
          </a:xfrm>
          <a:prstGeom prst="rect">
            <a:avLst/>
          </a:prstGeom>
          <a:noFill/>
          <a:ln/>
        </p:spPr>
        <p:txBody>
          <a:bodyPr wrap="square" lIns="0" tIns="0" rIns="0" bIns="0" rtlCol="0" anchor="t"/>
          <a:lstStyle/>
          <a:p>
            <a:pPr algn="l" indent="0" marL="0">
              <a:lnSpc>
                <a:spcPct val="115000"/>
              </a:lnSpc>
              <a:buNone/>
            </a:pPr>
            <a:r>
              <a:rPr lang="en-US" sz="1050" dirty="0">
                <a:solidFill>
                  <a:srgbClr val="6B7280"/>
                </a:solidFill>
                <a:latin typeface="Courier New" pitchFamily="34" charset="0"/>
                <a:ea typeface="Courier New" pitchFamily="34" charset="-122"/>
                <a:cs typeface="Courier New" pitchFamily="34" charset="-120"/>
              </a:rPr>
              <a:t>// productsSlice.ts (tiếp theo ProductsState)</a:t>
            </a:r>
            <a:endParaRPr lang="en-US" sz="1050" dirty="0"/>
          </a:p>
          <a:p>
            <a:pPr algn="l" indent="0" marL="0">
              <a:lnSpc>
                <a:spcPct val="115000"/>
              </a:lnSpc>
              <a:buNone/>
            </a:pPr>
            <a:r>
              <a:rPr lang="en-US" sz="1050" dirty="0">
                <a:solidFill>
                  <a:srgbClr val="7AA2F7"/>
                </a:solidFill>
                <a:latin typeface="Courier New" pitchFamily="34" charset="0"/>
                <a:ea typeface="Courier New" pitchFamily="34" charset="-122"/>
                <a:cs typeface="Courier New" pitchFamily="34" charset="-120"/>
              </a:rPr>
              <a:t>const</a:t>
            </a:r>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productsSlice = </a:t>
            </a:r>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createSlice</a:t>
            </a:r>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a:t>
            </a: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name: </a:t>
            </a:r>
            <a:pPr algn="l" indent="0" marL="0">
              <a:lnSpc>
                <a:spcPct val="115000"/>
              </a:lnSpc>
              <a:buNone/>
            </a:pPr>
            <a:r>
              <a:rPr lang="en-US" sz="1050" dirty="0">
                <a:solidFill>
                  <a:srgbClr val="9ECE6A"/>
                </a:solidFill>
                <a:latin typeface="Courier New" pitchFamily="34" charset="0"/>
                <a:ea typeface="Courier New" pitchFamily="34" charset="-122"/>
                <a:cs typeface="Courier New" pitchFamily="34" charset="-120"/>
              </a:rPr>
              <a:t>'products'</a:t>
            </a:r>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initialState, reducers: {},</a:t>
            </a: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extraReducers: (builder) =&gt; {</a:t>
            </a: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builder</a:t>
            </a: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.addCase(fetchProducts.pending, (state) =&gt; {</a:t>
            </a: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state.status = </a:t>
            </a:r>
            <a:pPr algn="l" indent="0" marL="0">
              <a:lnSpc>
                <a:spcPct val="115000"/>
              </a:lnSpc>
              <a:buNone/>
            </a:pPr>
            <a:r>
              <a:rPr lang="en-US" sz="1050" dirty="0">
                <a:solidFill>
                  <a:srgbClr val="9ECE6A"/>
                </a:solidFill>
                <a:latin typeface="Courier New" pitchFamily="34" charset="0"/>
                <a:ea typeface="Courier New" pitchFamily="34" charset="-122"/>
                <a:cs typeface="Courier New" pitchFamily="34" charset="-120"/>
              </a:rPr>
              <a:t>'loading'</a:t>
            </a:r>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a:t>
            </a: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a:t>
            </a: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.addCase(fetchProducts.fulfilled,</a:t>
            </a: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(state, action) =&gt; {</a:t>
            </a: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state.status = </a:t>
            </a:r>
            <a:pPr algn="l" indent="0" marL="0">
              <a:lnSpc>
                <a:spcPct val="115000"/>
              </a:lnSpc>
              <a:buNone/>
            </a:pPr>
            <a:r>
              <a:rPr lang="en-US" sz="1050" dirty="0">
                <a:solidFill>
                  <a:srgbClr val="9ECE6A"/>
                </a:solidFill>
                <a:latin typeface="Courier New" pitchFamily="34" charset="0"/>
                <a:ea typeface="Courier New" pitchFamily="34" charset="-122"/>
                <a:cs typeface="Courier New" pitchFamily="34" charset="-120"/>
              </a:rPr>
              <a:t>'succeeded'</a:t>
            </a:r>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a:t>
            </a: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state.items = action.payload;</a:t>
            </a: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a:t>
            </a: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.addCase(fetchProducts.rejected,</a:t>
            </a: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(state, action) =&gt; {</a:t>
            </a: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state.status = </a:t>
            </a:r>
            <a:pPr algn="l" indent="0" marL="0">
              <a:lnSpc>
                <a:spcPct val="115000"/>
              </a:lnSpc>
              <a:buNone/>
            </a:pPr>
            <a:r>
              <a:rPr lang="en-US" sz="1050" dirty="0">
                <a:solidFill>
                  <a:srgbClr val="9ECE6A"/>
                </a:solidFill>
                <a:latin typeface="Courier New" pitchFamily="34" charset="0"/>
                <a:ea typeface="Courier New" pitchFamily="34" charset="-122"/>
                <a:cs typeface="Courier New" pitchFamily="34" charset="-120"/>
              </a:rPr>
              <a:t>'failed'</a:t>
            </a:r>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a:t>
            </a: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state.error = action.error.message;</a:t>
            </a: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a:t>
            </a: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a:t>
            </a: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66928" y="713232"/>
            <a:ext cx="9144000" cy="274320"/>
          </a:xfrm>
          <a:prstGeom prst="rect">
            <a:avLst/>
          </a:prstGeom>
          <a:noFill/>
          <a:ln/>
        </p:spPr>
        <p:txBody>
          <a:bodyPr wrap="square" lIns="0" tIns="0" rIns="0" bIns="0" rtlCol="0" anchor="ctr"/>
          <a:lstStyle/>
          <a:p>
            <a:pPr algn="l" indent="0" marL="0">
              <a:buNone/>
            </a:pPr>
            <a:r>
              <a:rPr lang="en-US" sz="1100" b="1" spc="200" kern="0" dirty="0">
                <a:solidFill>
                  <a:srgbClr val="DA2128"/>
                </a:solidFill>
                <a:latin typeface="Calibri" pitchFamily="34" charset="0"/>
                <a:ea typeface="Calibri" pitchFamily="34" charset="-122"/>
                <a:cs typeface="Calibri" pitchFamily="34" charset="-120"/>
              </a:rPr>
              <a:t>04 · CẤU TRÚC THƯ MỤC</a:t>
            </a:r>
            <a:endParaRPr lang="en-US" sz="1100" dirty="0"/>
          </a:p>
        </p:txBody>
      </p:sp>
      <p:sp>
        <p:nvSpPr>
          <p:cNvPr id="3" name="Text 1"/>
          <p:cNvSpPr txBox="1"/>
          <p:nvPr/>
        </p:nvSpPr>
        <p:spPr>
          <a:xfrm>
            <a:off x="566928" y="941832"/>
            <a:ext cx="10607040" cy="594360"/>
          </a:xfrm>
          <a:prstGeom prst="rect">
            <a:avLst/>
          </a:prstGeom>
          <a:noFill/>
          <a:ln/>
        </p:spPr>
        <p:txBody>
          <a:bodyPr wrap="square" lIns="0" tIns="0" rIns="0" bIns="0" rtlCol="0" anchor="ctr"/>
          <a:lstStyle/>
          <a:p>
            <a:pPr algn="l" indent="0" marL="0">
              <a:buNone/>
            </a:pPr>
            <a:r>
              <a:rPr lang="en-US" sz="2600" b="1" dirty="0">
                <a:solidFill>
                  <a:srgbClr val="222222"/>
                </a:solidFill>
                <a:latin typeface="Lato" pitchFamily="34" charset="0"/>
                <a:ea typeface="Lato" pitchFamily="34" charset="-122"/>
                <a:cs typeface="Lato" pitchFamily="34" charset="-120"/>
              </a:rPr>
              <a:t>Thiết kế cấu trúc thư mục feature-based</a:t>
            </a:r>
            <a:endParaRPr lang="en-US" sz="2600" dirty="0"/>
          </a:p>
        </p:txBody>
      </p:sp>
      <p:sp>
        <p:nvSpPr>
          <p:cNvPr id="4" name="Text 2"/>
          <p:cNvSpPr txBox="1"/>
          <p:nvPr/>
        </p:nvSpPr>
        <p:spPr>
          <a:xfrm>
            <a:off x="566928" y="1737360"/>
            <a:ext cx="5394960" cy="4023360"/>
          </a:xfrm>
          <a:prstGeom prst="rect">
            <a:avLst/>
          </a:prstGeom>
          <a:noFill/>
          <a:ln/>
        </p:spPr>
        <p:txBody>
          <a:bodyPr wrap="square" lIns="0" tIns="0" rIns="0" bIns="0" rtlCol="0" anchor="t"/>
          <a:lstStyle/>
          <a:p>
            <a:pPr algn="l" marL="228600" indent="-228600">
              <a:lnSpc>
                <a:spcPct val="120000"/>
              </a:lnSpc>
              <a:spcAft>
                <a:spcPts val="1200"/>
              </a:spcAft>
              <a:buSzPct val="100000"/>
              <a:buChar char="•"/>
            </a:pPr>
            <a:r>
              <a:rPr lang="en-US" sz="1400" dirty="0">
                <a:solidFill>
                  <a:srgbClr val="222222"/>
                </a:solidFill>
                <a:latin typeface="Calibri" pitchFamily="34" charset="0"/>
                <a:ea typeface="Calibri" pitchFamily="34" charset="-122"/>
                <a:cs typeface="Calibri" pitchFamily="34" charset="-120"/>
              </a:rPr>
              <a:t>Thay vì gom theo loại file (components/, reducers/, actions/ dùng chung cho cả app) như Redux cũ, nên tổ chức theo tính năng (feature-based / colocation)</a:t>
            </a:r>
            <a:endParaRPr lang="en-US" sz="1400" dirty="0"/>
          </a:p>
          <a:p>
            <a:pPr algn="l" marL="228600" indent="-228600">
              <a:lnSpc>
                <a:spcPct val="120000"/>
              </a:lnSpc>
              <a:spcAft>
                <a:spcPts val="1200"/>
              </a:spcAft>
              <a:buSzPct val="100000"/>
              <a:buChar char="•"/>
            </a:pPr>
            <a:r>
              <a:rPr lang="en-US" sz="1400" dirty="0">
                <a:solidFill>
                  <a:srgbClr val="222222"/>
                </a:solidFill>
                <a:latin typeface="Calibri" pitchFamily="34" charset="0"/>
                <a:ea typeface="Calibri" pitchFamily="34" charset="-122"/>
                <a:cs typeface="Calibri" pitchFamily="34" charset="-120"/>
              </a:rPr>
              <a:t>Mỗi feature (auth, cart, products…) có 1 thư mục riêng chứa đủ: slice, component, hook, type liên quan đến chính feature đó</a:t>
            </a:r>
            <a:endParaRPr lang="en-US" sz="1400" dirty="0"/>
          </a:p>
          <a:p>
            <a:pPr algn="l" marL="228600" indent="-228600">
              <a:lnSpc>
                <a:spcPct val="120000"/>
              </a:lnSpc>
              <a:spcAft>
                <a:spcPts val="1200"/>
              </a:spcAft>
              <a:buSzPct val="100000"/>
              <a:buChar char="•"/>
            </a:pPr>
            <a:r>
              <a:rPr lang="en-US" sz="1400" dirty="0">
                <a:solidFill>
                  <a:srgbClr val="222222"/>
                </a:solidFill>
                <a:latin typeface="Calibri" pitchFamily="34" charset="0"/>
                <a:ea typeface="Calibri" pitchFamily="34" charset="-122"/>
                <a:cs typeface="Calibri" pitchFamily="34" charset="-120"/>
              </a:rPr>
              <a:t>Lợi ích: dễ tìm code của 1 chức năng, dễ tách/xoá feature khi refactor, giảm xung đột khi nhiều người cùng làm việc song song</a:t>
            </a:r>
            <a:endParaRPr lang="en-US" sz="1400" dirty="0"/>
          </a:p>
          <a:p>
            <a:pPr algn="l" indent="0" marL="0">
              <a:lnSpc>
                <a:spcPct val="120000"/>
              </a:lnSpc>
              <a:spcAft>
                <a:spcPts val="1200"/>
              </a:spcAft>
              <a:buNone/>
            </a:pPr>
            <a:r>
              <a:rPr lang="en-US" sz="1400" b="1" dirty="0">
                <a:solidFill>
                  <a:srgbClr val="A81820"/>
                </a:solidFill>
                <a:latin typeface="Calibri" pitchFamily="34" charset="0"/>
                <a:ea typeface="Calibri" pitchFamily="34" charset="-122"/>
                <a:cs typeface="Calibri" pitchFamily="34" charset="-120"/>
              </a:rPr>
              <a:t>Quy ước: &lt;feature&gt;Slice.ts, use&lt;Feature&gt;.ts — mọi thứ liên quan 1 feature nằm cùng 1 chỗ, không rải rác khắp dự án.</a:t>
            </a:r>
            <a:endParaRPr lang="en-US" sz="1400" dirty="0"/>
          </a:p>
        </p:txBody>
      </p:sp>
      <p:sp>
        <p:nvSpPr>
          <p:cNvPr id="5" name="Shape 3"/>
          <p:cNvSpPr/>
          <p:nvPr/>
        </p:nvSpPr>
        <p:spPr>
          <a:xfrm>
            <a:off x="6309360" y="1737360"/>
            <a:ext cx="5349240" cy="4114800"/>
          </a:xfrm>
          <a:prstGeom prst="roundRect">
            <a:avLst>
              <a:gd name="adj" fmla="val 1778"/>
            </a:avLst>
          </a:prstGeom>
          <a:solidFill>
            <a:srgbClr val="1E1E2E"/>
          </a:solidFill>
          <a:ln/>
          <a:effectLst>
            <a:outerShdw sx="100000" sy="100000" kx="0" ky="0" algn="bl" rotWithShape="0" blurRad="76200" dist="25400" dir="5400000">
              <a:srgbClr val="000000">
                <a:alpha val="25000"/>
              </a:srgbClr>
            </a:outerShdw>
          </a:effectLst>
        </p:spPr>
      </p:sp>
      <p:sp>
        <p:nvSpPr>
          <p:cNvPr id="6" name="Text 4"/>
          <p:cNvSpPr txBox="1"/>
          <p:nvPr/>
        </p:nvSpPr>
        <p:spPr>
          <a:xfrm>
            <a:off x="6537960" y="1920240"/>
            <a:ext cx="4892040" cy="3749040"/>
          </a:xfrm>
          <a:prstGeom prst="rect">
            <a:avLst/>
          </a:prstGeom>
          <a:noFill/>
          <a:ln/>
        </p:spPr>
        <p:txBody>
          <a:bodyPr wrap="square" lIns="0" tIns="0" rIns="0" bIns="0" rtlCol="0" anchor="t"/>
          <a:lstStyle/>
          <a:p>
            <a:pPr algn="l" indent="0" marL="0">
              <a:lnSpc>
                <a:spcPct val="125000"/>
              </a:lnSpc>
              <a:buNone/>
            </a:pPr>
            <a:r>
              <a:rPr lang="en-US" sz="1250" dirty="0">
                <a:solidFill>
                  <a:srgbClr val="E0AF68"/>
                </a:solidFill>
                <a:latin typeface="Courier New" pitchFamily="34" charset="0"/>
                <a:ea typeface="Courier New" pitchFamily="34" charset="-122"/>
                <a:cs typeface="Courier New" pitchFamily="34" charset="-120"/>
              </a:rPr>
              <a:t>src/</a:t>
            </a:r>
            <a:endParaRPr lang="en-US" sz="1250" dirty="0"/>
          </a:p>
          <a:p>
            <a:pPr algn="l" indent="0" marL="0">
              <a:lnSpc>
                <a:spcPct val="125000"/>
              </a:lnSpc>
              <a:buNone/>
            </a:pPr>
            <a:r>
              <a:rPr lang="en-US" sz="1250" dirty="0">
                <a:solidFill>
                  <a:srgbClr val="D8DEE9"/>
                </a:solidFill>
                <a:latin typeface="Courier New" pitchFamily="34" charset="0"/>
                <a:ea typeface="Courier New" pitchFamily="34" charset="-122"/>
                <a:cs typeface="Courier New" pitchFamily="34" charset="-120"/>
              </a:rPr>
              <a:t>  app/</a:t>
            </a:r>
            <a:pPr algn="l" indent="0" marL="0">
              <a:lnSpc>
                <a:spcPct val="125000"/>
              </a:lnSpc>
              <a:buNone/>
            </a:pPr>
            <a:r>
              <a:rPr lang="en-US" sz="1250" dirty="0">
                <a:solidFill>
                  <a:srgbClr val="6B7280"/>
                </a:solidFill>
                <a:latin typeface="Courier New" pitchFamily="34" charset="0"/>
                <a:ea typeface="Courier New" pitchFamily="34" charset="-122"/>
                <a:cs typeface="Courier New" pitchFamily="34" charset="-120"/>
              </a:rPr>
              <a:t>            // cấu hình chung toàn app</a:t>
            </a:r>
            <a:endParaRPr lang="en-US" sz="1250" dirty="0"/>
          </a:p>
          <a:p>
            <a:pPr algn="l" indent="0" marL="0">
              <a:lnSpc>
                <a:spcPct val="125000"/>
              </a:lnSpc>
              <a:buNone/>
            </a:pPr>
            <a:r>
              <a:rPr lang="en-US" sz="1250" dirty="0">
                <a:solidFill>
                  <a:srgbClr val="D8DEE9"/>
                </a:solidFill>
                <a:latin typeface="Courier New" pitchFamily="34" charset="0"/>
                <a:ea typeface="Courier New" pitchFamily="34" charset="-122"/>
                <a:cs typeface="Courier New" pitchFamily="34" charset="-120"/>
              </a:rPr>
              <a:t>    store.ts</a:t>
            </a:r>
            <a:pPr algn="l" indent="0" marL="0">
              <a:lnSpc>
                <a:spcPct val="125000"/>
              </a:lnSpc>
              <a:buNone/>
            </a:pPr>
            <a:r>
              <a:rPr lang="en-US" sz="1250" dirty="0">
                <a:solidFill>
                  <a:srgbClr val="6B7280"/>
                </a:solidFill>
                <a:latin typeface="Courier New" pitchFamily="34" charset="0"/>
                <a:ea typeface="Courier New" pitchFamily="34" charset="-122"/>
                <a:cs typeface="Courier New" pitchFamily="34" charset="-120"/>
              </a:rPr>
              <a:t>      // configureStore</a:t>
            </a:r>
            <a:endParaRPr lang="en-US" sz="1250" dirty="0"/>
          </a:p>
          <a:p>
            <a:pPr algn="l" indent="0" marL="0">
              <a:lnSpc>
                <a:spcPct val="125000"/>
              </a:lnSpc>
              <a:buNone/>
            </a:pPr>
            <a:r>
              <a:rPr lang="en-US" sz="1250" dirty="0">
                <a:solidFill>
                  <a:srgbClr val="D8DEE9"/>
                </a:solidFill>
                <a:latin typeface="Courier New" pitchFamily="34" charset="0"/>
                <a:ea typeface="Courier New" pitchFamily="34" charset="-122"/>
                <a:cs typeface="Courier New" pitchFamily="34" charset="-120"/>
              </a:rPr>
              <a:t>    hooks.ts</a:t>
            </a:r>
            <a:pPr algn="l" indent="0" marL="0">
              <a:lnSpc>
                <a:spcPct val="125000"/>
              </a:lnSpc>
              <a:buNone/>
            </a:pPr>
            <a:r>
              <a:rPr lang="en-US" sz="1250" dirty="0">
                <a:solidFill>
                  <a:srgbClr val="6B7280"/>
                </a:solidFill>
                <a:latin typeface="Courier New" pitchFamily="34" charset="0"/>
                <a:ea typeface="Courier New" pitchFamily="34" charset="-122"/>
                <a:cs typeface="Courier New" pitchFamily="34" charset="-120"/>
              </a:rPr>
              <a:t>      // useAppSelector/useAppDispatch</a:t>
            </a:r>
            <a:endParaRPr lang="en-US" sz="1250" dirty="0"/>
          </a:p>
          <a:p>
            <a:pPr algn="l" indent="0" marL="0">
              <a:lnSpc>
                <a:spcPct val="125000"/>
              </a:lnSpc>
              <a:buNone/>
            </a:pPr>
            <a:r>
              <a:rPr lang="en-US" sz="1250" dirty="0">
                <a:solidFill>
                  <a:srgbClr val="E0AF68"/>
                </a:solidFill>
                <a:latin typeface="Courier New" pitchFamily="34" charset="0"/>
                <a:ea typeface="Courier New" pitchFamily="34" charset="-122"/>
                <a:cs typeface="Courier New" pitchFamily="34" charset="-120"/>
              </a:rPr>
              <a:t>  features/</a:t>
            </a:r>
            <a:endParaRPr lang="en-US" sz="1250" dirty="0"/>
          </a:p>
          <a:p>
            <a:pPr algn="l" indent="0" marL="0">
              <a:lnSpc>
                <a:spcPct val="125000"/>
              </a:lnSpc>
              <a:buNone/>
            </a:pPr>
            <a:r>
              <a:rPr lang="en-US" sz="1250" dirty="0">
                <a:solidFill>
                  <a:srgbClr val="E0AF68"/>
                </a:solidFill>
                <a:latin typeface="Courier New" pitchFamily="34" charset="0"/>
                <a:ea typeface="Courier New" pitchFamily="34" charset="-122"/>
                <a:cs typeface="Courier New" pitchFamily="34" charset="-120"/>
              </a:rPr>
              <a:t>    auth/</a:t>
            </a:r>
            <a:endParaRPr lang="en-US" sz="1250" dirty="0"/>
          </a:p>
          <a:p>
            <a:pPr algn="l" indent="0" marL="0">
              <a:lnSpc>
                <a:spcPct val="125000"/>
              </a:lnSpc>
              <a:buNone/>
            </a:pPr>
            <a:r>
              <a:rPr lang="en-US" sz="1250" dirty="0">
                <a:solidFill>
                  <a:srgbClr val="D8DEE9"/>
                </a:solidFill>
                <a:latin typeface="Courier New" pitchFamily="34" charset="0"/>
                <a:ea typeface="Courier New" pitchFamily="34" charset="-122"/>
                <a:cs typeface="Courier New" pitchFamily="34" charset="-120"/>
              </a:rPr>
              <a:t>      authSlice.ts</a:t>
            </a:r>
            <a:endParaRPr lang="en-US" sz="1250" dirty="0"/>
          </a:p>
          <a:p>
            <a:pPr algn="l" indent="0" marL="0">
              <a:lnSpc>
                <a:spcPct val="125000"/>
              </a:lnSpc>
              <a:buNone/>
            </a:pPr>
            <a:r>
              <a:rPr lang="en-US" sz="1250" dirty="0">
                <a:solidFill>
                  <a:srgbClr val="D8DEE9"/>
                </a:solidFill>
                <a:latin typeface="Courier New" pitchFamily="34" charset="0"/>
                <a:ea typeface="Courier New" pitchFamily="34" charset="-122"/>
                <a:cs typeface="Courier New" pitchFamily="34" charset="-120"/>
              </a:rPr>
              <a:t>      LoginForm.tsx</a:t>
            </a:r>
            <a:endParaRPr lang="en-US" sz="1250" dirty="0"/>
          </a:p>
          <a:p>
            <a:pPr algn="l" indent="0" marL="0">
              <a:lnSpc>
                <a:spcPct val="125000"/>
              </a:lnSpc>
              <a:buNone/>
            </a:pPr>
            <a:r>
              <a:rPr lang="en-US" sz="1250" dirty="0">
                <a:solidFill>
                  <a:srgbClr val="E0AF68"/>
                </a:solidFill>
                <a:latin typeface="Courier New" pitchFamily="34" charset="0"/>
                <a:ea typeface="Courier New" pitchFamily="34" charset="-122"/>
                <a:cs typeface="Courier New" pitchFamily="34" charset="-120"/>
              </a:rPr>
              <a:t>    cart/</a:t>
            </a:r>
            <a:endParaRPr lang="en-US" sz="1250" dirty="0"/>
          </a:p>
          <a:p>
            <a:pPr algn="l" indent="0" marL="0">
              <a:lnSpc>
                <a:spcPct val="125000"/>
              </a:lnSpc>
              <a:buNone/>
            </a:pPr>
            <a:r>
              <a:rPr lang="en-US" sz="1250" dirty="0">
                <a:solidFill>
                  <a:srgbClr val="D8DEE9"/>
                </a:solidFill>
                <a:latin typeface="Courier New" pitchFamily="34" charset="0"/>
                <a:ea typeface="Courier New" pitchFamily="34" charset="-122"/>
                <a:cs typeface="Courier New" pitchFamily="34" charset="-120"/>
              </a:rPr>
              <a:t>      cartSlice.ts</a:t>
            </a:r>
            <a:endParaRPr lang="en-US" sz="1250" dirty="0"/>
          </a:p>
          <a:p>
            <a:pPr algn="l" indent="0" marL="0">
              <a:lnSpc>
                <a:spcPct val="125000"/>
              </a:lnSpc>
              <a:buNone/>
            </a:pPr>
            <a:r>
              <a:rPr lang="en-US" sz="1250" dirty="0">
                <a:solidFill>
                  <a:srgbClr val="D8DEE9"/>
                </a:solidFill>
                <a:latin typeface="Courier New" pitchFamily="34" charset="0"/>
                <a:ea typeface="Courier New" pitchFamily="34" charset="-122"/>
                <a:cs typeface="Courier New" pitchFamily="34" charset="-120"/>
              </a:rPr>
              <a:t>      CartSummary.tsx</a:t>
            </a:r>
            <a:endParaRPr lang="en-US" sz="1250" dirty="0"/>
          </a:p>
          <a:p>
            <a:pPr algn="l" indent="0" marL="0">
              <a:lnSpc>
                <a:spcPct val="125000"/>
              </a:lnSpc>
              <a:buNone/>
            </a:pPr>
            <a:r>
              <a:rPr lang="en-US" sz="1250" dirty="0">
                <a:solidFill>
                  <a:srgbClr val="E0AF68"/>
                </a:solidFill>
                <a:latin typeface="Courier New" pitchFamily="34" charset="0"/>
                <a:ea typeface="Courier New" pitchFamily="34" charset="-122"/>
                <a:cs typeface="Courier New" pitchFamily="34" charset="-120"/>
              </a:rPr>
              <a:t>    products/</a:t>
            </a:r>
            <a:endParaRPr lang="en-US" sz="1250" dirty="0"/>
          </a:p>
          <a:p>
            <a:pPr algn="l" indent="0" marL="0">
              <a:lnSpc>
                <a:spcPct val="125000"/>
              </a:lnSpc>
              <a:buNone/>
            </a:pPr>
            <a:r>
              <a:rPr lang="en-US" sz="1250" dirty="0">
                <a:solidFill>
                  <a:srgbClr val="D8DEE9"/>
                </a:solidFill>
                <a:latin typeface="Courier New" pitchFamily="34" charset="0"/>
                <a:ea typeface="Courier New" pitchFamily="34" charset="-122"/>
                <a:cs typeface="Courier New" pitchFamily="34" charset="-120"/>
              </a:rPr>
              <a:t>      productsSlice.ts</a:t>
            </a:r>
            <a:endParaRPr lang="en-US" sz="1250" dirty="0"/>
          </a:p>
          <a:p>
            <a:pPr algn="l" indent="0" marL="0">
              <a:lnSpc>
                <a:spcPct val="125000"/>
              </a:lnSpc>
              <a:buNone/>
            </a:pPr>
            <a:r>
              <a:rPr lang="en-US" sz="1250" dirty="0">
                <a:solidFill>
                  <a:srgbClr val="D8DEE9"/>
                </a:solidFill>
                <a:latin typeface="Courier New" pitchFamily="34" charset="0"/>
                <a:ea typeface="Courier New" pitchFamily="34" charset="-122"/>
                <a:cs typeface="Courier New" pitchFamily="34" charset="-120"/>
              </a:rPr>
              <a:t>      productsApi.ts</a:t>
            </a:r>
            <a:pPr algn="l" indent="0" marL="0">
              <a:lnSpc>
                <a:spcPct val="125000"/>
              </a:lnSpc>
              <a:buNone/>
            </a:pPr>
            <a:r>
              <a:rPr lang="en-US" sz="1250" dirty="0">
                <a:solidFill>
                  <a:srgbClr val="6B7280"/>
                </a:solidFill>
                <a:latin typeface="Courier New" pitchFamily="34" charset="0"/>
                <a:ea typeface="Courier New" pitchFamily="34" charset="-122"/>
                <a:cs typeface="Courier New" pitchFamily="34" charset="-120"/>
              </a:rPr>
              <a:t>  // RTK Query</a:t>
            </a:r>
            <a:endParaRPr lang="en-US" sz="1250" dirty="0"/>
          </a:p>
          <a:p>
            <a:pPr algn="l" indent="0" marL="0">
              <a:lnSpc>
                <a:spcPct val="125000"/>
              </a:lnSpc>
              <a:buNone/>
            </a:pPr>
            <a:r>
              <a:rPr lang="en-US" sz="1250" dirty="0">
                <a:solidFill>
                  <a:srgbClr val="D8DEE9"/>
                </a:solidFill>
                <a:latin typeface="Courier New" pitchFamily="34" charset="0"/>
                <a:ea typeface="Courier New" pitchFamily="34" charset="-122"/>
                <a:cs typeface="Courier New" pitchFamily="34" charset="-120"/>
              </a:rPr>
              <a:t>      ProductList.tsx</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66928" y="713232"/>
            <a:ext cx="9144000" cy="274320"/>
          </a:xfrm>
          <a:prstGeom prst="rect">
            <a:avLst/>
          </a:prstGeom>
          <a:noFill/>
          <a:ln/>
        </p:spPr>
        <p:txBody>
          <a:bodyPr wrap="square" lIns="0" tIns="0" rIns="0" bIns="0" rtlCol="0" anchor="ctr"/>
          <a:lstStyle/>
          <a:p>
            <a:pPr algn="l" indent="0" marL="0">
              <a:buNone/>
            </a:pPr>
            <a:r>
              <a:rPr lang="en-US" sz="1100" b="1" spc="200" kern="0" dirty="0">
                <a:solidFill>
                  <a:srgbClr val="DA2128"/>
                </a:solidFill>
                <a:latin typeface="Calibri" pitchFamily="34" charset="0"/>
                <a:ea typeface="Calibri" pitchFamily="34" charset="-122"/>
                <a:cs typeface="Calibri" pitchFamily="34" charset="-120"/>
              </a:rPr>
              <a:t>05 · KẾT NỐI REDUX VỚI REACT</a:t>
            </a:r>
            <a:endParaRPr lang="en-US" sz="1100" dirty="0"/>
          </a:p>
        </p:txBody>
      </p:sp>
      <p:sp>
        <p:nvSpPr>
          <p:cNvPr id="3" name="Text 1"/>
          <p:cNvSpPr txBox="1"/>
          <p:nvPr/>
        </p:nvSpPr>
        <p:spPr>
          <a:xfrm>
            <a:off x="566928" y="941832"/>
            <a:ext cx="10607040" cy="594360"/>
          </a:xfrm>
          <a:prstGeom prst="rect">
            <a:avLst/>
          </a:prstGeom>
          <a:noFill/>
          <a:ln/>
        </p:spPr>
        <p:txBody>
          <a:bodyPr wrap="square" lIns="0" tIns="0" rIns="0" bIns="0" rtlCol="0" anchor="ctr"/>
          <a:lstStyle/>
          <a:p>
            <a:pPr algn="l" indent="0" marL="0">
              <a:buNone/>
            </a:pPr>
            <a:r>
              <a:rPr lang="en-US" sz="2600" b="1" dirty="0">
                <a:solidFill>
                  <a:srgbClr val="222222"/>
                </a:solidFill>
                <a:latin typeface="Lato" pitchFamily="34" charset="0"/>
                <a:ea typeface="Lato" pitchFamily="34" charset="-122"/>
                <a:cs typeface="Lato" pitchFamily="34" charset="-120"/>
              </a:rPr>
              <a:t>useAppSelector &amp; useAppDispatch — Vì sao cần?</a:t>
            </a:r>
            <a:endParaRPr lang="en-US" sz="2600" dirty="0"/>
          </a:p>
        </p:txBody>
      </p:sp>
      <p:sp>
        <p:nvSpPr>
          <p:cNvPr id="4" name="Text 2"/>
          <p:cNvSpPr txBox="1"/>
          <p:nvPr/>
        </p:nvSpPr>
        <p:spPr>
          <a:xfrm>
            <a:off x="566928" y="1737360"/>
            <a:ext cx="5394960" cy="3566160"/>
          </a:xfrm>
          <a:prstGeom prst="rect">
            <a:avLst/>
          </a:prstGeom>
          <a:noFill/>
          <a:ln/>
        </p:spPr>
        <p:txBody>
          <a:bodyPr wrap="square" lIns="0" tIns="0" rIns="0" bIns="0" rtlCol="0" anchor="t"/>
          <a:lstStyle/>
          <a:p>
            <a:pPr algn="l" marL="228600" indent="-228600">
              <a:lnSpc>
                <a:spcPct val="115000"/>
              </a:lnSpc>
              <a:spcAft>
                <a:spcPts val="1200"/>
              </a:spcAft>
              <a:buSzPct val="100000"/>
              <a:buChar char="•"/>
            </a:pPr>
            <a:r>
              <a:rPr lang="en-US" sz="1450" dirty="0">
                <a:solidFill>
                  <a:srgbClr val="222222"/>
                </a:solidFill>
                <a:latin typeface="Calibri" pitchFamily="34" charset="0"/>
                <a:ea typeface="Calibri" pitchFamily="34" charset="-122"/>
                <a:cs typeface="Calibri" pitchFamily="34" charset="-120"/>
              </a:rPr>
              <a:t>useSelector và useDispatch gốc của react-redux không tự biết kiểu RootState/AppDispatch của dự án → phải ép kiểu thủ công ở mọi nơi gọi</a:t>
            </a:r>
            <a:endParaRPr lang="en-US" sz="1450" dirty="0"/>
          </a:p>
          <a:p>
            <a:pPr algn="l" marL="228600" indent="-228600">
              <a:lnSpc>
                <a:spcPct val="115000"/>
              </a:lnSpc>
              <a:spcAft>
                <a:spcPts val="1200"/>
              </a:spcAft>
              <a:buSzPct val="100000"/>
              <a:buChar char="•"/>
            </a:pPr>
            <a:r>
              <a:rPr lang="en-US" sz="1450" dirty="0">
                <a:solidFill>
                  <a:srgbClr val="222222"/>
                </a:solidFill>
                <a:latin typeface="Calibri" pitchFamily="34" charset="0"/>
                <a:ea typeface="Calibri" pitchFamily="34" charset="-122"/>
                <a:cs typeface="Calibri" pitchFamily="34" charset="-120"/>
              </a:rPr>
              <a:t>Giải pháp: tạo 2 hook dùng riêng cho dự án, đã gắn sẵn kiểu, dùng thay thế hoàn toàn bản gốc</a:t>
            </a:r>
            <a:endParaRPr lang="en-US" sz="1450" dirty="0"/>
          </a:p>
          <a:p>
            <a:pPr algn="l" marL="228600" indent="-228600">
              <a:lnSpc>
                <a:spcPct val="115000"/>
              </a:lnSpc>
              <a:spcAft>
                <a:spcPts val="1200"/>
              </a:spcAft>
              <a:buSzPct val="100000"/>
              <a:buChar char="•"/>
            </a:pPr>
            <a:r>
              <a:rPr lang="en-US" sz="1450" dirty="0">
                <a:solidFill>
                  <a:srgbClr val="222222"/>
                </a:solidFill>
                <a:latin typeface="Calibri" pitchFamily="34" charset="0"/>
                <a:ea typeface="Calibri" pitchFamily="34" charset="-122"/>
                <a:cs typeface="Calibri" pitchFamily="34" charset="-120"/>
              </a:rPr>
              <a:t>TypedUseSelectorHook&lt;RootState&gt; giúp useAppSelector tự gợi ý đúng cấu trúc state khi gõ code</a:t>
            </a:r>
            <a:endParaRPr lang="en-US" sz="1450" dirty="0"/>
          </a:p>
          <a:p>
            <a:pPr algn="l" indent="0" marL="0">
              <a:lnSpc>
                <a:spcPct val="115000"/>
              </a:lnSpc>
              <a:spcAft>
                <a:spcPts val="1200"/>
              </a:spcAft>
              <a:buNone/>
            </a:pPr>
            <a:r>
              <a:rPr lang="en-US" sz="1450" b="1" dirty="0">
                <a:solidFill>
                  <a:srgbClr val="A81820"/>
                </a:solidFill>
                <a:latin typeface="Calibri" pitchFamily="34" charset="0"/>
                <a:ea typeface="Calibri" pitchFamily="34" charset="-122"/>
                <a:cs typeface="Calibri" pitchFamily="34" charset="-120"/>
              </a:rPr>
              <a:t>Quy tắc: mọi component chỉ import useAppSelector/useAppDispatch, KHÔNG import useSelector/useDispatch trực tiếp từ react-redux.</a:t>
            </a:r>
            <a:endParaRPr lang="en-US" sz="1450" dirty="0"/>
          </a:p>
        </p:txBody>
      </p:sp>
      <p:sp>
        <p:nvSpPr>
          <p:cNvPr id="5" name="Shape 3"/>
          <p:cNvSpPr/>
          <p:nvPr/>
        </p:nvSpPr>
        <p:spPr>
          <a:xfrm>
            <a:off x="6309360" y="1737360"/>
            <a:ext cx="5349240" cy="4023360"/>
          </a:xfrm>
          <a:prstGeom prst="roundRect">
            <a:avLst>
              <a:gd name="adj" fmla="val 1818"/>
            </a:avLst>
          </a:prstGeom>
          <a:solidFill>
            <a:srgbClr val="1E1E2E"/>
          </a:solidFill>
          <a:ln/>
          <a:effectLst>
            <a:outerShdw sx="100000" sy="100000" kx="0" ky="0" algn="bl" rotWithShape="0" blurRad="76200" dist="25400" dir="5400000">
              <a:srgbClr val="000000">
                <a:alpha val="25000"/>
              </a:srgbClr>
            </a:outerShdw>
          </a:effectLst>
        </p:spPr>
      </p:sp>
      <p:sp>
        <p:nvSpPr>
          <p:cNvPr id="6" name="Text 4"/>
          <p:cNvSpPr txBox="1"/>
          <p:nvPr/>
        </p:nvSpPr>
        <p:spPr>
          <a:xfrm>
            <a:off x="6537960" y="1920240"/>
            <a:ext cx="4892040" cy="3657600"/>
          </a:xfrm>
          <a:prstGeom prst="rect">
            <a:avLst/>
          </a:prstGeom>
          <a:noFill/>
          <a:ln/>
        </p:spPr>
        <p:txBody>
          <a:bodyPr wrap="square" lIns="0" tIns="0" rIns="0" bIns="0" rtlCol="0" anchor="t"/>
          <a:lstStyle/>
          <a:p>
            <a:pPr algn="l" indent="0" marL="0">
              <a:lnSpc>
                <a:spcPct val="125000"/>
              </a:lnSpc>
              <a:buNone/>
            </a:pPr>
            <a:r>
              <a:rPr lang="en-US" sz="1250" dirty="0">
                <a:solidFill>
                  <a:srgbClr val="6B7280"/>
                </a:solidFill>
                <a:latin typeface="Courier New" pitchFamily="34" charset="0"/>
                <a:ea typeface="Courier New" pitchFamily="34" charset="-122"/>
                <a:cs typeface="Courier New" pitchFamily="34" charset="-120"/>
              </a:rPr>
              <a:t>// hooks.ts</a:t>
            </a:r>
            <a:endParaRPr lang="en-US" sz="1250" dirty="0"/>
          </a:p>
          <a:p>
            <a:pPr algn="l" indent="0" marL="0">
              <a:lnSpc>
                <a:spcPct val="125000"/>
              </a:lnSpc>
              <a:buNone/>
            </a:pPr>
            <a:r>
              <a:rPr lang="en-US" sz="1250" dirty="0">
                <a:solidFill>
                  <a:srgbClr val="7AA2F7"/>
                </a:solidFill>
                <a:latin typeface="Courier New" pitchFamily="34" charset="0"/>
                <a:ea typeface="Courier New" pitchFamily="34" charset="-122"/>
                <a:cs typeface="Courier New" pitchFamily="34" charset="-120"/>
              </a:rPr>
              <a:t>import</a:t>
            </a:r>
            <a:pPr algn="l" indent="0" marL="0">
              <a:lnSpc>
                <a:spcPct val="125000"/>
              </a:lnSpc>
              <a:buNone/>
            </a:pPr>
            <a:r>
              <a:rPr lang="en-US" sz="1250" dirty="0">
                <a:solidFill>
                  <a:srgbClr val="D8DEE9"/>
                </a:solidFill>
                <a:latin typeface="Courier New" pitchFamily="34" charset="0"/>
                <a:ea typeface="Courier New" pitchFamily="34" charset="-122"/>
                <a:cs typeface="Courier New" pitchFamily="34" charset="-120"/>
              </a:rPr>
              <a:t> { </a:t>
            </a:r>
            <a:pPr algn="l" indent="0" marL="0">
              <a:lnSpc>
                <a:spcPct val="125000"/>
              </a:lnSpc>
              <a:buNone/>
            </a:pPr>
            <a:r>
              <a:rPr lang="en-US" sz="1250" dirty="0">
                <a:solidFill>
                  <a:srgbClr val="E0AF68"/>
                </a:solidFill>
                <a:latin typeface="Courier New" pitchFamily="34" charset="0"/>
                <a:ea typeface="Courier New" pitchFamily="34" charset="-122"/>
                <a:cs typeface="Courier New" pitchFamily="34" charset="-120"/>
              </a:rPr>
              <a:t>TypedUseSelectorHook</a:t>
            </a:r>
            <a:pPr algn="l" indent="0" marL="0">
              <a:lnSpc>
                <a:spcPct val="125000"/>
              </a:lnSpc>
              <a:buNone/>
            </a:pPr>
            <a:r>
              <a:rPr lang="en-US" sz="1250" dirty="0">
                <a:solidFill>
                  <a:srgbClr val="D8DEE9"/>
                </a:solidFill>
                <a:latin typeface="Courier New" pitchFamily="34" charset="0"/>
                <a:ea typeface="Courier New" pitchFamily="34" charset="-122"/>
                <a:cs typeface="Courier New" pitchFamily="34" charset="-120"/>
              </a:rPr>
              <a:t>, useDispatch, useSelector } </a:t>
            </a:r>
            <a:pPr algn="l" indent="0" marL="0">
              <a:lnSpc>
                <a:spcPct val="125000"/>
              </a:lnSpc>
              <a:buNone/>
            </a:pPr>
            <a:r>
              <a:rPr lang="en-US" sz="1250" dirty="0">
                <a:solidFill>
                  <a:srgbClr val="7AA2F7"/>
                </a:solidFill>
                <a:latin typeface="Courier New" pitchFamily="34" charset="0"/>
                <a:ea typeface="Courier New" pitchFamily="34" charset="-122"/>
                <a:cs typeface="Courier New" pitchFamily="34" charset="-120"/>
              </a:rPr>
              <a:t>from</a:t>
            </a:r>
            <a:pPr algn="l" indent="0" marL="0">
              <a:lnSpc>
                <a:spcPct val="125000"/>
              </a:lnSpc>
              <a:buNone/>
            </a:pPr>
            <a:r>
              <a:rPr lang="en-US" sz="1250" dirty="0">
                <a:solidFill>
                  <a:srgbClr val="D8DEE9"/>
                </a:solidFill>
                <a:latin typeface="Courier New" pitchFamily="34" charset="0"/>
                <a:ea typeface="Courier New" pitchFamily="34" charset="-122"/>
                <a:cs typeface="Courier New" pitchFamily="34" charset="-120"/>
              </a:rPr>
              <a:t> </a:t>
            </a:r>
            <a:pPr algn="l" indent="0" marL="0">
              <a:lnSpc>
                <a:spcPct val="125000"/>
              </a:lnSpc>
              <a:buNone/>
            </a:pPr>
            <a:r>
              <a:rPr lang="en-US" sz="1250" dirty="0">
                <a:solidFill>
                  <a:srgbClr val="9ECE6A"/>
                </a:solidFill>
                <a:latin typeface="Courier New" pitchFamily="34" charset="0"/>
                <a:ea typeface="Courier New" pitchFamily="34" charset="-122"/>
                <a:cs typeface="Courier New" pitchFamily="34" charset="-120"/>
              </a:rPr>
              <a:t>'react-redux'</a:t>
            </a:r>
            <a:pPr algn="l" indent="0" marL="0">
              <a:lnSpc>
                <a:spcPct val="125000"/>
              </a:lnSpc>
              <a:buNone/>
            </a:pPr>
            <a:r>
              <a:rPr lang="en-US" sz="1250" dirty="0">
                <a:solidFill>
                  <a:srgbClr val="D8DEE9"/>
                </a:solidFill>
                <a:latin typeface="Courier New" pitchFamily="34" charset="0"/>
                <a:ea typeface="Courier New" pitchFamily="34" charset="-122"/>
                <a:cs typeface="Courier New" pitchFamily="34" charset="-120"/>
              </a:rPr>
              <a:t>;</a:t>
            </a:r>
            <a:endParaRPr lang="en-US" sz="1250" dirty="0"/>
          </a:p>
          <a:p>
            <a:pPr algn="l" indent="0" marL="0">
              <a:lnSpc>
                <a:spcPct val="125000"/>
              </a:lnSpc>
              <a:buNone/>
            </a:pPr>
            <a:r>
              <a:rPr lang="en-US" sz="1250" dirty="0">
                <a:solidFill>
                  <a:srgbClr val="7AA2F7"/>
                </a:solidFill>
                <a:latin typeface="Courier New" pitchFamily="34" charset="0"/>
                <a:ea typeface="Courier New" pitchFamily="34" charset="-122"/>
                <a:cs typeface="Courier New" pitchFamily="34" charset="-120"/>
              </a:rPr>
              <a:t>import type</a:t>
            </a:r>
            <a:pPr algn="l" indent="0" marL="0">
              <a:lnSpc>
                <a:spcPct val="125000"/>
              </a:lnSpc>
              <a:buNone/>
            </a:pPr>
            <a:r>
              <a:rPr lang="en-US" sz="1250" dirty="0">
                <a:solidFill>
                  <a:srgbClr val="D8DEE9"/>
                </a:solidFill>
                <a:latin typeface="Courier New" pitchFamily="34" charset="0"/>
                <a:ea typeface="Courier New" pitchFamily="34" charset="-122"/>
                <a:cs typeface="Courier New" pitchFamily="34" charset="-120"/>
              </a:rPr>
              <a:t> { </a:t>
            </a:r>
            <a:pPr algn="l" indent="0" marL="0">
              <a:lnSpc>
                <a:spcPct val="125000"/>
              </a:lnSpc>
              <a:buNone/>
            </a:pPr>
            <a:r>
              <a:rPr lang="en-US" sz="1250" dirty="0">
                <a:solidFill>
                  <a:srgbClr val="E0AF68"/>
                </a:solidFill>
                <a:latin typeface="Courier New" pitchFamily="34" charset="0"/>
                <a:ea typeface="Courier New" pitchFamily="34" charset="-122"/>
                <a:cs typeface="Courier New" pitchFamily="34" charset="-120"/>
              </a:rPr>
              <a:t>RootState</a:t>
            </a:r>
            <a:pPr algn="l" indent="0" marL="0">
              <a:lnSpc>
                <a:spcPct val="125000"/>
              </a:lnSpc>
              <a:buNone/>
            </a:pPr>
            <a:r>
              <a:rPr lang="en-US" sz="1250" dirty="0">
                <a:solidFill>
                  <a:srgbClr val="D8DEE9"/>
                </a:solidFill>
                <a:latin typeface="Courier New" pitchFamily="34" charset="0"/>
                <a:ea typeface="Courier New" pitchFamily="34" charset="-122"/>
                <a:cs typeface="Courier New" pitchFamily="34" charset="-120"/>
              </a:rPr>
              <a:t>, </a:t>
            </a:r>
            <a:pPr algn="l" indent="0" marL="0">
              <a:lnSpc>
                <a:spcPct val="125000"/>
              </a:lnSpc>
              <a:buNone/>
            </a:pPr>
            <a:r>
              <a:rPr lang="en-US" sz="1250" dirty="0">
                <a:solidFill>
                  <a:srgbClr val="E0AF68"/>
                </a:solidFill>
                <a:latin typeface="Courier New" pitchFamily="34" charset="0"/>
                <a:ea typeface="Courier New" pitchFamily="34" charset="-122"/>
                <a:cs typeface="Courier New" pitchFamily="34" charset="-120"/>
              </a:rPr>
              <a:t>AppDispatch</a:t>
            </a:r>
            <a:pPr algn="l" indent="0" marL="0">
              <a:lnSpc>
                <a:spcPct val="125000"/>
              </a:lnSpc>
              <a:buNone/>
            </a:pPr>
            <a:r>
              <a:rPr lang="en-US" sz="1250" dirty="0">
                <a:solidFill>
                  <a:srgbClr val="D8DEE9"/>
                </a:solidFill>
                <a:latin typeface="Courier New" pitchFamily="34" charset="0"/>
                <a:ea typeface="Courier New" pitchFamily="34" charset="-122"/>
                <a:cs typeface="Courier New" pitchFamily="34" charset="-120"/>
              </a:rPr>
              <a:t> } </a:t>
            </a:r>
            <a:pPr algn="l" indent="0" marL="0">
              <a:lnSpc>
                <a:spcPct val="125000"/>
              </a:lnSpc>
              <a:buNone/>
            </a:pPr>
            <a:r>
              <a:rPr lang="en-US" sz="1250" dirty="0">
                <a:solidFill>
                  <a:srgbClr val="7AA2F7"/>
                </a:solidFill>
                <a:latin typeface="Courier New" pitchFamily="34" charset="0"/>
                <a:ea typeface="Courier New" pitchFamily="34" charset="-122"/>
                <a:cs typeface="Courier New" pitchFamily="34" charset="-120"/>
              </a:rPr>
              <a:t>from</a:t>
            </a:r>
            <a:pPr algn="l" indent="0" marL="0">
              <a:lnSpc>
                <a:spcPct val="125000"/>
              </a:lnSpc>
              <a:buNone/>
            </a:pPr>
            <a:r>
              <a:rPr lang="en-US" sz="1250" dirty="0">
                <a:solidFill>
                  <a:srgbClr val="D8DEE9"/>
                </a:solidFill>
                <a:latin typeface="Courier New" pitchFamily="34" charset="0"/>
                <a:ea typeface="Courier New" pitchFamily="34" charset="-122"/>
                <a:cs typeface="Courier New" pitchFamily="34" charset="-120"/>
              </a:rPr>
              <a:t> </a:t>
            </a:r>
            <a:pPr algn="l" indent="0" marL="0">
              <a:lnSpc>
                <a:spcPct val="125000"/>
              </a:lnSpc>
              <a:buNone/>
            </a:pPr>
            <a:r>
              <a:rPr lang="en-US" sz="1250" dirty="0">
                <a:solidFill>
                  <a:srgbClr val="9ECE6A"/>
                </a:solidFill>
                <a:latin typeface="Courier New" pitchFamily="34" charset="0"/>
                <a:ea typeface="Courier New" pitchFamily="34" charset="-122"/>
                <a:cs typeface="Courier New" pitchFamily="34" charset="-120"/>
              </a:rPr>
              <a:t>'./store'</a:t>
            </a:r>
            <a:pPr algn="l" indent="0" marL="0">
              <a:lnSpc>
                <a:spcPct val="125000"/>
              </a:lnSpc>
              <a:buNone/>
            </a:pPr>
            <a:r>
              <a:rPr lang="en-US" sz="1250" dirty="0">
                <a:solidFill>
                  <a:srgbClr val="D8DEE9"/>
                </a:solidFill>
                <a:latin typeface="Courier New" pitchFamily="34" charset="0"/>
                <a:ea typeface="Courier New" pitchFamily="34" charset="-122"/>
                <a:cs typeface="Courier New" pitchFamily="34" charset="-120"/>
              </a:rPr>
              <a:t>;</a:t>
            </a:r>
            <a:endParaRPr lang="en-US" sz="1250" dirty="0"/>
          </a:p>
          <a:p>
            <a:pPr algn="l" indent="0" marL="0">
              <a:lnSpc>
                <a:spcPct val="125000"/>
              </a:lnSpc>
              <a:buNone/>
            </a:pPr>
            <a:endParaRPr lang="en-US" sz="1250" dirty="0"/>
          </a:p>
          <a:p>
            <a:pPr algn="l" indent="0" marL="0">
              <a:lnSpc>
                <a:spcPct val="125000"/>
              </a:lnSpc>
              <a:buNone/>
            </a:pPr>
            <a:r>
              <a:rPr lang="en-US" sz="1250" dirty="0">
                <a:solidFill>
                  <a:srgbClr val="7AA2F7"/>
                </a:solidFill>
                <a:latin typeface="Courier New" pitchFamily="34" charset="0"/>
                <a:ea typeface="Courier New" pitchFamily="34" charset="-122"/>
                <a:cs typeface="Courier New" pitchFamily="34" charset="-120"/>
              </a:rPr>
              <a:t>export const</a:t>
            </a:r>
            <a:pPr algn="l" indent="0" marL="0">
              <a:lnSpc>
                <a:spcPct val="125000"/>
              </a:lnSpc>
              <a:buNone/>
            </a:pPr>
            <a:r>
              <a:rPr lang="en-US" sz="1250" dirty="0">
                <a:solidFill>
                  <a:srgbClr val="D8DEE9"/>
                </a:solidFill>
                <a:latin typeface="Courier New" pitchFamily="34" charset="0"/>
                <a:ea typeface="Courier New" pitchFamily="34" charset="-122"/>
                <a:cs typeface="Courier New" pitchFamily="34" charset="-120"/>
              </a:rPr>
              <a:t> useAppDispatch = () =&gt;</a:t>
            </a:r>
            <a:endParaRPr lang="en-US" sz="1250" dirty="0"/>
          </a:p>
          <a:p>
            <a:pPr algn="l" indent="0" marL="0">
              <a:lnSpc>
                <a:spcPct val="125000"/>
              </a:lnSpc>
              <a:buNone/>
            </a:pPr>
            <a:r>
              <a:rPr lang="en-US" sz="1250" dirty="0">
                <a:solidFill>
                  <a:srgbClr val="D8DEE9"/>
                </a:solidFill>
                <a:latin typeface="Courier New" pitchFamily="34" charset="0"/>
                <a:ea typeface="Courier New" pitchFamily="34" charset="-122"/>
                <a:cs typeface="Courier New" pitchFamily="34" charset="-120"/>
              </a:rPr>
              <a:t>  useDispatch&lt;</a:t>
            </a:r>
            <a:pPr algn="l" indent="0" marL="0">
              <a:lnSpc>
                <a:spcPct val="125000"/>
              </a:lnSpc>
              <a:buNone/>
            </a:pPr>
            <a:r>
              <a:rPr lang="en-US" sz="1250" dirty="0">
                <a:solidFill>
                  <a:srgbClr val="E0AF68"/>
                </a:solidFill>
                <a:latin typeface="Courier New" pitchFamily="34" charset="0"/>
                <a:ea typeface="Courier New" pitchFamily="34" charset="-122"/>
                <a:cs typeface="Courier New" pitchFamily="34" charset="-120"/>
              </a:rPr>
              <a:t>AppDispatch</a:t>
            </a:r>
            <a:pPr algn="l" indent="0" marL="0">
              <a:lnSpc>
                <a:spcPct val="125000"/>
              </a:lnSpc>
              <a:buNone/>
            </a:pPr>
            <a:r>
              <a:rPr lang="en-US" sz="1250" dirty="0">
                <a:solidFill>
                  <a:srgbClr val="D8DEE9"/>
                </a:solidFill>
                <a:latin typeface="Courier New" pitchFamily="34" charset="0"/>
                <a:ea typeface="Courier New" pitchFamily="34" charset="-122"/>
                <a:cs typeface="Courier New" pitchFamily="34" charset="-120"/>
              </a:rPr>
              <a:t>&gt;();</a:t>
            </a:r>
            <a:endParaRPr lang="en-US" sz="1250" dirty="0"/>
          </a:p>
          <a:p>
            <a:pPr algn="l" indent="0" marL="0">
              <a:lnSpc>
                <a:spcPct val="125000"/>
              </a:lnSpc>
              <a:buNone/>
            </a:pPr>
            <a:endParaRPr lang="en-US" sz="1250" dirty="0"/>
          </a:p>
          <a:p>
            <a:pPr algn="l" indent="0" marL="0">
              <a:lnSpc>
                <a:spcPct val="125000"/>
              </a:lnSpc>
              <a:buNone/>
            </a:pPr>
            <a:r>
              <a:rPr lang="en-US" sz="1250" dirty="0">
                <a:solidFill>
                  <a:srgbClr val="7AA2F7"/>
                </a:solidFill>
                <a:latin typeface="Courier New" pitchFamily="34" charset="0"/>
                <a:ea typeface="Courier New" pitchFamily="34" charset="-122"/>
                <a:cs typeface="Courier New" pitchFamily="34" charset="-120"/>
              </a:rPr>
              <a:t>export const</a:t>
            </a:r>
            <a:pPr algn="l" indent="0" marL="0">
              <a:lnSpc>
                <a:spcPct val="125000"/>
              </a:lnSpc>
              <a:buNone/>
            </a:pPr>
            <a:r>
              <a:rPr lang="en-US" sz="1250" dirty="0">
                <a:solidFill>
                  <a:srgbClr val="D8DEE9"/>
                </a:solidFill>
                <a:latin typeface="Courier New" pitchFamily="34" charset="0"/>
                <a:ea typeface="Courier New" pitchFamily="34" charset="-122"/>
                <a:cs typeface="Courier New" pitchFamily="34" charset="-120"/>
              </a:rPr>
              <a:t> useAppSelector: </a:t>
            </a:r>
            <a:pPr algn="l" indent="0" marL="0">
              <a:lnSpc>
                <a:spcPct val="125000"/>
              </a:lnSpc>
              <a:buNone/>
            </a:pPr>
            <a:r>
              <a:rPr lang="en-US" sz="1250" dirty="0">
                <a:solidFill>
                  <a:srgbClr val="E0AF68"/>
                </a:solidFill>
                <a:latin typeface="Courier New" pitchFamily="34" charset="0"/>
                <a:ea typeface="Courier New" pitchFamily="34" charset="-122"/>
                <a:cs typeface="Courier New" pitchFamily="34" charset="-120"/>
              </a:rPr>
              <a:t>TypedUseSelectorHook</a:t>
            </a:r>
            <a:pPr algn="l" indent="0" marL="0">
              <a:lnSpc>
                <a:spcPct val="125000"/>
              </a:lnSpc>
              <a:buNone/>
            </a:pPr>
            <a:r>
              <a:rPr lang="en-US" sz="1250" dirty="0">
                <a:solidFill>
                  <a:srgbClr val="D8DEE9"/>
                </a:solidFill>
                <a:latin typeface="Courier New" pitchFamily="34" charset="0"/>
                <a:ea typeface="Courier New" pitchFamily="34" charset="-122"/>
                <a:cs typeface="Courier New" pitchFamily="34" charset="-120"/>
              </a:rPr>
              <a:t>&lt;</a:t>
            </a:r>
            <a:pPr algn="l" indent="0" marL="0">
              <a:lnSpc>
                <a:spcPct val="125000"/>
              </a:lnSpc>
              <a:buNone/>
            </a:pPr>
            <a:r>
              <a:rPr lang="en-US" sz="1250" dirty="0">
                <a:solidFill>
                  <a:srgbClr val="E0AF68"/>
                </a:solidFill>
                <a:latin typeface="Courier New" pitchFamily="34" charset="0"/>
                <a:ea typeface="Courier New" pitchFamily="34" charset="-122"/>
                <a:cs typeface="Courier New" pitchFamily="34" charset="-120"/>
              </a:rPr>
              <a:t>RootState</a:t>
            </a:r>
            <a:pPr algn="l" indent="0" marL="0">
              <a:lnSpc>
                <a:spcPct val="125000"/>
              </a:lnSpc>
              <a:buNone/>
            </a:pPr>
            <a:r>
              <a:rPr lang="en-US" sz="1250" dirty="0">
                <a:solidFill>
                  <a:srgbClr val="D8DEE9"/>
                </a:solidFill>
                <a:latin typeface="Courier New" pitchFamily="34" charset="0"/>
                <a:ea typeface="Courier New" pitchFamily="34" charset="-122"/>
                <a:cs typeface="Courier New" pitchFamily="34" charset="-120"/>
              </a:rPr>
              <a:t>&gt;</a:t>
            </a:r>
            <a:endParaRPr lang="en-US" sz="1250" dirty="0"/>
          </a:p>
          <a:p>
            <a:pPr algn="l" indent="0" marL="0">
              <a:lnSpc>
                <a:spcPct val="125000"/>
              </a:lnSpc>
              <a:buNone/>
            </a:pPr>
            <a:r>
              <a:rPr lang="en-US" sz="1250" dirty="0">
                <a:solidFill>
                  <a:srgbClr val="D8DEE9"/>
                </a:solidFill>
                <a:latin typeface="Courier New" pitchFamily="34" charset="0"/>
                <a:ea typeface="Courier New" pitchFamily="34" charset="-122"/>
                <a:cs typeface="Courier New" pitchFamily="34" charset="-120"/>
              </a:rPr>
              <a:t>  = useSelector;</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66928" y="713232"/>
            <a:ext cx="9144000" cy="274320"/>
          </a:xfrm>
          <a:prstGeom prst="rect">
            <a:avLst/>
          </a:prstGeom>
          <a:noFill/>
          <a:ln/>
        </p:spPr>
        <p:txBody>
          <a:bodyPr wrap="square" lIns="0" tIns="0" rIns="0" bIns="0" rtlCol="0" anchor="ctr"/>
          <a:lstStyle/>
          <a:p>
            <a:pPr algn="l" indent="0" marL="0">
              <a:buNone/>
            </a:pPr>
            <a:r>
              <a:rPr lang="en-US" sz="1100" b="1" spc="200" kern="0" dirty="0">
                <a:solidFill>
                  <a:srgbClr val="DA2128"/>
                </a:solidFill>
                <a:latin typeface="Calibri" pitchFamily="34" charset="0"/>
                <a:ea typeface="Calibri" pitchFamily="34" charset="-122"/>
                <a:cs typeface="Calibri" pitchFamily="34" charset="-120"/>
              </a:rPr>
              <a:t>05 · KẾT NỐI REDUX VỚI REACT</a:t>
            </a:r>
            <a:endParaRPr lang="en-US" sz="1100" dirty="0"/>
          </a:p>
        </p:txBody>
      </p:sp>
      <p:sp>
        <p:nvSpPr>
          <p:cNvPr id="3" name="Text 1"/>
          <p:cNvSpPr txBox="1"/>
          <p:nvPr/>
        </p:nvSpPr>
        <p:spPr>
          <a:xfrm>
            <a:off x="566928" y="941832"/>
            <a:ext cx="10607040" cy="594360"/>
          </a:xfrm>
          <a:prstGeom prst="rect">
            <a:avLst/>
          </a:prstGeom>
          <a:noFill/>
          <a:ln/>
        </p:spPr>
        <p:txBody>
          <a:bodyPr wrap="square" lIns="0" tIns="0" rIns="0" bIns="0" rtlCol="0" anchor="ctr"/>
          <a:lstStyle/>
          <a:p>
            <a:pPr algn="l" indent="0" marL="0">
              <a:buNone/>
            </a:pPr>
            <a:r>
              <a:rPr lang="en-US" sz="2600" b="1" dirty="0">
                <a:solidFill>
                  <a:srgbClr val="222222"/>
                </a:solidFill>
                <a:latin typeface="Lato" pitchFamily="34" charset="0"/>
                <a:ea typeface="Lato" pitchFamily="34" charset="-122"/>
                <a:cs typeface="Lato" pitchFamily="34" charset="-120"/>
              </a:rPr>
              <a:t>Dùng typed hooks trong component</a:t>
            </a:r>
            <a:endParaRPr lang="en-US" sz="2600" dirty="0"/>
          </a:p>
        </p:txBody>
      </p:sp>
      <p:sp>
        <p:nvSpPr>
          <p:cNvPr id="4" name="Text 2"/>
          <p:cNvSpPr txBox="1"/>
          <p:nvPr/>
        </p:nvSpPr>
        <p:spPr>
          <a:xfrm>
            <a:off x="566928" y="1737360"/>
            <a:ext cx="5394960" cy="4023360"/>
          </a:xfrm>
          <a:prstGeom prst="rect">
            <a:avLst/>
          </a:prstGeom>
          <a:noFill/>
          <a:ln/>
        </p:spPr>
        <p:txBody>
          <a:bodyPr wrap="square" lIns="0" tIns="0" rIns="0" bIns="0" rtlCol="0" anchor="t"/>
          <a:lstStyle/>
          <a:p>
            <a:pPr algn="l" marL="228600" indent="-228600">
              <a:lnSpc>
                <a:spcPct val="120000"/>
              </a:lnSpc>
              <a:spcAft>
                <a:spcPts val="1400"/>
              </a:spcAft>
              <a:buSzPct val="100000"/>
              <a:buChar char="•"/>
            </a:pPr>
            <a:r>
              <a:rPr lang="en-US" sz="1450" dirty="0">
                <a:solidFill>
                  <a:srgbClr val="222222"/>
                </a:solidFill>
                <a:latin typeface="Calibri" pitchFamily="34" charset="0"/>
                <a:ea typeface="Calibri" pitchFamily="34" charset="-122"/>
                <a:cs typeface="Calibri" pitchFamily="34" charset="-120"/>
              </a:rPr>
              <a:t>state trong callback của useAppSelector được TypeScript tự suy ra đúng kiểu CartState</a:t>
            </a:r>
            <a:endParaRPr lang="en-US" sz="1450" dirty="0"/>
          </a:p>
          <a:p>
            <a:pPr algn="l" marL="228600" indent="-228600">
              <a:lnSpc>
                <a:spcPct val="120000"/>
              </a:lnSpc>
              <a:spcAft>
                <a:spcPts val="1400"/>
              </a:spcAft>
              <a:buSzPct val="100000"/>
              <a:buChar char="•"/>
            </a:pPr>
            <a:r>
              <a:rPr lang="en-US" sz="1450" dirty="0">
                <a:solidFill>
                  <a:srgbClr val="222222"/>
                </a:solidFill>
                <a:latin typeface="Calibri" pitchFamily="34" charset="0"/>
                <a:ea typeface="Calibri" pitchFamily="34" charset="-122"/>
                <a:cs typeface="Calibri" pitchFamily="34" charset="-120"/>
              </a:rPr>
              <a:t>Gõ sai tên field (ví dụ state.cart.itmes) sẽ báo lỗi ngay khi biên dịch, không phải đợi đến runtime</a:t>
            </a:r>
            <a:endParaRPr lang="en-US" sz="1450" dirty="0"/>
          </a:p>
          <a:p>
            <a:pPr algn="l" marL="228600" indent="-228600">
              <a:lnSpc>
                <a:spcPct val="120000"/>
              </a:lnSpc>
              <a:spcAft>
                <a:spcPts val="1400"/>
              </a:spcAft>
              <a:buSzPct val="100000"/>
              <a:buChar char="•"/>
            </a:pPr>
            <a:r>
              <a:rPr lang="en-US" sz="1450" dirty="0">
                <a:solidFill>
                  <a:srgbClr val="222222"/>
                </a:solidFill>
                <a:latin typeface="Calibri" pitchFamily="34" charset="0"/>
                <a:ea typeface="Calibri" pitchFamily="34" charset="-122"/>
                <a:cs typeface="Calibri" pitchFamily="34" charset="-120"/>
              </a:rPr>
              <a:t>dispatch(action) cũng được kiểm tra kiểu action hợp lệ nhờ AppDispatch</a:t>
            </a:r>
            <a:endParaRPr lang="en-US" sz="1450" dirty="0"/>
          </a:p>
        </p:txBody>
      </p:sp>
      <p:sp>
        <p:nvSpPr>
          <p:cNvPr id="5" name="Shape 3"/>
          <p:cNvSpPr/>
          <p:nvPr/>
        </p:nvSpPr>
        <p:spPr>
          <a:xfrm>
            <a:off x="6309360" y="1737360"/>
            <a:ext cx="5349240" cy="4023360"/>
          </a:xfrm>
          <a:prstGeom prst="roundRect">
            <a:avLst>
              <a:gd name="adj" fmla="val 1818"/>
            </a:avLst>
          </a:prstGeom>
          <a:solidFill>
            <a:srgbClr val="1E1E2E"/>
          </a:solidFill>
          <a:ln/>
          <a:effectLst>
            <a:outerShdw sx="100000" sy="100000" kx="0" ky="0" algn="bl" rotWithShape="0" blurRad="76200" dist="25400" dir="5400000">
              <a:srgbClr val="000000">
                <a:alpha val="25000"/>
              </a:srgbClr>
            </a:outerShdw>
          </a:effectLst>
        </p:spPr>
      </p:sp>
      <p:sp>
        <p:nvSpPr>
          <p:cNvPr id="6" name="Text 4"/>
          <p:cNvSpPr txBox="1"/>
          <p:nvPr/>
        </p:nvSpPr>
        <p:spPr>
          <a:xfrm>
            <a:off x="6537960" y="1920240"/>
            <a:ext cx="4892040" cy="3657600"/>
          </a:xfrm>
          <a:prstGeom prst="rect">
            <a:avLst/>
          </a:prstGeom>
          <a:noFill/>
          <a:ln/>
        </p:spPr>
        <p:txBody>
          <a:bodyPr wrap="square" lIns="0" tIns="0" rIns="0" bIns="0" rtlCol="0" anchor="t"/>
          <a:lstStyle/>
          <a:p>
            <a:pPr algn="l" indent="0" marL="0">
              <a:lnSpc>
                <a:spcPct val="115000"/>
              </a:lnSpc>
              <a:buNone/>
            </a:pPr>
            <a:r>
              <a:rPr lang="en-US" sz="1050" dirty="0">
                <a:solidFill>
                  <a:srgbClr val="7AA2F7"/>
                </a:solidFill>
                <a:latin typeface="Courier New" pitchFamily="34" charset="0"/>
                <a:ea typeface="Courier New" pitchFamily="34" charset="-122"/>
                <a:cs typeface="Courier New" pitchFamily="34" charset="-120"/>
              </a:rPr>
              <a:t>function</a:t>
            </a:r>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CartSummary() {</a:t>
            </a: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a:t>
            </a:r>
            <a:pPr algn="l" indent="0" marL="0">
              <a:lnSpc>
                <a:spcPct val="115000"/>
              </a:lnSpc>
              <a:buNone/>
            </a:pPr>
            <a:r>
              <a:rPr lang="en-US" sz="1050" dirty="0">
                <a:solidFill>
                  <a:srgbClr val="7AA2F7"/>
                </a:solidFill>
                <a:latin typeface="Courier New" pitchFamily="34" charset="0"/>
                <a:ea typeface="Courier New" pitchFamily="34" charset="-122"/>
                <a:cs typeface="Courier New" pitchFamily="34" charset="-120"/>
              </a:rPr>
              <a:t>const</a:t>
            </a:r>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items = useAppSelector(</a:t>
            </a: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(state) =&gt; state.cart.items</a:t>
            </a: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a:t>
            </a: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a:t>
            </a:r>
            <a:pPr algn="l" indent="0" marL="0">
              <a:lnSpc>
                <a:spcPct val="115000"/>
              </a:lnSpc>
              <a:buNone/>
            </a:pPr>
            <a:r>
              <a:rPr lang="en-US" sz="1050" dirty="0">
                <a:solidFill>
                  <a:srgbClr val="7AA2F7"/>
                </a:solidFill>
                <a:latin typeface="Courier New" pitchFamily="34" charset="0"/>
                <a:ea typeface="Courier New" pitchFamily="34" charset="-122"/>
                <a:cs typeface="Courier New" pitchFamily="34" charset="-120"/>
              </a:rPr>
              <a:t>const</a:t>
            </a:r>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dispatch = useAppDispatch();</a:t>
            </a:r>
            <a:endParaRPr lang="en-US" sz="1050" dirty="0"/>
          </a:p>
          <a:p>
            <a:pPr algn="l" indent="0" marL="0">
              <a:lnSpc>
                <a:spcPct val="115000"/>
              </a:lnSpc>
              <a:buNone/>
            </a:pPr>
            <a:endParaRPr lang="en-US" sz="1050" dirty="0"/>
          </a:p>
          <a:p>
            <a:pPr algn="l" indent="0" marL="0">
              <a:lnSpc>
                <a:spcPct val="115000"/>
              </a:lnSpc>
              <a:buNone/>
            </a:pPr>
            <a:r>
              <a:rPr lang="en-US" sz="1050" dirty="0">
                <a:solidFill>
                  <a:srgbClr val="7AA2F7"/>
                </a:solidFill>
                <a:latin typeface="Courier New" pitchFamily="34" charset="0"/>
                <a:ea typeface="Courier New" pitchFamily="34" charset="-122"/>
                <a:cs typeface="Courier New" pitchFamily="34" charset="-120"/>
              </a:rPr>
              <a:t>  const</a:t>
            </a:r>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handleRemove = (id: </a:t>
            </a:r>
            <a:pPr algn="l" indent="0" marL="0">
              <a:lnSpc>
                <a:spcPct val="115000"/>
              </a:lnSpc>
              <a:buNone/>
            </a:pPr>
            <a:r>
              <a:rPr lang="en-US" sz="1050" dirty="0">
                <a:solidFill>
                  <a:srgbClr val="E0AF68"/>
                </a:solidFill>
                <a:latin typeface="Courier New" pitchFamily="34" charset="0"/>
                <a:ea typeface="Courier New" pitchFamily="34" charset="-122"/>
                <a:cs typeface="Courier New" pitchFamily="34" charset="-120"/>
              </a:rPr>
              <a:t>string</a:t>
            </a:r>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=&gt; {</a:t>
            </a: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dispatch(removeItem(id));</a:t>
            </a: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a:t>
            </a:r>
            <a:endParaRPr lang="en-US" sz="1050" dirty="0"/>
          </a:p>
          <a:p>
            <a:pPr algn="l" indent="0" marL="0">
              <a:lnSpc>
                <a:spcPct val="115000"/>
              </a:lnSpc>
              <a:buNone/>
            </a:pP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a:t>
            </a:r>
            <a:pPr algn="l" indent="0" marL="0">
              <a:lnSpc>
                <a:spcPct val="115000"/>
              </a:lnSpc>
              <a:buNone/>
            </a:pPr>
            <a:r>
              <a:rPr lang="en-US" sz="1050" dirty="0">
                <a:solidFill>
                  <a:srgbClr val="7AA2F7"/>
                </a:solidFill>
                <a:latin typeface="Courier New" pitchFamily="34" charset="0"/>
                <a:ea typeface="Courier New" pitchFamily="34" charset="-122"/>
                <a:cs typeface="Courier New" pitchFamily="34" charset="-120"/>
              </a:rPr>
              <a:t>return</a:t>
            </a:r>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a:t>
            </a: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&lt;ul&gt;</a:t>
            </a: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{items.map((item) =&gt; (</a:t>
            </a: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&lt;li key={item.id}&gt;</a:t>
            </a: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{item.name}</a:t>
            </a: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&lt;/li&gt;</a:t>
            </a: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a:t>
            </a: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&lt;/ul&gt;</a:t>
            </a: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  );</a:t>
            </a:r>
            <a:endParaRPr lang="en-US" sz="1050" dirty="0"/>
          </a:p>
          <a:p>
            <a:pPr algn="l" indent="0" marL="0">
              <a:lnSpc>
                <a:spcPct val="115000"/>
              </a:lnSpc>
              <a:buNone/>
            </a:pPr>
            <a:r>
              <a:rPr lang="en-US" sz="1050" dirty="0">
                <a:solidFill>
                  <a:srgbClr val="D8DEE9"/>
                </a:solidFill>
                <a:latin typeface="Courier New" pitchFamily="34" charset="0"/>
                <a:ea typeface="Courier New" pitchFamily="34" charset="-122"/>
                <a:cs typeface="Courier New" pitchFamily="34" charset="-120"/>
              </a:rPr>
              <a: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66928" y="713232"/>
            <a:ext cx="9144000" cy="274320"/>
          </a:xfrm>
          <a:prstGeom prst="rect">
            <a:avLst/>
          </a:prstGeom>
          <a:noFill/>
          <a:ln/>
        </p:spPr>
        <p:txBody>
          <a:bodyPr wrap="square" lIns="0" tIns="0" rIns="0" bIns="0" rtlCol="0" anchor="ctr"/>
          <a:lstStyle/>
          <a:p>
            <a:pPr algn="l" indent="0" marL="0">
              <a:buNone/>
            </a:pPr>
            <a:r>
              <a:rPr lang="en-US" sz="1100" b="1" spc="200" kern="0" dirty="0">
                <a:solidFill>
                  <a:srgbClr val="DA2128"/>
                </a:solidFill>
                <a:latin typeface="Calibri" pitchFamily="34" charset="0"/>
                <a:ea typeface="Calibri" pitchFamily="34" charset="-122"/>
                <a:cs typeface="Calibri" pitchFamily="34" charset="-120"/>
              </a:rPr>
              <a:t>06 · RTK QUERY</a:t>
            </a:r>
            <a:endParaRPr lang="en-US" sz="1100" dirty="0"/>
          </a:p>
        </p:txBody>
      </p:sp>
      <p:sp>
        <p:nvSpPr>
          <p:cNvPr id="3" name="Text 1"/>
          <p:cNvSpPr txBox="1"/>
          <p:nvPr/>
        </p:nvSpPr>
        <p:spPr>
          <a:xfrm>
            <a:off x="566928" y="941832"/>
            <a:ext cx="10607040" cy="594360"/>
          </a:xfrm>
          <a:prstGeom prst="rect">
            <a:avLst/>
          </a:prstGeom>
          <a:noFill/>
          <a:ln/>
        </p:spPr>
        <p:txBody>
          <a:bodyPr wrap="square" lIns="0" tIns="0" rIns="0" bIns="0" rtlCol="0" anchor="ctr"/>
          <a:lstStyle/>
          <a:p>
            <a:pPr algn="l" indent="0" marL="0">
              <a:buNone/>
            </a:pPr>
            <a:r>
              <a:rPr lang="en-US" sz="2600" b="1" dirty="0">
                <a:solidFill>
                  <a:srgbClr val="222222"/>
                </a:solidFill>
                <a:latin typeface="Lato" pitchFamily="34" charset="0"/>
                <a:ea typeface="Lato" pitchFamily="34" charset="-122"/>
                <a:cs typeface="Lato" pitchFamily="34" charset="-120"/>
              </a:rPr>
              <a:t>RTK Query — Quản lý gọi API và cache tự động</a:t>
            </a:r>
            <a:endParaRPr lang="en-US" sz="2600" dirty="0"/>
          </a:p>
        </p:txBody>
      </p:sp>
      <p:sp>
        <p:nvSpPr>
          <p:cNvPr id="4" name="Text 2"/>
          <p:cNvSpPr txBox="1"/>
          <p:nvPr/>
        </p:nvSpPr>
        <p:spPr>
          <a:xfrm>
            <a:off x="566928" y="1737360"/>
            <a:ext cx="5394960" cy="4023360"/>
          </a:xfrm>
          <a:prstGeom prst="rect">
            <a:avLst/>
          </a:prstGeom>
          <a:noFill/>
          <a:ln/>
        </p:spPr>
        <p:txBody>
          <a:bodyPr wrap="square" lIns="0" tIns="0" rIns="0" bIns="0" rtlCol="0" anchor="t"/>
          <a:lstStyle/>
          <a:p>
            <a:pPr algn="l" marL="228600" indent="-228600">
              <a:lnSpc>
                <a:spcPct val="120000"/>
              </a:lnSpc>
              <a:spcAft>
                <a:spcPts val="1200"/>
              </a:spcAft>
              <a:buSzPct val="100000"/>
              <a:buChar char="•"/>
            </a:pPr>
            <a:r>
              <a:rPr lang="en-US" sz="1400" dirty="0">
                <a:solidFill>
                  <a:srgbClr val="222222"/>
                </a:solidFill>
                <a:latin typeface="Calibri" pitchFamily="34" charset="0"/>
                <a:ea typeface="Calibri" pitchFamily="34" charset="-122"/>
                <a:cs typeface="Calibri" pitchFamily="34" charset="-120"/>
              </a:rPr>
              <a:t>RTK Query là 1 module con của Redux Toolkit, chuyên xử lý data fetching + caching — giảm hẳn code phải viết tay so với tự dùng createAsyncThunk cho từng API</a:t>
            </a:r>
            <a:endParaRPr lang="en-US" sz="1400" dirty="0"/>
          </a:p>
          <a:p>
            <a:pPr algn="l" marL="228600" indent="-228600">
              <a:lnSpc>
                <a:spcPct val="120000"/>
              </a:lnSpc>
              <a:spcAft>
                <a:spcPts val="1200"/>
              </a:spcAft>
              <a:buSzPct val="100000"/>
              <a:buChar char="•"/>
            </a:pPr>
            <a:r>
              <a:rPr lang="en-US" sz="1400" dirty="0">
                <a:solidFill>
                  <a:srgbClr val="222222"/>
                </a:solidFill>
                <a:latin typeface="Calibri" pitchFamily="34" charset="0"/>
                <a:ea typeface="Calibri" pitchFamily="34" charset="-122"/>
                <a:cs typeface="Calibri" pitchFamily="34" charset="-120"/>
              </a:rPr>
              <a:t>Chỉ cần khai báo createApi() với danh sách endpoint, RTK Query tự sinh ra hook tương ứng (ví dụ useGetProductsQuery)</a:t>
            </a:r>
            <a:endParaRPr lang="en-US" sz="1400" dirty="0"/>
          </a:p>
          <a:p>
            <a:pPr algn="l" marL="228600" indent="-228600">
              <a:lnSpc>
                <a:spcPct val="120000"/>
              </a:lnSpc>
              <a:spcAft>
                <a:spcPts val="1200"/>
              </a:spcAft>
              <a:buSzPct val="100000"/>
              <a:buChar char="•"/>
            </a:pPr>
            <a:r>
              <a:rPr lang="en-US" sz="1400" dirty="0">
                <a:solidFill>
                  <a:srgbClr val="222222"/>
                </a:solidFill>
                <a:latin typeface="Calibri" pitchFamily="34" charset="0"/>
                <a:ea typeface="Calibri" pitchFamily="34" charset="-122"/>
                <a:cs typeface="Calibri" pitchFamily="34" charset="-120"/>
              </a:rPr>
              <a:t>Tự động cache theo tham số, tự refetch khi cần, tự quản lý loading/error mà không cần viết state thủ công</a:t>
            </a:r>
            <a:endParaRPr lang="en-US" sz="1400" dirty="0"/>
          </a:p>
          <a:p>
            <a:pPr algn="l" indent="0" marL="0">
              <a:lnSpc>
                <a:spcPct val="120000"/>
              </a:lnSpc>
              <a:spcAft>
                <a:spcPts val="1200"/>
              </a:spcAft>
              <a:buNone/>
            </a:pPr>
            <a:r>
              <a:rPr lang="en-US" sz="1400" b="1" dirty="0">
                <a:solidFill>
                  <a:srgbClr val="A81820"/>
                </a:solidFill>
                <a:latin typeface="Calibri" pitchFamily="34" charset="0"/>
                <a:ea typeface="Calibri" pitchFamily="34" charset="-122"/>
                <a:cs typeface="Calibri" pitchFamily="34" charset="-120"/>
              </a:rPr>
              <a:t>Vẫn tích hợp hoàn toàn vào store hiện có: chỉ cần thêm reducer + middleware của api slice vào configureStore.</a:t>
            </a:r>
            <a:endParaRPr lang="en-US" sz="1400" dirty="0"/>
          </a:p>
        </p:txBody>
      </p:sp>
      <p:sp>
        <p:nvSpPr>
          <p:cNvPr id="5" name="Shape 3"/>
          <p:cNvSpPr/>
          <p:nvPr/>
        </p:nvSpPr>
        <p:spPr>
          <a:xfrm>
            <a:off x="6309360" y="1737360"/>
            <a:ext cx="5349240" cy="4114800"/>
          </a:xfrm>
          <a:prstGeom prst="roundRect">
            <a:avLst>
              <a:gd name="adj" fmla="val 1778"/>
            </a:avLst>
          </a:prstGeom>
          <a:solidFill>
            <a:srgbClr val="1E1E2E"/>
          </a:solidFill>
          <a:ln/>
          <a:effectLst>
            <a:outerShdw sx="100000" sy="100000" kx="0" ky="0" algn="bl" rotWithShape="0" blurRad="76200" dist="25400" dir="5400000">
              <a:srgbClr val="000000">
                <a:alpha val="25000"/>
              </a:srgbClr>
            </a:outerShdw>
          </a:effectLst>
        </p:spPr>
      </p:sp>
      <p:sp>
        <p:nvSpPr>
          <p:cNvPr id="6" name="Text 4"/>
          <p:cNvSpPr txBox="1"/>
          <p:nvPr/>
        </p:nvSpPr>
        <p:spPr>
          <a:xfrm>
            <a:off x="6537960" y="1920240"/>
            <a:ext cx="4892040" cy="3749040"/>
          </a:xfrm>
          <a:prstGeom prst="rect">
            <a:avLst/>
          </a:prstGeom>
          <a:noFill/>
          <a:ln/>
        </p:spPr>
        <p:txBody>
          <a:bodyPr wrap="square" lIns="0" tIns="0" rIns="0" bIns="0" rtlCol="0" anchor="t"/>
          <a:lstStyle/>
          <a:p>
            <a:pPr algn="l" indent="0" marL="0">
              <a:lnSpc>
                <a:spcPct val="120000"/>
              </a:lnSpc>
              <a:buNone/>
            </a:pPr>
            <a:r>
              <a:rPr lang="en-US" sz="1150" dirty="0">
                <a:solidFill>
                  <a:srgbClr val="6B7280"/>
                </a:solidFill>
                <a:latin typeface="Courier New" pitchFamily="34" charset="0"/>
                <a:ea typeface="Courier New" pitchFamily="34" charset="-122"/>
                <a:cs typeface="Courier New" pitchFamily="34" charset="-120"/>
              </a:rPr>
              <a:t>// productsApi.ts</a:t>
            </a:r>
            <a:endParaRPr lang="en-US" sz="1150" dirty="0"/>
          </a:p>
          <a:p>
            <a:pPr algn="l" indent="0" marL="0">
              <a:lnSpc>
                <a:spcPct val="120000"/>
              </a:lnSpc>
              <a:buNone/>
            </a:pPr>
            <a:r>
              <a:rPr lang="en-US" sz="1150" dirty="0">
                <a:solidFill>
                  <a:srgbClr val="7AA2F7"/>
                </a:solidFill>
                <a:latin typeface="Courier New" pitchFamily="34" charset="0"/>
                <a:ea typeface="Courier New" pitchFamily="34" charset="-122"/>
                <a:cs typeface="Courier New" pitchFamily="34" charset="-120"/>
              </a:rPr>
              <a:t>export const</a:t>
            </a:r>
            <a:pPr algn="l" indent="0" marL="0">
              <a:lnSpc>
                <a:spcPct val="120000"/>
              </a:lnSpc>
              <a:buNone/>
            </a:pPr>
            <a:r>
              <a:rPr lang="en-US" sz="1150" dirty="0">
                <a:solidFill>
                  <a:srgbClr val="D8DEE9"/>
                </a:solidFill>
                <a:latin typeface="Courier New" pitchFamily="34" charset="0"/>
                <a:ea typeface="Courier New" pitchFamily="34" charset="-122"/>
                <a:cs typeface="Courier New" pitchFamily="34" charset="-120"/>
              </a:rPr>
              <a:t> productsApi = </a:t>
            </a:r>
            <a:pPr algn="l" indent="0" marL="0">
              <a:lnSpc>
                <a:spcPct val="120000"/>
              </a:lnSpc>
              <a:buNone/>
            </a:pPr>
            <a:r>
              <a:rPr lang="en-US" sz="1150" dirty="0">
                <a:solidFill>
                  <a:srgbClr val="D8DEE9"/>
                </a:solidFill>
                <a:latin typeface="Courier New" pitchFamily="34" charset="0"/>
                <a:ea typeface="Courier New" pitchFamily="34" charset="-122"/>
                <a:cs typeface="Courier New" pitchFamily="34" charset="-120"/>
              </a:rPr>
              <a:t>createApi</a:t>
            </a:r>
            <a:pPr algn="l" indent="0" marL="0">
              <a:lnSpc>
                <a:spcPct val="120000"/>
              </a:lnSpc>
              <a:buNone/>
            </a:pPr>
            <a:r>
              <a:rPr lang="en-US" sz="1150" dirty="0">
                <a:solidFill>
                  <a:srgbClr val="D8DEE9"/>
                </a:solidFill>
                <a:latin typeface="Courier New" pitchFamily="34" charset="0"/>
                <a:ea typeface="Courier New" pitchFamily="34" charset="-122"/>
                <a:cs typeface="Courier New" pitchFamily="34" charset="-120"/>
              </a:rPr>
              <a:t>({</a:t>
            </a:r>
            <a:endParaRPr lang="en-US" sz="1150" dirty="0"/>
          </a:p>
          <a:p>
            <a:pPr algn="l" indent="0" marL="0">
              <a:lnSpc>
                <a:spcPct val="120000"/>
              </a:lnSpc>
              <a:buNone/>
            </a:pPr>
            <a:r>
              <a:rPr lang="en-US" sz="1150" dirty="0">
                <a:solidFill>
                  <a:srgbClr val="D8DEE9"/>
                </a:solidFill>
                <a:latin typeface="Courier New" pitchFamily="34" charset="0"/>
                <a:ea typeface="Courier New" pitchFamily="34" charset="-122"/>
                <a:cs typeface="Courier New" pitchFamily="34" charset="-120"/>
              </a:rPr>
              <a:t>  reducerPath: </a:t>
            </a:r>
            <a:pPr algn="l" indent="0" marL="0">
              <a:lnSpc>
                <a:spcPct val="120000"/>
              </a:lnSpc>
              <a:buNone/>
            </a:pPr>
            <a:r>
              <a:rPr lang="en-US" sz="1150" dirty="0">
                <a:solidFill>
                  <a:srgbClr val="9ECE6A"/>
                </a:solidFill>
                <a:latin typeface="Courier New" pitchFamily="34" charset="0"/>
                <a:ea typeface="Courier New" pitchFamily="34" charset="-122"/>
                <a:cs typeface="Courier New" pitchFamily="34" charset="-120"/>
              </a:rPr>
              <a:t>'productsApi'</a:t>
            </a:r>
            <a:pPr algn="l" indent="0" marL="0">
              <a:lnSpc>
                <a:spcPct val="120000"/>
              </a:lnSpc>
              <a:buNone/>
            </a:pPr>
            <a:r>
              <a:rPr lang="en-US" sz="1150" dirty="0">
                <a:solidFill>
                  <a:srgbClr val="D8DEE9"/>
                </a:solidFill>
                <a:latin typeface="Courier New" pitchFamily="34" charset="0"/>
                <a:ea typeface="Courier New" pitchFamily="34" charset="-122"/>
                <a:cs typeface="Courier New" pitchFamily="34" charset="-120"/>
              </a:rPr>
              <a:t>,</a:t>
            </a:r>
            <a:endParaRPr lang="en-US" sz="1150" dirty="0"/>
          </a:p>
          <a:p>
            <a:pPr algn="l" indent="0" marL="0">
              <a:lnSpc>
                <a:spcPct val="120000"/>
              </a:lnSpc>
              <a:buNone/>
            </a:pPr>
            <a:r>
              <a:rPr lang="en-US" sz="1150" dirty="0">
                <a:solidFill>
                  <a:srgbClr val="D8DEE9"/>
                </a:solidFill>
                <a:latin typeface="Courier New" pitchFamily="34" charset="0"/>
                <a:ea typeface="Courier New" pitchFamily="34" charset="-122"/>
                <a:cs typeface="Courier New" pitchFamily="34" charset="-120"/>
              </a:rPr>
              <a:t>  baseQuery: </a:t>
            </a:r>
            <a:pPr algn="l" indent="0" marL="0">
              <a:lnSpc>
                <a:spcPct val="120000"/>
              </a:lnSpc>
              <a:buNone/>
            </a:pPr>
            <a:r>
              <a:rPr lang="en-US" sz="1150" dirty="0">
                <a:solidFill>
                  <a:srgbClr val="D8DEE9"/>
                </a:solidFill>
                <a:latin typeface="Courier New" pitchFamily="34" charset="0"/>
                <a:ea typeface="Courier New" pitchFamily="34" charset="-122"/>
                <a:cs typeface="Courier New" pitchFamily="34" charset="-120"/>
              </a:rPr>
              <a:t>fetchBaseQuery</a:t>
            </a:r>
            <a:pPr algn="l" indent="0" marL="0">
              <a:lnSpc>
                <a:spcPct val="120000"/>
              </a:lnSpc>
              <a:buNone/>
            </a:pPr>
            <a:r>
              <a:rPr lang="en-US" sz="1150" dirty="0">
                <a:solidFill>
                  <a:srgbClr val="D8DEE9"/>
                </a:solidFill>
                <a:latin typeface="Courier New" pitchFamily="34" charset="0"/>
                <a:ea typeface="Courier New" pitchFamily="34" charset="-122"/>
                <a:cs typeface="Courier New" pitchFamily="34" charset="-120"/>
              </a:rPr>
              <a:t>({</a:t>
            </a:r>
            <a:endParaRPr lang="en-US" sz="1150" dirty="0"/>
          </a:p>
          <a:p>
            <a:pPr algn="l" indent="0" marL="0">
              <a:lnSpc>
                <a:spcPct val="120000"/>
              </a:lnSpc>
              <a:buNone/>
            </a:pPr>
            <a:r>
              <a:rPr lang="en-US" sz="1150" dirty="0">
                <a:solidFill>
                  <a:srgbClr val="D8DEE9"/>
                </a:solidFill>
                <a:latin typeface="Courier New" pitchFamily="34" charset="0"/>
                <a:ea typeface="Courier New" pitchFamily="34" charset="-122"/>
                <a:cs typeface="Courier New" pitchFamily="34" charset="-120"/>
              </a:rPr>
              <a:t>    baseUrl: </a:t>
            </a:r>
            <a:pPr algn="l" indent="0" marL="0">
              <a:lnSpc>
                <a:spcPct val="120000"/>
              </a:lnSpc>
              <a:buNone/>
            </a:pPr>
            <a:r>
              <a:rPr lang="en-US" sz="1150" dirty="0">
                <a:solidFill>
                  <a:srgbClr val="9ECE6A"/>
                </a:solidFill>
                <a:latin typeface="Courier New" pitchFamily="34" charset="0"/>
                <a:ea typeface="Courier New" pitchFamily="34" charset="-122"/>
                <a:cs typeface="Courier New" pitchFamily="34" charset="-120"/>
              </a:rPr>
              <a:t>'/api'</a:t>
            </a:r>
            <a:pPr algn="l" indent="0" marL="0">
              <a:lnSpc>
                <a:spcPct val="120000"/>
              </a:lnSpc>
              <a:buNone/>
            </a:pPr>
            <a:r>
              <a:rPr lang="en-US" sz="1150" dirty="0">
                <a:solidFill>
                  <a:srgbClr val="D8DEE9"/>
                </a:solidFill>
                <a:latin typeface="Courier New" pitchFamily="34" charset="0"/>
                <a:ea typeface="Courier New" pitchFamily="34" charset="-122"/>
                <a:cs typeface="Courier New" pitchFamily="34" charset="-120"/>
              </a:rPr>
              <a:t>,</a:t>
            </a:r>
            <a:endParaRPr lang="en-US" sz="1150" dirty="0"/>
          </a:p>
          <a:p>
            <a:pPr algn="l" indent="0" marL="0">
              <a:lnSpc>
                <a:spcPct val="120000"/>
              </a:lnSpc>
              <a:buNone/>
            </a:pPr>
            <a:r>
              <a:rPr lang="en-US" sz="1150" dirty="0">
                <a:solidFill>
                  <a:srgbClr val="D8DEE9"/>
                </a:solidFill>
                <a:latin typeface="Courier New" pitchFamily="34" charset="0"/>
                <a:ea typeface="Courier New" pitchFamily="34" charset="-122"/>
                <a:cs typeface="Courier New" pitchFamily="34" charset="-120"/>
              </a:rPr>
              <a:t>  }),</a:t>
            </a:r>
            <a:endParaRPr lang="en-US" sz="1150" dirty="0"/>
          </a:p>
          <a:p>
            <a:pPr algn="l" indent="0" marL="0">
              <a:lnSpc>
                <a:spcPct val="120000"/>
              </a:lnSpc>
              <a:buNone/>
            </a:pPr>
            <a:r>
              <a:rPr lang="en-US" sz="1150" dirty="0">
                <a:solidFill>
                  <a:srgbClr val="D8DEE9"/>
                </a:solidFill>
                <a:latin typeface="Courier New" pitchFamily="34" charset="0"/>
                <a:ea typeface="Courier New" pitchFamily="34" charset="-122"/>
                <a:cs typeface="Courier New" pitchFamily="34" charset="-120"/>
              </a:rPr>
              <a:t>  endpoints: (builder) =&gt; ({</a:t>
            </a:r>
            <a:endParaRPr lang="en-US" sz="1150" dirty="0"/>
          </a:p>
          <a:p>
            <a:pPr algn="l" indent="0" marL="0">
              <a:lnSpc>
                <a:spcPct val="120000"/>
              </a:lnSpc>
              <a:buNone/>
            </a:pPr>
            <a:r>
              <a:rPr lang="en-US" sz="1150" dirty="0">
                <a:solidFill>
                  <a:srgbClr val="D8DEE9"/>
                </a:solidFill>
                <a:latin typeface="Courier New" pitchFamily="34" charset="0"/>
                <a:ea typeface="Courier New" pitchFamily="34" charset="-122"/>
                <a:cs typeface="Courier New" pitchFamily="34" charset="-120"/>
              </a:rPr>
              <a:t>    getProducts: builder.query&lt;</a:t>
            </a:r>
            <a:pPr algn="l" indent="0" marL="0">
              <a:lnSpc>
                <a:spcPct val="120000"/>
              </a:lnSpc>
              <a:buNone/>
            </a:pPr>
            <a:r>
              <a:rPr lang="en-US" sz="1150" dirty="0">
                <a:solidFill>
                  <a:srgbClr val="E0AF68"/>
                </a:solidFill>
                <a:latin typeface="Courier New" pitchFamily="34" charset="0"/>
                <a:ea typeface="Courier New" pitchFamily="34" charset="-122"/>
                <a:cs typeface="Courier New" pitchFamily="34" charset="-120"/>
              </a:rPr>
              <a:t>Product</a:t>
            </a:r>
            <a:pPr algn="l" indent="0" marL="0">
              <a:lnSpc>
                <a:spcPct val="120000"/>
              </a:lnSpc>
              <a:buNone/>
            </a:pPr>
            <a:r>
              <a:rPr lang="en-US" sz="1150" dirty="0">
                <a:solidFill>
                  <a:srgbClr val="D8DEE9"/>
                </a:solidFill>
                <a:latin typeface="Courier New" pitchFamily="34" charset="0"/>
                <a:ea typeface="Courier New" pitchFamily="34" charset="-122"/>
                <a:cs typeface="Courier New" pitchFamily="34" charset="-120"/>
              </a:rPr>
              <a:t>[], </a:t>
            </a:r>
            <a:pPr algn="l" indent="0" marL="0">
              <a:lnSpc>
                <a:spcPct val="120000"/>
              </a:lnSpc>
              <a:buNone/>
            </a:pPr>
            <a:r>
              <a:rPr lang="en-US" sz="1150" dirty="0">
                <a:solidFill>
                  <a:srgbClr val="7AA2F7"/>
                </a:solidFill>
                <a:latin typeface="Courier New" pitchFamily="34" charset="0"/>
                <a:ea typeface="Courier New" pitchFamily="34" charset="-122"/>
                <a:cs typeface="Courier New" pitchFamily="34" charset="-120"/>
              </a:rPr>
              <a:t>void</a:t>
            </a:r>
            <a:pPr algn="l" indent="0" marL="0">
              <a:lnSpc>
                <a:spcPct val="120000"/>
              </a:lnSpc>
              <a:buNone/>
            </a:pPr>
            <a:r>
              <a:rPr lang="en-US" sz="1150" dirty="0">
                <a:solidFill>
                  <a:srgbClr val="D8DEE9"/>
                </a:solidFill>
                <a:latin typeface="Courier New" pitchFamily="34" charset="0"/>
                <a:ea typeface="Courier New" pitchFamily="34" charset="-122"/>
                <a:cs typeface="Courier New" pitchFamily="34" charset="-120"/>
              </a:rPr>
              <a:t>&gt;({</a:t>
            </a:r>
            <a:endParaRPr lang="en-US" sz="1150" dirty="0"/>
          </a:p>
          <a:p>
            <a:pPr algn="l" indent="0" marL="0">
              <a:lnSpc>
                <a:spcPct val="120000"/>
              </a:lnSpc>
              <a:buNone/>
            </a:pPr>
            <a:r>
              <a:rPr lang="en-US" sz="1150" dirty="0">
                <a:solidFill>
                  <a:srgbClr val="D8DEE9"/>
                </a:solidFill>
                <a:latin typeface="Courier New" pitchFamily="34" charset="0"/>
                <a:ea typeface="Courier New" pitchFamily="34" charset="-122"/>
                <a:cs typeface="Courier New" pitchFamily="34" charset="-120"/>
              </a:rPr>
              <a:t>      query: () =&gt; </a:t>
            </a:r>
            <a:pPr algn="l" indent="0" marL="0">
              <a:lnSpc>
                <a:spcPct val="120000"/>
              </a:lnSpc>
              <a:buNone/>
            </a:pPr>
            <a:r>
              <a:rPr lang="en-US" sz="1150" dirty="0">
                <a:solidFill>
                  <a:srgbClr val="9ECE6A"/>
                </a:solidFill>
                <a:latin typeface="Courier New" pitchFamily="34" charset="0"/>
                <a:ea typeface="Courier New" pitchFamily="34" charset="-122"/>
                <a:cs typeface="Courier New" pitchFamily="34" charset="-120"/>
              </a:rPr>
              <a:t>'products'</a:t>
            </a:r>
            <a:pPr algn="l" indent="0" marL="0">
              <a:lnSpc>
                <a:spcPct val="120000"/>
              </a:lnSpc>
              <a:buNone/>
            </a:pPr>
            <a:r>
              <a:rPr lang="en-US" sz="1150" dirty="0">
                <a:solidFill>
                  <a:srgbClr val="D8DEE9"/>
                </a:solidFill>
                <a:latin typeface="Courier New" pitchFamily="34" charset="0"/>
                <a:ea typeface="Courier New" pitchFamily="34" charset="-122"/>
                <a:cs typeface="Courier New" pitchFamily="34" charset="-120"/>
              </a:rPr>
              <a:t>,</a:t>
            </a:r>
            <a:endParaRPr lang="en-US" sz="1150" dirty="0"/>
          </a:p>
          <a:p>
            <a:pPr algn="l" indent="0" marL="0">
              <a:lnSpc>
                <a:spcPct val="120000"/>
              </a:lnSpc>
              <a:buNone/>
            </a:pPr>
            <a:r>
              <a:rPr lang="en-US" sz="1150" dirty="0">
                <a:solidFill>
                  <a:srgbClr val="D8DEE9"/>
                </a:solidFill>
                <a:latin typeface="Courier New" pitchFamily="34" charset="0"/>
                <a:ea typeface="Courier New" pitchFamily="34" charset="-122"/>
                <a:cs typeface="Courier New" pitchFamily="34" charset="-120"/>
              </a:rPr>
              <a:t>    }),</a:t>
            </a:r>
            <a:endParaRPr lang="en-US" sz="1150" dirty="0"/>
          </a:p>
          <a:p>
            <a:pPr algn="l" indent="0" marL="0">
              <a:lnSpc>
                <a:spcPct val="120000"/>
              </a:lnSpc>
              <a:buNone/>
            </a:pPr>
            <a:r>
              <a:rPr lang="en-US" sz="1150" dirty="0">
                <a:solidFill>
                  <a:srgbClr val="D8DEE9"/>
                </a:solidFill>
                <a:latin typeface="Courier New" pitchFamily="34" charset="0"/>
                <a:ea typeface="Courier New" pitchFamily="34" charset="-122"/>
                <a:cs typeface="Courier New" pitchFamily="34" charset="-120"/>
              </a:rPr>
              <a:t>  }),</a:t>
            </a:r>
            <a:endParaRPr lang="en-US" sz="1150" dirty="0"/>
          </a:p>
          <a:p>
            <a:pPr algn="l" indent="0" marL="0">
              <a:lnSpc>
                <a:spcPct val="120000"/>
              </a:lnSpc>
              <a:buNone/>
            </a:pPr>
            <a:r>
              <a:rPr lang="en-US" sz="1150" dirty="0">
                <a:solidFill>
                  <a:srgbClr val="D8DEE9"/>
                </a:solidFill>
                <a:latin typeface="Courier New" pitchFamily="34" charset="0"/>
                <a:ea typeface="Courier New" pitchFamily="34" charset="-122"/>
                <a:cs typeface="Courier New" pitchFamily="34" charset="-120"/>
              </a:rPr>
              <a:t>});</a:t>
            </a:r>
            <a:endParaRPr lang="en-US" sz="1150" dirty="0"/>
          </a:p>
          <a:p>
            <a:pPr algn="l" indent="0" marL="0">
              <a:lnSpc>
                <a:spcPct val="120000"/>
              </a:lnSpc>
              <a:buNone/>
            </a:pPr>
            <a:endParaRPr lang="en-US" sz="1150" dirty="0"/>
          </a:p>
          <a:p>
            <a:pPr algn="l" indent="0" marL="0">
              <a:lnSpc>
                <a:spcPct val="120000"/>
              </a:lnSpc>
              <a:buNone/>
            </a:pPr>
            <a:r>
              <a:rPr lang="en-US" sz="1150" dirty="0">
                <a:solidFill>
                  <a:srgbClr val="7AA2F7"/>
                </a:solidFill>
                <a:latin typeface="Courier New" pitchFamily="34" charset="0"/>
                <a:ea typeface="Courier New" pitchFamily="34" charset="-122"/>
                <a:cs typeface="Courier New" pitchFamily="34" charset="-120"/>
              </a:rPr>
              <a:t>export const</a:t>
            </a:r>
            <a:pPr algn="l" indent="0" marL="0">
              <a:lnSpc>
                <a:spcPct val="120000"/>
              </a:lnSpc>
              <a:buNone/>
            </a:pPr>
            <a:r>
              <a:rPr lang="en-US" sz="1150" dirty="0">
                <a:solidFill>
                  <a:srgbClr val="D8DEE9"/>
                </a:solidFill>
                <a:latin typeface="Courier New" pitchFamily="34" charset="0"/>
                <a:ea typeface="Courier New" pitchFamily="34" charset="-122"/>
                <a:cs typeface="Courier New" pitchFamily="34" charset="-120"/>
              </a:rPr>
              <a:t> { useGetProductsQuery } = productsApi;</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66928" y="713232"/>
            <a:ext cx="9144000" cy="274320"/>
          </a:xfrm>
          <a:prstGeom prst="rect">
            <a:avLst/>
          </a:prstGeom>
          <a:noFill/>
          <a:ln/>
        </p:spPr>
        <p:txBody>
          <a:bodyPr wrap="square" lIns="0" tIns="0" rIns="0" bIns="0" rtlCol="0" anchor="ctr"/>
          <a:lstStyle/>
          <a:p>
            <a:pPr algn="l" indent="0" marL="0">
              <a:buNone/>
            </a:pPr>
            <a:r>
              <a:rPr lang="en-US" sz="1100" b="1" spc="200" kern="0" dirty="0">
                <a:solidFill>
                  <a:srgbClr val="DA2128"/>
                </a:solidFill>
                <a:latin typeface="Calibri" pitchFamily="34" charset="0"/>
                <a:ea typeface="Calibri" pitchFamily="34" charset="-122"/>
                <a:cs typeface="Calibri" pitchFamily="34" charset="-120"/>
              </a:rPr>
              <a:t>06 · RTK QUERY</a:t>
            </a:r>
            <a:endParaRPr lang="en-US" sz="1100" dirty="0"/>
          </a:p>
        </p:txBody>
      </p:sp>
      <p:sp>
        <p:nvSpPr>
          <p:cNvPr id="3" name="Text 1"/>
          <p:cNvSpPr txBox="1"/>
          <p:nvPr/>
        </p:nvSpPr>
        <p:spPr>
          <a:xfrm>
            <a:off x="566928" y="941832"/>
            <a:ext cx="10607040" cy="594360"/>
          </a:xfrm>
          <a:prstGeom prst="rect">
            <a:avLst/>
          </a:prstGeom>
          <a:noFill/>
          <a:ln/>
        </p:spPr>
        <p:txBody>
          <a:bodyPr wrap="square" lIns="0" tIns="0" rIns="0" bIns="0" rtlCol="0" anchor="ctr"/>
          <a:lstStyle/>
          <a:p>
            <a:pPr algn="l" indent="0" marL="0">
              <a:buNone/>
            </a:pPr>
            <a:r>
              <a:rPr lang="en-US" sz="2600" b="1" dirty="0">
                <a:solidFill>
                  <a:srgbClr val="222222"/>
                </a:solidFill>
                <a:latin typeface="Lato" pitchFamily="34" charset="0"/>
                <a:ea typeface="Lato" pitchFamily="34" charset="-122"/>
                <a:cs typeface="Lato" pitchFamily="34" charset="-120"/>
              </a:rPr>
              <a:t>RTK Query so với createAsyncThunk thủ công</a:t>
            </a:r>
            <a:endParaRPr lang="en-US" sz="2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0881360" cy="914400"/>
        </p:xfrm>
        <a:graphic>
          <a:graphicData uri="http://schemas.openxmlformats.org/drawingml/2006/table">
            <a:tbl>
              <a:tblPr/>
              <a:tblGrid>
                <a:gridCol w="2377440"/>
                <a:gridCol w="4251960"/>
                <a:gridCol w="4251960"/>
              </a:tblGrid>
              <a:tr h="65836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Tiêu chí</a:t>
                      </a:r>
                      <a:endParaRPr lang="en-US" sz="1400" dirty="0">
                        <a:latin typeface="Calibri" charset="0"/>
                        <a:ea typeface="Calibri" charset="0"/>
                        <a:cs typeface="Calibri"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A2128"/>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createAsyncThunk thủ công</a:t>
                      </a:r>
                      <a:endParaRPr lang="en-US" sz="1400" dirty="0">
                        <a:latin typeface="Calibri" charset="0"/>
                        <a:ea typeface="Calibri" charset="0"/>
                        <a:cs typeface="Calibri"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A2128"/>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RTK Query</a:t>
                      </a:r>
                      <a:endParaRPr lang="en-US" sz="1400" dirty="0">
                        <a:latin typeface="Calibri" charset="0"/>
                        <a:ea typeface="Calibri" charset="0"/>
                        <a:cs typeface="Calibri"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A2128"/>
                    </a:solidFill>
                  </a:tcPr>
                </a:tc>
              </a:tr>
              <a:tr h="658368">
                <a:tc>
                  <a:txBody>
                    <a:bodyPr/>
                    <a:lstStyle/>
                    <a:p>
                      <a:pPr algn="l" indent="0" marL="0">
                        <a:buNone/>
                      </a:pPr>
                      <a:r>
                        <a:rPr lang="en-US" sz="1350" dirty="0">
                          <a:solidFill>
                            <a:srgbClr val="222222"/>
                          </a:solidFill>
                          <a:latin typeface="Calibri" pitchFamily="34" charset="0"/>
                          <a:ea typeface="Calibri" pitchFamily="34" charset="-122"/>
                          <a:cs typeface="Calibri" pitchFamily="34" charset="-120"/>
                        </a:rPr>
                        <a:t>Viết code</a:t>
                      </a:r>
                      <a:endParaRPr lang="en-US" sz="1350" dirty="0">
                        <a:latin typeface="Calibri" charset="0"/>
                        <a:ea typeface="Calibri" charset="0"/>
                        <a:cs typeface="Calibri"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222"/>
                          </a:solidFill>
                          <a:latin typeface="Calibri" pitchFamily="34" charset="0"/>
                          <a:ea typeface="Calibri" pitchFamily="34" charset="-122"/>
                          <a:cs typeface="Calibri" pitchFamily="34" charset="-120"/>
                        </a:rPr>
                        <a:t>Tự viết slice, xử lý 3 trạng thái, tự viết selector</a:t>
                      </a:r>
                      <a:endParaRPr lang="en-US" sz="1350" dirty="0">
                        <a:latin typeface="Calibri" charset="0"/>
                        <a:ea typeface="Calibri" charset="0"/>
                        <a:cs typeface="Calibri"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222"/>
                          </a:solidFill>
                          <a:latin typeface="Calibri" pitchFamily="34" charset="0"/>
                          <a:ea typeface="Calibri" pitchFamily="34" charset="-122"/>
                          <a:cs typeface="Calibri" pitchFamily="34" charset="-120"/>
                        </a:rPr>
                        <a:t>Chỉ khai báo endpoint, hook tự được sinh ra</a:t>
                      </a:r>
                      <a:endParaRPr lang="en-US" sz="1350" dirty="0">
                        <a:latin typeface="Calibri" charset="0"/>
                        <a:ea typeface="Calibri" charset="0"/>
                        <a:cs typeface="Calibri"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658368">
                <a:tc>
                  <a:txBody>
                    <a:bodyPr/>
                    <a:lstStyle/>
                    <a:p>
                      <a:pPr algn="l" indent="0" marL="0">
                        <a:buNone/>
                      </a:pPr>
                      <a:r>
                        <a:rPr lang="en-US" sz="1350" dirty="0">
                          <a:solidFill>
                            <a:srgbClr val="222222"/>
                          </a:solidFill>
                          <a:latin typeface="Calibri" pitchFamily="34" charset="0"/>
                          <a:ea typeface="Calibri" pitchFamily="34" charset="-122"/>
                          <a:cs typeface="Calibri" pitchFamily="34" charset="-120"/>
                        </a:rPr>
                        <a:t>Cache</a:t>
                      </a:r>
                      <a:endParaRPr lang="en-US" sz="1350" dirty="0">
                        <a:latin typeface="Calibri" charset="0"/>
                        <a:ea typeface="Calibri" charset="0"/>
                        <a:cs typeface="Calibri"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350" dirty="0">
                          <a:solidFill>
                            <a:srgbClr val="222222"/>
                          </a:solidFill>
                          <a:latin typeface="Calibri" pitchFamily="34" charset="0"/>
                          <a:ea typeface="Calibri" pitchFamily="34" charset="-122"/>
                          <a:cs typeface="Calibri" pitchFamily="34" charset="-120"/>
                        </a:rPr>
                        <a:t>Không có sẵn, mỗi lần gọi lại là 1 request mới</a:t>
                      </a:r>
                      <a:endParaRPr lang="en-US" sz="1350" dirty="0">
                        <a:latin typeface="Calibri" charset="0"/>
                        <a:ea typeface="Calibri" charset="0"/>
                        <a:cs typeface="Calibri"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350" dirty="0">
                          <a:solidFill>
                            <a:srgbClr val="222222"/>
                          </a:solidFill>
                          <a:latin typeface="Calibri" pitchFamily="34" charset="0"/>
                          <a:ea typeface="Calibri" pitchFamily="34" charset="-122"/>
                          <a:cs typeface="Calibri" pitchFamily="34" charset="-120"/>
                        </a:rPr>
                        <a:t>Tự cache theo tham số, tránh gọi API trùng lặp</a:t>
                      </a:r>
                      <a:endParaRPr lang="en-US" sz="1350" dirty="0">
                        <a:latin typeface="Calibri" charset="0"/>
                        <a:ea typeface="Calibri" charset="0"/>
                        <a:cs typeface="Calibri"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r>
              <a:tr h="658368">
                <a:tc>
                  <a:txBody>
                    <a:bodyPr/>
                    <a:lstStyle/>
                    <a:p>
                      <a:pPr algn="l" indent="0" marL="0">
                        <a:buNone/>
                      </a:pPr>
                      <a:r>
                        <a:rPr lang="en-US" sz="1350" dirty="0">
                          <a:solidFill>
                            <a:srgbClr val="222222"/>
                          </a:solidFill>
                          <a:latin typeface="Calibri" pitchFamily="34" charset="0"/>
                          <a:ea typeface="Calibri" pitchFamily="34" charset="-122"/>
                          <a:cs typeface="Calibri" pitchFamily="34" charset="-120"/>
                        </a:rPr>
                        <a:t>Refetch</a:t>
                      </a:r>
                      <a:endParaRPr lang="en-US" sz="1350" dirty="0">
                        <a:latin typeface="Calibri" charset="0"/>
                        <a:ea typeface="Calibri" charset="0"/>
                        <a:cs typeface="Calibri"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222"/>
                          </a:solidFill>
                          <a:latin typeface="Calibri" pitchFamily="34" charset="0"/>
                          <a:ea typeface="Calibri" pitchFamily="34" charset="-122"/>
                          <a:cs typeface="Calibri" pitchFamily="34" charset="-120"/>
                        </a:rPr>
                        <a:t>Phải tự viết logic gọi lại khi dữ liệu đổi</a:t>
                      </a:r>
                      <a:endParaRPr lang="en-US" sz="1350" dirty="0">
                        <a:latin typeface="Calibri" charset="0"/>
                        <a:ea typeface="Calibri" charset="0"/>
                        <a:cs typeface="Calibri"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222"/>
                          </a:solidFill>
                          <a:latin typeface="Calibri" pitchFamily="34" charset="0"/>
                          <a:ea typeface="Calibri" pitchFamily="34" charset="-122"/>
                          <a:cs typeface="Calibri" pitchFamily="34" charset="-120"/>
                        </a:rPr>
                        <a:t>Tự động refetch khi invalidate tag</a:t>
                      </a:r>
                      <a:endParaRPr lang="en-US" sz="1350" dirty="0">
                        <a:latin typeface="Calibri" charset="0"/>
                        <a:ea typeface="Calibri" charset="0"/>
                        <a:cs typeface="Calibri"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658368">
                <a:tc>
                  <a:txBody>
                    <a:bodyPr/>
                    <a:lstStyle/>
                    <a:p>
                      <a:pPr algn="l" indent="0" marL="0">
                        <a:buNone/>
                      </a:pPr>
                      <a:r>
                        <a:rPr lang="en-US" sz="1350" dirty="0">
                          <a:solidFill>
                            <a:srgbClr val="222222"/>
                          </a:solidFill>
                          <a:latin typeface="Calibri" pitchFamily="34" charset="0"/>
                          <a:ea typeface="Calibri" pitchFamily="34" charset="-122"/>
                          <a:cs typeface="Calibri" pitchFamily="34" charset="-120"/>
                        </a:rPr>
                        <a:t>Phù hợp khi</a:t>
                      </a:r>
                      <a:endParaRPr lang="en-US" sz="1350" dirty="0">
                        <a:latin typeface="Calibri" charset="0"/>
                        <a:ea typeface="Calibri" charset="0"/>
                        <a:cs typeface="Calibri"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350" dirty="0">
                          <a:solidFill>
                            <a:srgbClr val="222222"/>
                          </a:solidFill>
                          <a:latin typeface="Calibri" pitchFamily="34" charset="0"/>
                          <a:ea typeface="Calibri" pitchFamily="34" charset="-122"/>
                          <a:cs typeface="Calibri" pitchFamily="34" charset="-120"/>
                        </a:rPr>
                        <a:t>Cần logic nghiệp vụ phức tạp trong reducer</a:t>
                      </a:r>
                      <a:endParaRPr lang="en-US" sz="1350" dirty="0">
                        <a:latin typeface="Calibri" charset="0"/>
                        <a:ea typeface="Calibri" charset="0"/>
                        <a:cs typeface="Calibri"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350" dirty="0">
                          <a:solidFill>
                            <a:srgbClr val="222222"/>
                          </a:solidFill>
                          <a:latin typeface="Calibri" pitchFamily="34" charset="0"/>
                          <a:ea typeface="Calibri" pitchFamily="34" charset="-122"/>
                          <a:cs typeface="Calibri" pitchFamily="34" charset="-120"/>
                        </a:rPr>
                        <a:t>Ứng dụng chủ yếu là CRUD gọi API REST</a:t>
                      </a:r>
                      <a:endParaRPr lang="en-US" sz="1350" dirty="0">
                        <a:latin typeface="Calibri" charset="0"/>
                        <a:ea typeface="Calibri" charset="0"/>
                        <a:cs typeface="Calibri"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5" name="Text 2"/>
          <p:cNvSpPr txBox="1"/>
          <p:nvPr/>
        </p:nvSpPr>
        <p:spPr>
          <a:xfrm>
            <a:off x="566928" y="5120640"/>
            <a:ext cx="10881360" cy="640080"/>
          </a:xfrm>
          <a:prstGeom prst="rect">
            <a:avLst/>
          </a:prstGeom>
          <a:noFill/>
          <a:ln/>
        </p:spPr>
        <p:txBody>
          <a:bodyPr wrap="square" lIns="0" tIns="0" rIns="0" bIns="0" rtlCol="0" anchor="t"/>
          <a:lstStyle/>
          <a:p>
            <a:pPr algn="l" indent="0" marL="0">
              <a:lnSpc>
                <a:spcPct val="120000"/>
              </a:lnSpc>
              <a:buNone/>
            </a:pPr>
            <a:r>
              <a:rPr lang="en-US" sz="1400" i="1" dirty="0">
                <a:solidFill>
                  <a:srgbClr val="595959"/>
                </a:solidFill>
                <a:latin typeface="Calibri" pitchFamily="34" charset="0"/>
                <a:ea typeface="Calibri" pitchFamily="34" charset="-122"/>
                <a:cs typeface="Calibri" pitchFamily="34" charset="-120"/>
              </a:rPr>
              <a:t>Buổi này chỉ giới thiệu khái niệm; đồ án cuối kỳ có thể chọn dùng RTK Query thay cho createAsyncThunk cho phần lấy dữ liệu (điểm cộng vận dụng kỹ thuật).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66928" y="713232"/>
            <a:ext cx="9144000" cy="274320"/>
          </a:xfrm>
          <a:prstGeom prst="rect">
            <a:avLst/>
          </a:prstGeom>
          <a:noFill/>
          <a:ln/>
        </p:spPr>
        <p:txBody>
          <a:bodyPr wrap="square" lIns="0" tIns="0" rIns="0" bIns="0" rtlCol="0" anchor="ctr"/>
          <a:lstStyle/>
          <a:p>
            <a:pPr algn="l" indent="0" marL="0">
              <a:buNone/>
            </a:pPr>
            <a:r>
              <a:rPr lang="en-US" sz="1100" b="1" spc="200" kern="0" dirty="0">
                <a:solidFill>
                  <a:srgbClr val="DA2128"/>
                </a:solidFill>
                <a:latin typeface="Calibri" pitchFamily="34" charset="0"/>
                <a:ea typeface="Calibri" pitchFamily="34" charset="-122"/>
                <a:cs typeface="Calibri" pitchFamily="34" charset="-120"/>
              </a:rPr>
              <a:t>07 · MIDDLEWARE &amp; DEVTOOLS</a:t>
            </a:r>
            <a:endParaRPr lang="en-US" sz="1100" dirty="0"/>
          </a:p>
        </p:txBody>
      </p:sp>
      <p:sp>
        <p:nvSpPr>
          <p:cNvPr id="3" name="Text 1"/>
          <p:cNvSpPr txBox="1"/>
          <p:nvPr/>
        </p:nvSpPr>
        <p:spPr>
          <a:xfrm>
            <a:off x="566928" y="941832"/>
            <a:ext cx="10607040" cy="594360"/>
          </a:xfrm>
          <a:prstGeom prst="rect">
            <a:avLst/>
          </a:prstGeom>
          <a:noFill/>
          <a:ln/>
        </p:spPr>
        <p:txBody>
          <a:bodyPr wrap="square" lIns="0" tIns="0" rIns="0" bIns="0" rtlCol="0" anchor="ctr"/>
          <a:lstStyle/>
          <a:p>
            <a:pPr algn="l" indent="0" marL="0">
              <a:buNone/>
            </a:pPr>
            <a:r>
              <a:rPr lang="en-US" sz="2600" b="1" dirty="0">
                <a:solidFill>
                  <a:srgbClr val="222222"/>
                </a:solidFill>
                <a:latin typeface="Lato" pitchFamily="34" charset="0"/>
                <a:ea typeface="Lato" pitchFamily="34" charset="-122"/>
                <a:cs typeface="Lato" pitchFamily="34" charset="-120"/>
              </a:rPr>
              <a:t>Middleware tuỳ chỉnh &amp; Redux DevTools</a:t>
            </a:r>
            <a:endParaRPr lang="en-US" sz="2600" dirty="0"/>
          </a:p>
        </p:txBody>
      </p:sp>
      <p:sp>
        <p:nvSpPr>
          <p:cNvPr id="4" name="Text 2"/>
          <p:cNvSpPr txBox="1"/>
          <p:nvPr/>
        </p:nvSpPr>
        <p:spPr>
          <a:xfrm>
            <a:off x="566928" y="1737360"/>
            <a:ext cx="10881360" cy="4023360"/>
          </a:xfrm>
          <a:prstGeom prst="rect">
            <a:avLst/>
          </a:prstGeom>
          <a:noFill/>
          <a:ln/>
        </p:spPr>
        <p:txBody>
          <a:bodyPr wrap="square" lIns="0" tIns="0" rIns="0" bIns="0" rtlCol="0" anchor="t"/>
          <a:lstStyle/>
          <a:p>
            <a:pPr algn="l" marL="228600" indent="-228600">
              <a:lnSpc>
                <a:spcPct val="122000"/>
              </a:lnSpc>
              <a:spcAft>
                <a:spcPts val="1500"/>
              </a:spcAft>
              <a:buSzPct val="100000"/>
              <a:buChar char="•"/>
            </a:pPr>
            <a:r>
              <a:rPr lang="en-US" sz="1500" dirty="0">
                <a:solidFill>
                  <a:srgbClr val="222222"/>
                </a:solidFill>
                <a:latin typeface="Calibri" pitchFamily="34" charset="0"/>
                <a:ea typeface="Calibri" pitchFamily="34" charset="-122"/>
                <a:cs typeface="Calibri" pitchFamily="34" charset="-120"/>
              </a:rPr>
              <a:t>Middleware là lớp trung gian nằm giữa lúc dispatch(action) và lúc action đến được reducer; configureStore() đã tự thêm sẵn redux-thunk middleware</a:t>
            </a:r>
            <a:endParaRPr lang="en-US" sz="1500" dirty="0"/>
          </a:p>
          <a:p>
            <a:pPr algn="l" marL="228600" indent="-228600">
              <a:lnSpc>
                <a:spcPct val="122000"/>
              </a:lnSpc>
              <a:spcAft>
                <a:spcPts val="1500"/>
              </a:spcAft>
              <a:buSzPct val="100000"/>
              <a:buChar char="•"/>
            </a:pPr>
            <a:r>
              <a:rPr lang="en-US" sz="1500" dirty="0">
                <a:solidFill>
                  <a:srgbClr val="222222"/>
                </a:solidFill>
                <a:latin typeface="Calibri" pitchFamily="34" charset="0"/>
                <a:ea typeface="Calibri" pitchFamily="34" charset="-122"/>
                <a:cs typeface="Calibri" pitchFamily="34" charset="-120"/>
              </a:rPr>
              <a:t>Có thể thêm middleware riêng bằng getDefaultMiddleware().concat(...), ví dụ middleware ghi log mọi action hoặc chặn action không hợp lệ trước khi tới reducer</a:t>
            </a:r>
            <a:endParaRPr lang="en-US" sz="1500" dirty="0"/>
          </a:p>
          <a:p>
            <a:pPr algn="l" marL="228600" indent="-228600">
              <a:lnSpc>
                <a:spcPct val="122000"/>
              </a:lnSpc>
              <a:spcAft>
                <a:spcPts val="1500"/>
              </a:spcAft>
              <a:buSzPct val="100000"/>
              <a:buChar char="•"/>
            </a:pPr>
            <a:r>
              <a:rPr lang="en-US" sz="1500" dirty="0">
                <a:solidFill>
                  <a:srgbClr val="222222"/>
                </a:solidFill>
                <a:latin typeface="Calibri" pitchFamily="34" charset="0"/>
                <a:ea typeface="Calibri" pitchFamily="34" charset="-122"/>
                <a:cs typeface="Calibri" pitchFamily="34" charset="-120"/>
              </a:rPr>
              <a:t>Redux DevTools Extension được bật tự động bởi configureStore(), cho phép xem lịch sử action kèm state trước/sau mỗi action</a:t>
            </a:r>
            <a:endParaRPr lang="en-US" sz="1500" dirty="0"/>
          </a:p>
          <a:p>
            <a:pPr algn="l" marL="228600" indent="-228600">
              <a:lnSpc>
                <a:spcPct val="122000"/>
              </a:lnSpc>
              <a:spcAft>
                <a:spcPts val="1500"/>
              </a:spcAft>
              <a:buSzPct val="100000"/>
              <a:buChar char="•"/>
            </a:pPr>
            <a:r>
              <a:rPr lang="en-US" sz="1500" dirty="0">
                <a:solidFill>
                  <a:srgbClr val="222222"/>
                </a:solidFill>
                <a:latin typeface="Calibri" pitchFamily="34" charset="0"/>
                <a:ea typeface="Calibri" pitchFamily="34" charset="-122"/>
                <a:cs typeface="Calibri" pitchFamily="34" charset="-120"/>
              </a:rPr>
              <a:t>"Time-travel debugging": có thể tua về 1 action bất kỳ trong quá khứ để xem lại state tại đúng thời điểm đó — rất hữu ích khi debug lỗi khó tái hiện, hoặc khi làm việc nhóm cần hiểu luồng action mà không đọc hết code</a:t>
            </a:r>
            <a:endParaRPr lang="en-US" sz="1500" dirty="0"/>
          </a:p>
          <a:p>
            <a:pPr algn="l" indent="0" marL="0">
              <a:lnSpc>
                <a:spcPct val="122000"/>
              </a:lnSpc>
              <a:spcAft>
                <a:spcPts val="1500"/>
              </a:spcAft>
              <a:buNone/>
            </a:pPr>
            <a:r>
              <a:rPr lang="en-US" sz="1500" b="1" dirty="0">
                <a:solidFill>
                  <a:srgbClr val="A81820"/>
                </a:solidFill>
                <a:latin typeface="Calibri" pitchFamily="34" charset="0"/>
                <a:ea typeface="Calibri" pitchFamily="34" charset="-122"/>
                <a:cs typeface="Calibri" pitchFamily="34" charset="-120"/>
              </a:rPr>
              <a:t>→ Đây là lợi thế lớn của Redux Toolkit so với việc tự quản lý state bằng useState/useReducer rải rác.</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66928" y="713232"/>
            <a:ext cx="9144000" cy="274320"/>
          </a:xfrm>
          <a:prstGeom prst="rect">
            <a:avLst/>
          </a:prstGeom>
          <a:noFill/>
          <a:ln/>
        </p:spPr>
        <p:txBody>
          <a:bodyPr wrap="square" lIns="0" tIns="0" rIns="0" bIns="0" rtlCol="0" anchor="ctr"/>
          <a:lstStyle/>
          <a:p>
            <a:pPr algn="l" indent="0" marL="0">
              <a:buNone/>
            </a:pPr>
            <a:r>
              <a:rPr lang="en-US" sz="1100" b="1" spc="200" kern="0" dirty="0">
                <a:solidFill>
                  <a:srgbClr val="DA2128"/>
                </a:solidFill>
                <a:latin typeface="Calibri" pitchFamily="34" charset="0"/>
                <a:ea typeface="Calibri" pitchFamily="34" charset="-122"/>
                <a:cs typeface="Calibri" pitchFamily="34" charset="-120"/>
              </a:rPr>
              <a:t>08 · SO SÁNH &amp; LỰA CHỌN</a:t>
            </a:r>
            <a:endParaRPr lang="en-US" sz="1100" dirty="0"/>
          </a:p>
        </p:txBody>
      </p:sp>
      <p:sp>
        <p:nvSpPr>
          <p:cNvPr id="3" name="Text 1"/>
          <p:cNvSpPr txBox="1"/>
          <p:nvPr/>
        </p:nvSpPr>
        <p:spPr>
          <a:xfrm>
            <a:off x="566928" y="941832"/>
            <a:ext cx="10607040" cy="594360"/>
          </a:xfrm>
          <a:prstGeom prst="rect">
            <a:avLst/>
          </a:prstGeom>
          <a:noFill/>
          <a:ln/>
        </p:spPr>
        <p:txBody>
          <a:bodyPr wrap="square" lIns="0" tIns="0" rIns="0" bIns="0" rtlCol="0" anchor="ctr"/>
          <a:lstStyle/>
          <a:p>
            <a:pPr algn="l" indent="0" marL="0">
              <a:buNone/>
            </a:pPr>
            <a:r>
              <a:rPr lang="en-US" sz="2600" b="1" dirty="0">
                <a:solidFill>
                  <a:srgbClr val="222222"/>
                </a:solidFill>
                <a:latin typeface="Lato" pitchFamily="34" charset="0"/>
                <a:ea typeface="Lato" pitchFamily="34" charset="-122"/>
                <a:cs typeface="Lato" pitchFamily="34" charset="-120"/>
              </a:rPr>
              <a:t>Tổng kết — Khi nào dùng Redux Toolkit?</a:t>
            </a:r>
            <a:endParaRPr lang="en-US" sz="2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0881360" cy="914400"/>
        </p:xfrm>
        <a:graphic>
          <a:graphicData uri="http://schemas.openxmlformats.org/drawingml/2006/table">
            <a:tbl>
              <a:tblPr/>
              <a:tblGrid>
                <a:gridCol w="2743200"/>
                <a:gridCol w="4069080"/>
                <a:gridCol w="4069080"/>
              </a:tblGrid>
              <a:tr h="65836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Tiêu chí</a:t>
                      </a:r>
                      <a:endParaRPr lang="en-US" sz="1400" dirty="0">
                        <a:latin typeface="Calibri" charset="0"/>
                        <a:ea typeface="Calibri" charset="0"/>
                        <a:cs typeface="Calibri"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A2128"/>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Context + useReducer</a:t>
                      </a:r>
                      <a:endParaRPr lang="en-US" sz="1400" dirty="0">
                        <a:latin typeface="Calibri" charset="0"/>
                        <a:ea typeface="Calibri" charset="0"/>
                        <a:cs typeface="Calibri"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A2128"/>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Redux Toolkit</a:t>
                      </a:r>
                      <a:endParaRPr lang="en-US" sz="1400" dirty="0">
                        <a:latin typeface="Calibri" charset="0"/>
                        <a:ea typeface="Calibri" charset="0"/>
                        <a:cs typeface="Calibri"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A2128"/>
                    </a:solidFill>
                  </a:tcPr>
                </a:tc>
              </a:tr>
              <a:tr h="658368">
                <a:tc>
                  <a:txBody>
                    <a:bodyPr/>
                    <a:lstStyle/>
                    <a:p>
                      <a:pPr algn="l" indent="0" marL="0">
                        <a:buNone/>
                      </a:pPr>
                      <a:r>
                        <a:rPr lang="en-US" sz="1350" dirty="0">
                          <a:solidFill>
                            <a:srgbClr val="222222"/>
                          </a:solidFill>
                          <a:latin typeface="Calibri" pitchFamily="34" charset="0"/>
                          <a:ea typeface="Calibri" pitchFamily="34" charset="-122"/>
                          <a:cs typeface="Calibri" pitchFamily="34" charset="-120"/>
                        </a:rPr>
                        <a:t>Phù hợp quy mô</a:t>
                      </a:r>
                      <a:endParaRPr lang="en-US" sz="1350" dirty="0">
                        <a:latin typeface="Calibri" charset="0"/>
                        <a:ea typeface="Calibri" charset="0"/>
                        <a:cs typeface="Calibri"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222"/>
                          </a:solidFill>
                          <a:latin typeface="Calibri" pitchFamily="34" charset="0"/>
                          <a:ea typeface="Calibri" pitchFamily="34" charset="-122"/>
                          <a:cs typeface="Calibri" pitchFamily="34" charset="-120"/>
                        </a:rPr>
                        <a:t>Nhỏ – vừa, ít state dùng chung</a:t>
                      </a:r>
                      <a:endParaRPr lang="en-US" sz="1350" dirty="0">
                        <a:latin typeface="Calibri" charset="0"/>
                        <a:ea typeface="Calibri" charset="0"/>
                        <a:cs typeface="Calibri"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222"/>
                          </a:solidFill>
                          <a:latin typeface="Calibri" pitchFamily="34" charset="0"/>
                          <a:ea typeface="Calibri" pitchFamily="34" charset="-122"/>
                          <a:cs typeface="Calibri" pitchFamily="34" charset="-120"/>
                        </a:rPr>
                        <a:t>Vừa – lớn, nhiều state dùng chung</a:t>
                      </a:r>
                      <a:endParaRPr lang="en-US" sz="1350" dirty="0">
                        <a:latin typeface="Calibri" charset="0"/>
                        <a:ea typeface="Calibri" charset="0"/>
                        <a:cs typeface="Calibri"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658368">
                <a:tc>
                  <a:txBody>
                    <a:bodyPr/>
                    <a:lstStyle/>
                    <a:p>
                      <a:pPr algn="l" indent="0" marL="0">
                        <a:buNone/>
                      </a:pPr>
                      <a:r>
                        <a:rPr lang="en-US" sz="1350" dirty="0">
                          <a:solidFill>
                            <a:srgbClr val="222222"/>
                          </a:solidFill>
                          <a:latin typeface="Calibri" pitchFamily="34" charset="0"/>
                          <a:ea typeface="Calibri" pitchFamily="34" charset="-122"/>
                          <a:cs typeface="Calibri" pitchFamily="34" charset="-120"/>
                        </a:rPr>
                        <a:t>Xử lý bất đồng bộ</a:t>
                      </a:r>
                      <a:endParaRPr lang="en-US" sz="1350" dirty="0">
                        <a:latin typeface="Calibri" charset="0"/>
                        <a:ea typeface="Calibri" charset="0"/>
                        <a:cs typeface="Calibri"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350" dirty="0">
                          <a:solidFill>
                            <a:srgbClr val="222222"/>
                          </a:solidFill>
                          <a:latin typeface="Calibri" pitchFamily="34" charset="0"/>
                          <a:ea typeface="Calibri" pitchFamily="34" charset="-122"/>
                          <a:cs typeface="Calibri" pitchFamily="34" charset="-120"/>
                        </a:rPr>
                        <a:t>Tự viết loading/error thủ công</a:t>
                      </a:r>
                      <a:endParaRPr lang="en-US" sz="1350" dirty="0">
                        <a:latin typeface="Calibri" charset="0"/>
                        <a:ea typeface="Calibri" charset="0"/>
                        <a:cs typeface="Calibri"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350" dirty="0">
                          <a:solidFill>
                            <a:srgbClr val="222222"/>
                          </a:solidFill>
                          <a:latin typeface="Calibri" pitchFamily="34" charset="0"/>
                          <a:ea typeface="Calibri" pitchFamily="34" charset="-122"/>
                          <a:cs typeface="Calibri" pitchFamily="34" charset="-120"/>
                        </a:rPr>
                        <a:t>createAsyncThunk có sẵn 3 trạng thái</a:t>
                      </a:r>
                      <a:endParaRPr lang="en-US" sz="1350" dirty="0">
                        <a:latin typeface="Calibri" charset="0"/>
                        <a:ea typeface="Calibri" charset="0"/>
                        <a:cs typeface="Calibri"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r>
              <a:tr h="658368">
                <a:tc>
                  <a:txBody>
                    <a:bodyPr/>
                    <a:lstStyle/>
                    <a:p>
                      <a:pPr algn="l" indent="0" marL="0">
                        <a:buNone/>
                      </a:pPr>
                      <a:r>
                        <a:rPr lang="en-US" sz="1350" dirty="0">
                          <a:solidFill>
                            <a:srgbClr val="222222"/>
                          </a:solidFill>
                          <a:latin typeface="Calibri" pitchFamily="34" charset="0"/>
                          <a:ea typeface="Calibri" pitchFamily="34" charset="-122"/>
                          <a:cs typeface="Calibri" pitchFamily="34" charset="-120"/>
                        </a:rPr>
                        <a:t>Công cụ debug</a:t>
                      </a:r>
                      <a:endParaRPr lang="en-US" sz="1350" dirty="0">
                        <a:latin typeface="Calibri" charset="0"/>
                        <a:ea typeface="Calibri" charset="0"/>
                        <a:cs typeface="Calibri"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222"/>
                          </a:solidFill>
                          <a:latin typeface="Calibri" pitchFamily="34" charset="0"/>
                          <a:ea typeface="Calibri" pitchFamily="34" charset="-122"/>
                          <a:cs typeface="Calibri" pitchFamily="34" charset="-120"/>
                        </a:rPr>
                        <a:t>Không có sẵn</a:t>
                      </a:r>
                      <a:endParaRPr lang="en-US" sz="1350" dirty="0">
                        <a:latin typeface="Calibri" charset="0"/>
                        <a:ea typeface="Calibri" charset="0"/>
                        <a:cs typeface="Calibri"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222"/>
                          </a:solidFill>
                          <a:latin typeface="Calibri" pitchFamily="34" charset="0"/>
                          <a:ea typeface="Calibri" pitchFamily="34" charset="-122"/>
                          <a:cs typeface="Calibri" pitchFamily="34" charset="-120"/>
                        </a:rPr>
                        <a:t>Redux DevTools, time-travel debugging</a:t>
                      </a:r>
                      <a:endParaRPr lang="en-US" sz="1350" dirty="0">
                        <a:latin typeface="Calibri" charset="0"/>
                        <a:ea typeface="Calibri" charset="0"/>
                        <a:cs typeface="Calibri"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658368">
                <a:tc>
                  <a:txBody>
                    <a:bodyPr/>
                    <a:lstStyle/>
                    <a:p>
                      <a:pPr algn="l" indent="0" marL="0">
                        <a:buNone/>
                      </a:pPr>
                      <a:r>
                        <a:rPr lang="en-US" sz="1350" dirty="0">
                          <a:solidFill>
                            <a:srgbClr val="222222"/>
                          </a:solidFill>
                          <a:latin typeface="Calibri" pitchFamily="34" charset="0"/>
                          <a:ea typeface="Calibri" pitchFamily="34" charset="-122"/>
                          <a:cs typeface="Calibri" pitchFamily="34" charset="-120"/>
                        </a:rPr>
                        <a:t>Boilerplate</a:t>
                      </a:r>
                      <a:endParaRPr lang="en-US" sz="1350" dirty="0">
                        <a:latin typeface="Calibri" charset="0"/>
                        <a:ea typeface="Calibri" charset="0"/>
                        <a:cs typeface="Calibri"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350" dirty="0">
                          <a:solidFill>
                            <a:srgbClr val="222222"/>
                          </a:solidFill>
                          <a:latin typeface="Calibri" pitchFamily="34" charset="0"/>
                          <a:ea typeface="Calibri" pitchFamily="34" charset="-122"/>
                          <a:cs typeface="Calibri" pitchFamily="34" charset="-120"/>
                        </a:rPr>
                        <a:t>Ít, nhưng khó mở rộng khi state lớn</a:t>
                      </a:r>
                      <a:endParaRPr lang="en-US" sz="1350" dirty="0">
                        <a:latin typeface="Calibri" charset="0"/>
                        <a:ea typeface="Calibri" charset="0"/>
                        <a:cs typeface="Calibri"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350" dirty="0">
                          <a:solidFill>
                            <a:srgbClr val="222222"/>
                          </a:solidFill>
                          <a:latin typeface="Calibri" pitchFamily="34" charset="0"/>
                          <a:ea typeface="Calibri" pitchFamily="34" charset="-122"/>
                          <a:cs typeface="Calibri" pitchFamily="34" charset="-120"/>
                        </a:rPr>
                        <a:t>Đã tối giản đáng kể nhờ createSlice</a:t>
                      </a:r>
                      <a:endParaRPr lang="en-US" sz="1350" dirty="0">
                        <a:latin typeface="Calibri" charset="0"/>
                        <a:ea typeface="Calibri" charset="0"/>
                        <a:cs typeface="Calibri"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5" name="Text 2"/>
          <p:cNvSpPr txBox="1"/>
          <p:nvPr/>
        </p:nvSpPr>
        <p:spPr>
          <a:xfrm>
            <a:off x="566928" y="5166360"/>
            <a:ext cx="10881360" cy="640080"/>
          </a:xfrm>
          <a:prstGeom prst="rect">
            <a:avLst/>
          </a:prstGeom>
          <a:noFill/>
          <a:ln/>
        </p:spPr>
        <p:txBody>
          <a:bodyPr wrap="square" lIns="0" tIns="0" rIns="0" bIns="0" rtlCol="0" anchor="t"/>
          <a:lstStyle/>
          <a:p>
            <a:pPr algn="l" indent="0" marL="0">
              <a:lnSpc>
                <a:spcPct val="120000"/>
              </a:lnSpc>
              <a:buNone/>
            </a:pPr>
            <a:r>
              <a:rPr lang="en-US" sz="1400" i="1" dirty="0">
                <a:solidFill>
                  <a:srgbClr val="595959"/>
                </a:solidFill>
                <a:latin typeface="Calibri" pitchFamily="34" charset="0"/>
                <a:ea typeface="Calibri" pitchFamily="34" charset="-122"/>
                <a:cs typeface="Calibri" pitchFamily="34" charset="-120"/>
              </a:rPr>
              <a:t>Xu hướng chung: dự án nhỏ ưu tiên Context; dự án có nhiều nhóm phát triển song song, nhiều state dùng chung nên chuyển sang Redux Toolkit ngay từ đầu.</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66928" y="2331720"/>
            <a:ext cx="11055096" cy="457200"/>
          </a:xfrm>
          <a:prstGeom prst="rect">
            <a:avLst/>
          </a:prstGeom>
          <a:noFill/>
          <a:ln/>
        </p:spPr>
        <p:txBody>
          <a:bodyPr wrap="square" lIns="0" tIns="0" rIns="0" bIns="0" rtlCol="0" anchor="ctr"/>
          <a:lstStyle/>
          <a:p>
            <a:pPr algn="ctr" indent="0" marL="0">
              <a:buNone/>
            </a:pPr>
            <a:r>
              <a:rPr lang="en-US" sz="1600" b="1" spc="300" kern="0" dirty="0">
                <a:solidFill>
                  <a:srgbClr val="595959"/>
                </a:solidFill>
                <a:latin typeface="Calibri" pitchFamily="34" charset="0"/>
                <a:ea typeface="Calibri" pitchFamily="34" charset="-122"/>
                <a:cs typeface="Calibri" pitchFamily="34" charset="-120"/>
              </a:rPr>
              <a:t>PHẦN 2 · THỰC HÀNH</a:t>
            </a:r>
            <a:endParaRPr lang="en-US" sz="1600" dirty="0"/>
          </a:p>
        </p:txBody>
      </p:sp>
      <p:sp>
        <p:nvSpPr>
          <p:cNvPr id="3" name="Text 1"/>
          <p:cNvSpPr txBox="1"/>
          <p:nvPr/>
        </p:nvSpPr>
        <p:spPr>
          <a:xfrm>
            <a:off x="566928" y="2788920"/>
            <a:ext cx="11055096" cy="1188720"/>
          </a:xfrm>
          <a:prstGeom prst="rect">
            <a:avLst/>
          </a:prstGeom>
          <a:noFill/>
          <a:ln/>
        </p:spPr>
        <p:txBody>
          <a:bodyPr wrap="square" lIns="0" tIns="0" rIns="0" bIns="0" rtlCol="0" anchor="ctr"/>
          <a:lstStyle/>
          <a:p>
            <a:pPr algn="ctr" indent="0" marL="0">
              <a:buNone/>
            </a:pPr>
            <a:r>
              <a:rPr lang="en-US" sz="3400" b="1" dirty="0">
                <a:solidFill>
                  <a:srgbClr val="DA2128"/>
                </a:solidFill>
                <a:latin typeface="Lato" pitchFamily="34" charset="0"/>
                <a:ea typeface="Lato" pitchFamily="34" charset="-122"/>
                <a:cs typeface="Lato" pitchFamily="34" charset="-120"/>
              </a:rPr>
              <a:t>CÙNG VIẾT CODE</a:t>
            </a:r>
            <a:endParaRPr lang="en-US" sz="3400" dirty="0"/>
          </a:p>
        </p:txBody>
      </p:sp>
      <p:sp>
        <p:nvSpPr>
          <p:cNvPr id="4" name="Text 2"/>
          <p:cNvSpPr txBox="1"/>
          <p:nvPr/>
        </p:nvSpPr>
        <p:spPr>
          <a:xfrm>
            <a:off x="1371600" y="3977640"/>
            <a:ext cx="9445752" cy="548640"/>
          </a:xfrm>
          <a:prstGeom prst="rect">
            <a:avLst/>
          </a:prstGeom>
          <a:noFill/>
          <a:ln/>
        </p:spPr>
        <p:txBody>
          <a:bodyPr wrap="square" lIns="0" tIns="0" rIns="0" bIns="0" rtlCol="0" anchor="ctr"/>
          <a:lstStyle/>
          <a:p>
            <a:pPr algn="ctr" indent="0" marL="0">
              <a:buNone/>
            </a:pPr>
            <a:r>
              <a:rPr lang="en-US" sz="1500" i="1" dirty="0">
                <a:solidFill>
                  <a:srgbClr val="595959"/>
                </a:solidFill>
                <a:latin typeface="Calibri" pitchFamily="34" charset="0"/>
                <a:ea typeface="Calibri" pitchFamily="34" charset="-122"/>
                <a:cs typeface="Calibri" pitchFamily="34" charset="-120"/>
              </a:rPr>
              <a:t>Áp dụng ngay Redux Toolkit vào 3 bài thực hành</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66928" y="713232"/>
            <a:ext cx="9144000" cy="274320"/>
          </a:xfrm>
          <a:prstGeom prst="rect">
            <a:avLst/>
          </a:prstGeom>
          <a:noFill/>
          <a:ln/>
        </p:spPr>
        <p:txBody>
          <a:bodyPr wrap="square" lIns="0" tIns="0" rIns="0" bIns="0" rtlCol="0" anchor="ctr"/>
          <a:lstStyle/>
          <a:p>
            <a:pPr algn="l" indent="0" marL="0">
              <a:buNone/>
            </a:pPr>
            <a:r>
              <a:rPr lang="en-US" sz="1100" b="1" spc="200" kern="0" dirty="0">
                <a:solidFill>
                  <a:srgbClr val="DA2128"/>
                </a:solidFill>
                <a:latin typeface="Calibri" pitchFamily="34" charset="0"/>
                <a:ea typeface="Calibri" pitchFamily="34" charset="-122"/>
                <a:cs typeface="Calibri" pitchFamily="34" charset="-120"/>
              </a:rPr>
              <a:t>BÀI 1/3</a:t>
            </a:r>
            <a:endParaRPr lang="en-US" sz="1100" dirty="0"/>
          </a:p>
        </p:txBody>
      </p:sp>
      <p:sp>
        <p:nvSpPr>
          <p:cNvPr id="3" name="Text 1"/>
          <p:cNvSpPr txBox="1"/>
          <p:nvPr/>
        </p:nvSpPr>
        <p:spPr>
          <a:xfrm>
            <a:off x="566928" y="941832"/>
            <a:ext cx="10607040" cy="594360"/>
          </a:xfrm>
          <a:prstGeom prst="rect">
            <a:avLst/>
          </a:prstGeom>
          <a:noFill/>
          <a:ln/>
        </p:spPr>
        <p:txBody>
          <a:bodyPr wrap="square" lIns="0" tIns="0" rIns="0" bIns="0" rtlCol="0" anchor="ctr"/>
          <a:lstStyle/>
          <a:p>
            <a:pPr algn="l" indent="0" marL="0">
              <a:buNone/>
            </a:pPr>
            <a:r>
              <a:rPr lang="en-US" sz="2600" b="1" dirty="0">
                <a:solidFill>
                  <a:srgbClr val="222222"/>
                </a:solidFill>
                <a:latin typeface="Lato" pitchFamily="34" charset="0"/>
                <a:ea typeface="Lato" pitchFamily="34" charset="-122"/>
                <a:cs typeface="Lato" pitchFamily="34" charset="-120"/>
              </a:rPr>
              <a:t>Thực hành 1 — cartSlice với createSlice</a:t>
            </a:r>
            <a:endParaRPr lang="en-US" sz="2600" dirty="0"/>
          </a:p>
        </p:txBody>
      </p:sp>
      <p:sp>
        <p:nvSpPr>
          <p:cNvPr id="4" name="Text 2"/>
          <p:cNvSpPr txBox="1"/>
          <p:nvPr/>
        </p:nvSpPr>
        <p:spPr>
          <a:xfrm>
            <a:off x="566928" y="1737360"/>
            <a:ext cx="10881360" cy="3108960"/>
          </a:xfrm>
          <a:prstGeom prst="rect">
            <a:avLst/>
          </a:prstGeom>
          <a:noFill/>
          <a:ln/>
        </p:spPr>
        <p:txBody>
          <a:bodyPr wrap="square" lIns="0" tIns="0" rIns="0" bIns="0" rtlCol="0" anchor="t"/>
          <a:lstStyle/>
          <a:p>
            <a:pPr algn="l" indent="0" marL="0">
              <a:lnSpc>
                <a:spcPct val="115000"/>
              </a:lnSpc>
              <a:spcAft>
                <a:spcPts val="1000"/>
              </a:spcAft>
              <a:buNone/>
            </a:pPr>
            <a:r>
              <a:rPr lang="en-US" sz="1450" b="1" dirty="0">
                <a:solidFill>
                  <a:srgbClr val="A81820"/>
                </a:solidFill>
                <a:latin typeface="Calibri" pitchFamily="34" charset="0"/>
                <a:ea typeface="Calibri" pitchFamily="34" charset="-122"/>
                <a:cs typeface="Calibri" pitchFamily="34" charset="-120"/>
              </a:rPr>
              <a:t>Yêu cầu:</a:t>
            </a:r>
            <a:endParaRPr lang="en-US" sz="1450" dirty="0"/>
          </a:p>
          <a:p>
            <a:pPr algn="l" marL="228600" indent="-228600">
              <a:lnSpc>
                <a:spcPct val="115000"/>
              </a:lnSpc>
              <a:spcAft>
                <a:spcPts val="1000"/>
              </a:spcAft>
              <a:buSzPct val="100000"/>
              <a:buChar char="•"/>
            </a:pPr>
            <a:r>
              <a:rPr lang="en-US" sz="1450" dirty="0">
                <a:solidFill>
                  <a:srgbClr val="222222"/>
                </a:solidFill>
                <a:latin typeface="Calibri" pitchFamily="34" charset="0"/>
                <a:ea typeface="Calibri" pitchFamily="34" charset="-122"/>
                <a:cs typeface="Calibri" pitchFamily="34" charset="-120"/>
              </a:rPr>
              <a:t>Viết cartSlice quản lý danh sách sản phẩm trong giỏ hàng bằng createSlice</a:t>
            </a:r>
            <a:endParaRPr lang="en-US" sz="1450" dirty="0"/>
          </a:p>
          <a:p>
            <a:pPr algn="l" marL="228600" indent="-228600">
              <a:lnSpc>
                <a:spcPct val="115000"/>
              </a:lnSpc>
              <a:spcAft>
                <a:spcPts val="1000"/>
              </a:spcAft>
              <a:buSzPct val="100000"/>
              <a:buChar char="•"/>
            </a:pPr>
            <a:r>
              <a:rPr lang="en-US" sz="1450" dirty="0">
                <a:solidFill>
                  <a:srgbClr val="222222"/>
                </a:solidFill>
                <a:latin typeface="Calibri" pitchFamily="34" charset="0"/>
                <a:ea typeface="Calibri" pitchFamily="34" charset="-122"/>
                <a:cs typeface="Calibri" pitchFamily="34" charset="-120"/>
              </a:rPr>
              <a:t>Có đủ 3 reducer: addItem, removeItem, updateQuantity</a:t>
            </a:r>
            <a:endParaRPr lang="en-US" sz="1450" dirty="0"/>
          </a:p>
          <a:p>
            <a:pPr algn="l" indent="0" marL="0">
              <a:lnSpc>
                <a:spcPct val="115000"/>
              </a:lnSpc>
              <a:spcAft>
                <a:spcPts val="1000"/>
              </a:spcAft>
              <a:buNone/>
            </a:pPr>
            <a:r>
              <a:rPr lang="en-US" sz="1450" b="1" dirty="0">
                <a:solidFill>
                  <a:srgbClr val="A81820"/>
                </a:solidFill>
                <a:latin typeface="Calibri" pitchFamily="34" charset="0"/>
                <a:ea typeface="Calibri" pitchFamily="34" charset="-122"/>
                <a:cs typeface="Calibri" pitchFamily="34" charset="-120"/>
              </a:rPr>
              <a:t>Bước thực hiện:</a:t>
            </a:r>
            <a:endParaRPr lang="en-US" sz="1450" dirty="0"/>
          </a:p>
          <a:p>
            <a:pPr algn="l" marL="228600" indent="-228600">
              <a:lnSpc>
                <a:spcPct val="115000"/>
              </a:lnSpc>
              <a:spcAft>
                <a:spcPts val="1000"/>
              </a:spcAft>
              <a:buSzPct val="100000"/>
              <a:buChar char="•"/>
            </a:pPr>
            <a:r>
              <a:rPr lang="en-US" sz="1450" dirty="0">
                <a:solidFill>
                  <a:srgbClr val="222222"/>
                </a:solidFill>
                <a:latin typeface="Calibri" pitchFamily="34" charset="0"/>
                <a:ea typeface="Calibri" pitchFamily="34" charset="-122"/>
                <a:cs typeface="Calibri" pitchFamily="34" charset="-120"/>
              </a:rPr>
              <a:t>① Định nghĩa CartItem, CartState bằng TypeScript</a:t>
            </a:r>
            <a:endParaRPr lang="en-US" sz="1450" dirty="0"/>
          </a:p>
          <a:p>
            <a:pPr algn="l" marL="228600" indent="-228600">
              <a:lnSpc>
                <a:spcPct val="115000"/>
              </a:lnSpc>
              <a:spcAft>
                <a:spcPts val="1000"/>
              </a:spcAft>
              <a:buSzPct val="100000"/>
              <a:buChar char="•"/>
            </a:pPr>
            <a:r>
              <a:rPr lang="en-US" sz="1450" dirty="0">
                <a:solidFill>
                  <a:srgbClr val="222222"/>
                </a:solidFill>
                <a:latin typeface="Calibri" pitchFamily="34" charset="0"/>
                <a:ea typeface="Calibri" pitchFamily="34" charset="-122"/>
                <a:cs typeface="Calibri" pitchFamily="34" charset="-120"/>
              </a:rPr>
              <a:t>② Viết createSlice với 3 reducer, dùng PayloadAction&lt;T&gt; cho từng action</a:t>
            </a:r>
            <a:endParaRPr lang="en-US" sz="1450" dirty="0"/>
          </a:p>
          <a:p>
            <a:pPr algn="l" marL="228600" indent="-228600">
              <a:lnSpc>
                <a:spcPct val="115000"/>
              </a:lnSpc>
              <a:spcAft>
                <a:spcPts val="1000"/>
              </a:spcAft>
              <a:buSzPct val="100000"/>
              <a:buChar char="•"/>
            </a:pPr>
            <a:r>
              <a:rPr lang="en-US" sz="1450" dirty="0">
                <a:solidFill>
                  <a:srgbClr val="222222"/>
                </a:solidFill>
                <a:latin typeface="Calibri" pitchFamily="34" charset="0"/>
                <a:ea typeface="Calibri" pitchFamily="34" charset="-122"/>
                <a:cs typeface="Calibri" pitchFamily="34" charset="-120"/>
              </a:rPr>
              <a:t>③ Đặt file tại features/cart/cartSlice.ts (đúng cấu trúc feature-based), export actions và reducer, ghép vào configureStore</a:t>
            </a:r>
            <a:endParaRPr lang="en-US" sz="1450" dirty="0"/>
          </a:p>
        </p:txBody>
      </p:sp>
      <p:sp>
        <p:nvSpPr>
          <p:cNvPr id="5" name="Shape 3"/>
          <p:cNvSpPr/>
          <p:nvPr/>
        </p:nvSpPr>
        <p:spPr>
          <a:xfrm>
            <a:off x="566928" y="4937760"/>
            <a:ext cx="10881360" cy="1051560"/>
          </a:xfrm>
          <a:prstGeom prst="roundRect">
            <a:avLst>
              <a:gd name="adj" fmla="val 6957"/>
            </a:avLst>
          </a:prstGeom>
          <a:solidFill>
            <a:srgbClr val="1E1E2E"/>
          </a:solidFill>
          <a:ln/>
          <a:effectLst>
            <a:outerShdw sx="100000" sy="100000" kx="0" ky="0" algn="bl" rotWithShape="0" blurRad="76200" dist="25400" dir="5400000">
              <a:srgbClr val="000000">
                <a:alpha val="25000"/>
              </a:srgbClr>
            </a:outerShdw>
          </a:effectLst>
        </p:spPr>
      </p:sp>
      <p:sp>
        <p:nvSpPr>
          <p:cNvPr id="6" name="Text 4"/>
          <p:cNvSpPr txBox="1"/>
          <p:nvPr/>
        </p:nvSpPr>
        <p:spPr>
          <a:xfrm>
            <a:off x="795528" y="5120640"/>
            <a:ext cx="10424160" cy="685800"/>
          </a:xfrm>
          <a:prstGeom prst="rect">
            <a:avLst/>
          </a:prstGeom>
          <a:noFill/>
          <a:ln/>
        </p:spPr>
        <p:txBody>
          <a:bodyPr wrap="square" lIns="0" tIns="0" rIns="0" bIns="0" rtlCol="0" anchor="t"/>
          <a:lstStyle/>
          <a:p>
            <a:pPr algn="l" indent="0" marL="0">
              <a:lnSpc>
                <a:spcPct val="120000"/>
              </a:lnSpc>
              <a:buNone/>
            </a:pPr>
            <a:r>
              <a:rPr lang="en-US" sz="1350" dirty="0">
                <a:solidFill>
                  <a:srgbClr val="D8DEE9"/>
                </a:solidFill>
                <a:latin typeface="Courier New" pitchFamily="34" charset="0"/>
                <a:ea typeface="Courier New" pitchFamily="34" charset="-122"/>
                <a:cs typeface="Courier New" pitchFamily="34" charset="-120"/>
              </a:rPr>
              <a:t>addItem(state, action: </a:t>
            </a:r>
            <a:pPr algn="l" indent="0" marL="0">
              <a:lnSpc>
                <a:spcPct val="120000"/>
              </a:lnSpc>
              <a:buNone/>
            </a:pPr>
            <a:r>
              <a:rPr lang="en-US" sz="1350" dirty="0">
                <a:solidFill>
                  <a:srgbClr val="E0AF68"/>
                </a:solidFill>
                <a:latin typeface="Courier New" pitchFamily="34" charset="0"/>
                <a:ea typeface="Courier New" pitchFamily="34" charset="-122"/>
                <a:cs typeface="Courier New" pitchFamily="34" charset="-120"/>
              </a:rPr>
              <a:t>PayloadAction</a:t>
            </a:r>
            <a:pPr algn="l" indent="0" marL="0">
              <a:lnSpc>
                <a:spcPct val="120000"/>
              </a:lnSpc>
              <a:buNone/>
            </a:pPr>
            <a:r>
              <a:rPr lang="en-US" sz="1350" dirty="0">
                <a:solidFill>
                  <a:srgbClr val="D8DEE9"/>
                </a:solidFill>
                <a:latin typeface="Courier New" pitchFamily="34" charset="0"/>
                <a:ea typeface="Courier New" pitchFamily="34" charset="-122"/>
                <a:cs typeface="Courier New" pitchFamily="34" charset="-120"/>
              </a:rPr>
              <a:t>&lt;</a:t>
            </a:r>
            <a:pPr algn="l" indent="0" marL="0">
              <a:lnSpc>
                <a:spcPct val="120000"/>
              </a:lnSpc>
              <a:buNone/>
            </a:pPr>
            <a:r>
              <a:rPr lang="en-US" sz="1350" dirty="0">
                <a:solidFill>
                  <a:srgbClr val="E0AF68"/>
                </a:solidFill>
                <a:latin typeface="Courier New" pitchFamily="34" charset="0"/>
                <a:ea typeface="Courier New" pitchFamily="34" charset="-122"/>
                <a:cs typeface="Courier New" pitchFamily="34" charset="-120"/>
              </a:rPr>
              <a:t>CartItem</a:t>
            </a:r>
            <a:pPr algn="l" indent="0" marL="0">
              <a:lnSpc>
                <a:spcPct val="120000"/>
              </a:lnSpc>
              <a:buNone/>
            </a:pPr>
            <a:r>
              <a:rPr lang="en-US" sz="1350" dirty="0">
                <a:solidFill>
                  <a:srgbClr val="D8DEE9"/>
                </a:solidFill>
                <a:latin typeface="Courier New" pitchFamily="34" charset="0"/>
                <a:ea typeface="Courier New" pitchFamily="34" charset="-122"/>
                <a:cs typeface="Courier New" pitchFamily="34" charset="-120"/>
              </a:rPr>
              <a:t>&gt;) {</a:t>
            </a:r>
            <a:endParaRPr lang="en-US" sz="1350" dirty="0"/>
          </a:p>
          <a:p>
            <a:pPr algn="l" indent="0" marL="0">
              <a:lnSpc>
                <a:spcPct val="120000"/>
              </a:lnSpc>
              <a:buNone/>
            </a:pPr>
            <a:r>
              <a:rPr lang="en-US" sz="1350" dirty="0">
                <a:solidFill>
                  <a:srgbClr val="D8DEE9"/>
                </a:solidFill>
                <a:latin typeface="Courier New" pitchFamily="34" charset="0"/>
                <a:ea typeface="Courier New" pitchFamily="34" charset="-122"/>
                <a:cs typeface="Courier New" pitchFamily="34" charset="-120"/>
              </a:rPr>
              <a:t>  state.items.push(action.payload);</a:t>
            </a:r>
            <a:endParaRPr lang="en-US" sz="1350" dirty="0"/>
          </a:p>
          <a:p>
            <a:pPr algn="l" indent="0" marL="0">
              <a:lnSpc>
                <a:spcPct val="120000"/>
              </a:lnSpc>
              <a:buNone/>
            </a:pPr>
            <a:r>
              <a:rPr lang="en-US" sz="1350" dirty="0">
                <a:solidFill>
                  <a:srgbClr val="D8DEE9"/>
                </a:solidFill>
                <a:latin typeface="Courier New" pitchFamily="34" charset="0"/>
                <a:ea typeface="Courier New" pitchFamily="34" charset="-122"/>
                <a:cs typeface="Courier New" pitchFamily="34" charset="-120"/>
              </a:rPr>
              <a:t>}</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66928" y="713232"/>
            <a:ext cx="9144000" cy="274320"/>
          </a:xfrm>
          <a:prstGeom prst="rect">
            <a:avLst/>
          </a:prstGeom>
          <a:noFill/>
          <a:ln/>
        </p:spPr>
        <p:txBody>
          <a:bodyPr wrap="square" lIns="0" tIns="0" rIns="0" bIns="0" rtlCol="0" anchor="ctr"/>
          <a:lstStyle/>
          <a:p>
            <a:pPr algn="l" indent="0" marL="0">
              <a:buNone/>
            </a:pPr>
            <a:r>
              <a:rPr lang="en-US" sz="1100" b="1" spc="200" kern="0" dirty="0">
                <a:solidFill>
                  <a:srgbClr val="DA2128"/>
                </a:solidFill>
                <a:latin typeface="Calibri" pitchFamily="34" charset="0"/>
                <a:ea typeface="Calibri" pitchFamily="34" charset="-122"/>
                <a:cs typeface="Calibri" pitchFamily="34" charset="-120"/>
              </a:rPr>
              <a:t>BÀI 2/3</a:t>
            </a:r>
            <a:endParaRPr lang="en-US" sz="1100" dirty="0"/>
          </a:p>
        </p:txBody>
      </p:sp>
      <p:sp>
        <p:nvSpPr>
          <p:cNvPr id="3" name="Text 1"/>
          <p:cNvSpPr txBox="1"/>
          <p:nvPr/>
        </p:nvSpPr>
        <p:spPr>
          <a:xfrm>
            <a:off x="566928" y="941832"/>
            <a:ext cx="10607040" cy="594360"/>
          </a:xfrm>
          <a:prstGeom prst="rect">
            <a:avLst/>
          </a:prstGeom>
          <a:noFill/>
          <a:ln/>
        </p:spPr>
        <p:txBody>
          <a:bodyPr wrap="square" lIns="0" tIns="0" rIns="0" bIns="0" rtlCol="0" anchor="ctr"/>
          <a:lstStyle/>
          <a:p>
            <a:pPr algn="l" indent="0" marL="0">
              <a:buNone/>
            </a:pPr>
            <a:r>
              <a:rPr lang="en-US" sz="2600" b="1" dirty="0">
                <a:solidFill>
                  <a:srgbClr val="222222"/>
                </a:solidFill>
                <a:latin typeface="Lato" pitchFamily="34" charset="0"/>
                <a:ea typeface="Lato" pitchFamily="34" charset="-122"/>
                <a:cs typeface="Lato" pitchFamily="34" charset="-120"/>
              </a:rPr>
              <a:t>Thực hành 2 — productsSlice với createAsyncThunk</a:t>
            </a:r>
            <a:endParaRPr lang="en-US" sz="2600" dirty="0"/>
          </a:p>
        </p:txBody>
      </p:sp>
      <p:sp>
        <p:nvSpPr>
          <p:cNvPr id="4" name="Text 2"/>
          <p:cNvSpPr txBox="1"/>
          <p:nvPr/>
        </p:nvSpPr>
        <p:spPr>
          <a:xfrm>
            <a:off x="566928" y="1737360"/>
            <a:ext cx="10881360" cy="3108960"/>
          </a:xfrm>
          <a:prstGeom prst="rect">
            <a:avLst/>
          </a:prstGeom>
          <a:noFill/>
          <a:ln/>
        </p:spPr>
        <p:txBody>
          <a:bodyPr wrap="square" lIns="0" tIns="0" rIns="0" bIns="0" rtlCol="0" anchor="t"/>
          <a:lstStyle/>
          <a:p>
            <a:pPr algn="l" indent="0" marL="0">
              <a:lnSpc>
                <a:spcPct val="115000"/>
              </a:lnSpc>
              <a:spcAft>
                <a:spcPts val="1000"/>
              </a:spcAft>
              <a:buNone/>
            </a:pPr>
            <a:r>
              <a:rPr lang="en-US" sz="1450" b="1" dirty="0">
                <a:solidFill>
                  <a:srgbClr val="A81820"/>
                </a:solidFill>
                <a:latin typeface="Calibri" pitchFamily="34" charset="0"/>
                <a:ea typeface="Calibri" pitchFamily="34" charset="-122"/>
                <a:cs typeface="Calibri" pitchFamily="34" charset="-120"/>
              </a:rPr>
              <a:t>Yêu cầu:</a:t>
            </a:r>
            <a:endParaRPr lang="en-US" sz="1450" dirty="0"/>
          </a:p>
          <a:p>
            <a:pPr algn="l" marL="228600" indent="-228600">
              <a:lnSpc>
                <a:spcPct val="115000"/>
              </a:lnSpc>
              <a:spcAft>
                <a:spcPts val="1000"/>
              </a:spcAft>
              <a:buSzPct val="100000"/>
              <a:buChar char="•"/>
            </a:pPr>
            <a:r>
              <a:rPr lang="en-US" sz="1450" dirty="0">
                <a:solidFill>
                  <a:srgbClr val="222222"/>
                </a:solidFill>
                <a:latin typeface="Calibri" pitchFamily="34" charset="0"/>
                <a:ea typeface="Calibri" pitchFamily="34" charset="-122"/>
                <a:cs typeface="Calibri" pitchFamily="34" charset="-120"/>
              </a:rPr>
              <a:t>Viết fetchProducts bằng createAsyncThunk gọi API /api/products</a:t>
            </a:r>
            <a:endParaRPr lang="en-US" sz="1450" dirty="0"/>
          </a:p>
          <a:p>
            <a:pPr algn="l" marL="228600" indent="-228600">
              <a:lnSpc>
                <a:spcPct val="115000"/>
              </a:lnSpc>
              <a:spcAft>
                <a:spcPts val="1000"/>
              </a:spcAft>
              <a:buSzPct val="100000"/>
              <a:buChar char="•"/>
            </a:pPr>
            <a:r>
              <a:rPr lang="en-US" sz="1450" dirty="0">
                <a:solidFill>
                  <a:srgbClr val="222222"/>
                </a:solidFill>
                <a:latin typeface="Calibri" pitchFamily="34" charset="0"/>
                <a:ea typeface="Calibri" pitchFamily="34" charset="-122"/>
                <a:cs typeface="Calibri" pitchFamily="34" charset="-120"/>
              </a:rPr>
              <a:t>Xử lý đủ 3 trạng thái pending/fulfilled/rejected trong extraReducers</a:t>
            </a:r>
            <a:endParaRPr lang="en-US" sz="1450" dirty="0"/>
          </a:p>
          <a:p>
            <a:pPr algn="l" indent="0" marL="0">
              <a:lnSpc>
                <a:spcPct val="115000"/>
              </a:lnSpc>
              <a:spcAft>
                <a:spcPts val="1000"/>
              </a:spcAft>
              <a:buNone/>
            </a:pPr>
            <a:r>
              <a:rPr lang="en-US" sz="1450" b="1" dirty="0">
                <a:solidFill>
                  <a:srgbClr val="A81820"/>
                </a:solidFill>
                <a:latin typeface="Calibri" pitchFamily="34" charset="0"/>
                <a:ea typeface="Calibri" pitchFamily="34" charset="-122"/>
                <a:cs typeface="Calibri" pitchFamily="34" charset="-120"/>
              </a:rPr>
              <a:t>Bước thực hiện:</a:t>
            </a:r>
            <a:endParaRPr lang="en-US" sz="1450" dirty="0"/>
          </a:p>
          <a:p>
            <a:pPr algn="l" marL="228600" indent="-228600">
              <a:lnSpc>
                <a:spcPct val="115000"/>
              </a:lnSpc>
              <a:spcAft>
                <a:spcPts val="1000"/>
              </a:spcAft>
              <a:buSzPct val="100000"/>
              <a:buChar char="•"/>
            </a:pPr>
            <a:r>
              <a:rPr lang="en-US" sz="1450" dirty="0">
                <a:solidFill>
                  <a:srgbClr val="222222"/>
                </a:solidFill>
                <a:latin typeface="Calibri" pitchFamily="34" charset="0"/>
                <a:ea typeface="Calibri" pitchFamily="34" charset="-122"/>
                <a:cs typeface="Calibri" pitchFamily="34" charset="-120"/>
              </a:rPr>
              <a:t>① Viết createAsyncThunk&lt;Product[], void&gt; gọi fetch</a:t>
            </a:r>
            <a:endParaRPr lang="en-US" sz="1450" dirty="0"/>
          </a:p>
          <a:p>
            <a:pPr algn="l" marL="228600" indent="-228600">
              <a:lnSpc>
                <a:spcPct val="115000"/>
              </a:lnSpc>
              <a:spcAft>
                <a:spcPts val="1000"/>
              </a:spcAft>
              <a:buSzPct val="100000"/>
              <a:buChar char="•"/>
            </a:pPr>
            <a:r>
              <a:rPr lang="en-US" sz="1450" dirty="0">
                <a:solidFill>
                  <a:srgbClr val="222222"/>
                </a:solidFill>
                <a:latin typeface="Calibri" pitchFamily="34" charset="0"/>
                <a:ea typeface="Calibri" pitchFamily="34" charset="-122"/>
                <a:cs typeface="Calibri" pitchFamily="34" charset="-120"/>
              </a:rPr>
              <a:t>② Khai báo ProductsState có status: 'idle'|'loading'|'succeeded'|'failed'</a:t>
            </a:r>
            <a:endParaRPr lang="en-US" sz="1450" dirty="0"/>
          </a:p>
          <a:p>
            <a:pPr algn="l" marL="228600" indent="-228600">
              <a:lnSpc>
                <a:spcPct val="115000"/>
              </a:lnSpc>
              <a:spcAft>
                <a:spcPts val="1000"/>
              </a:spcAft>
              <a:buSzPct val="100000"/>
              <a:buChar char="•"/>
            </a:pPr>
            <a:r>
              <a:rPr lang="en-US" sz="1450" dirty="0">
                <a:solidFill>
                  <a:srgbClr val="222222"/>
                </a:solidFill>
                <a:latin typeface="Calibri" pitchFamily="34" charset="0"/>
                <a:ea typeface="Calibri" pitchFamily="34" charset="-122"/>
                <a:cs typeface="Calibri" pitchFamily="34" charset="-120"/>
              </a:rPr>
              <a:t>③ Đặt file tại features/products/productsSlice.ts, xử lý từng addCase tương ứng, cập nhật items/error</a:t>
            </a:r>
            <a:endParaRPr lang="en-US" sz="1450" dirty="0"/>
          </a:p>
        </p:txBody>
      </p:sp>
      <p:sp>
        <p:nvSpPr>
          <p:cNvPr id="5" name="Shape 3"/>
          <p:cNvSpPr/>
          <p:nvPr/>
        </p:nvSpPr>
        <p:spPr>
          <a:xfrm>
            <a:off x="566928" y="4937760"/>
            <a:ext cx="10881360" cy="1051560"/>
          </a:xfrm>
          <a:prstGeom prst="roundRect">
            <a:avLst>
              <a:gd name="adj" fmla="val 6957"/>
            </a:avLst>
          </a:prstGeom>
          <a:solidFill>
            <a:srgbClr val="1E1E2E"/>
          </a:solidFill>
          <a:ln/>
          <a:effectLst>
            <a:outerShdw sx="100000" sy="100000" kx="0" ky="0" algn="bl" rotWithShape="0" blurRad="76200" dist="25400" dir="5400000">
              <a:srgbClr val="000000">
                <a:alpha val="25000"/>
              </a:srgbClr>
            </a:outerShdw>
          </a:effectLst>
        </p:spPr>
      </p:sp>
      <p:sp>
        <p:nvSpPr>
          <p:cNvPr id="6" name="Text 4"/>
          <p:cNvSpPr txBox="1"/>
          <p:nvPr/>
        </p:nvSpPr>
        <p:spPr>
          <a:xfrm>
            <a:off x="795528" y="5120640"/>
            <a:ext cx="10424160" cy="685800"/>
          </a:xfrm>
          <a:prstGeom prst="rect">
            <a:avLst/>
          </a:prstGeom>
          <a:noFill/>
          <a:ln/>
        </p:spPr>
        <p:txBody>
          <a:bodyPr wrap="square" lIns="0" tIns="0" rIns="0" bIns="0" rtlCol="0" anchor="t"/>
          <a:lstStyle/>
          <a:p>
            <a:pPr algn="l" indent="0" marL="0">
              <a:lnSpc>
                <a:spcPct val="120000"/>
              </a:lnSpc>
              <a:buNone/>
            </a:pPr>
            <a:r>
              <a:rPr lang="en-US" sz="1350" dirty="0">
                <a:solidFill>
                  <a:srgbClr val="D8DEE9"/>
                </a:solidFill>
                <a:latin typeface="Courier New" pitchFamily="34" charset="0"/>
                <a:ea typeface="Courier New" pitchFamily="34" charset="-122"/>
                <a:cs typeface="Courier New" pitchFamily="34" charset="-120"/>
              </a:rPr>
              <a:t>dispatch(fetchProducts());</a:t>
            </a:r>
            <a:endParaRPr lang="en-US" sz="1350" dirty="0"/>
          </a:p>
          <a:p>
            <a:pPr algn="l" indent="0" marL="0">
              <a:lnSpc>
                <a:spcPct val="120000"/>
              </a:lnSpc>
              <a:buNone/>
            </a:pPr>
            <a:r>
              <a:rPr lang="en-US" sz="1350" dirty="0">
                <a:solidFill>
                  <a:srgbClr val="6B7280"/>
                </a:solidFill>
                <a:latin typeface="Courier New" pitchFamily="34" charset="0"/>
                <a:ea typeface="Courier New" pitchFamily="34" charset="-122"/>
                <a:cs typeface="Courier New" pitchFamily="34" charset="-120"/>
              </a:rPr>
              <a:t>// UI đọc: const { items, status } = useAppSelector(s =&gt; s.products);</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66928" y="713232"/>
            <a:ext cx="9144000" cy="274320"/>
          </a:xfrm>
          <a:prstGeom prst="rect">
            <a:avLst/>
          </a:prstGeom>
          <a:noFill/>
          <a:ln/>
        </p:spPr>
        <p:txBody>
          <a:bodyPr wrap="square" lIns="0" tIns="0" rIns="0" bIns="0" rtlCol="0" anchor="ctr"/>
          <a:lstStyle/>
          <a:p>
            <a:pPr algn="l" indent="0" marL="0">
              <a:buNone/>
            </a:pPr>
            <a:r>
              <a:rPr lang="en-US" sz="1100" b="1" spc="200" kern="0" dirty="0">
                <a:solidFill>
                  <a:srgbClr val="DA2128"/>
                </a:solidFill>
                <a:latin typeface="Calibri" pitchFamily="34" charset="0"/>
                <a:ea typeface="Calibri" pitchFamily="34" charset="-122"/>
                <a:cs typeface="Calibri" pitchFamily="34" charset="-120"/>
              </a:rPr>
              <a:t>BÀI 3/3</a:t>
            </a:r>
            <a:endParaRPr lang="en-US" sz="1100" dirty="0"/>
          </a:p>
        </p:txBody>
      </p:sp>
      <p:sp>
        <p:nvSpPr>
          <p:cNvPr id="3" name="Text 1"/>
          <p:cNvSpPr txBox="1"/>
          <p:nvPr/>
        </p:nvSpPr>
        <p:spPr>
          <a:xfrm>
            <a:off x="566928" y="941832"/>
            <a:ext cx="10607040" cy="594360"/>
          </a:xfrm>
          <a:prstGeom prst="rect">
            <a:avLst/>
          </a:prstGeom>
          <a:noFill/>
          <a:ln/>
        </p:spPr>
        <p:txBody>
          <a:bodyPr wrap="square" lIns="0" tIns="0" rIns="0" bIns="0" rtlCol="0" anchor="ctr"/>
          <a:lstStyle/>
          <a:p>
            <a:pPr algn="l" indent="0" marL="0">
              <a:buNone/>
            </a:pPr>
            <a:r>
              <a:rPr lang="en-US" sz="2600" b="1" dirty="0">
                <a:solidFill>
                  <a:srgbClr val="222222"/>
                </a:solidFill>
                <a:latin typeface="Lato" pitchFamily="34" charset="0"/>
                <a:ea typeface="Lato" pitchFamily="34" charset="-122"/>
                <a:cs typeface="Lato" pitchFamily="34" charset="-120"/>
              </a:rPr>
              <a:t>Thực hành 3 — Typed hooks Redux</a:t>
            </a:r>
            <a:endParaRPr lang="en-US" sz="2600" dirty="0"/>
          </a:p>
        </p:txBody>
      </p:sp>
      <p:sp>
        <p:nvSpPr>
          <p:cNvPr id="4" name="Text 2"/>
          <p:cNvSpPr txBox="1"/>
          <p:nvPr/>
        </p:nvSpPr>
        <p:spPr>
          <a:xfrm>
            <a:off x="566928" y="1737360"/>
            <a:ext cx="10881360" cy="3108960"/>
          </a:xfrm>
          <a:prstGeom prst="rect">
            <a:avLst/>
          </a:prstGeom>
          <a:noFill/>
          <a:ln/>
        </p:spPr>
        <p:txBody>
          <a:bodyPr wrap="square" lIns="0" tIns="0" rIns="0" bIns="0" rtlCol="0" anchor="t"/>
          <a:lstStyle/>
          <a:p>
            <a:pPr algn="l" indent="0" marL="0">
              <a:lnSpc>
                <a:spcPct val="115000"/>
              </a:lnSpc>
              <a:spcAft>
                <a:spcPts val="1000"/>
              </a:spcAft>
              <a:buNone/>
            </a:pPr>
            <a:r>
              <a:rPr lang="en-US" sz="1450" b="1" dirty="0">
                <a:solidFill>
                  <a:srgbClr val="A81820"/>
                </a:solidFill>
                <a:latin typeface="Calibri" pitchFamily="34" charset="0"/>
                <a:ea typeface="Calibri" pitchFamily="34" charset="-122"/>
                <a:cs typeface="Calibri" pitchFamily="34" charset="-120"/>
              </a:rPr>
              <a:t>Yêu cầu:</a:t>
            </a:r>
            <a:endParaRPr lang="en-US" sz="1450" dirty="0"/>
          </a:p>
          <a:p>
            <a:pPr algn="l" marL="228600" indent="-228600">
              <a:lnSpc>
                <a:spcPct val="115000"/>
              </a:lnSpc>
              <a:spcAft>
                <a:spcPts val="1000"/>
              </a:spcAft>
              <a:buSzPct val="100000"/>
              <a:buChar char="•"/>
            </a:pPr>
            <a:r>
              <a:rPr lang="en-US" sz="1450" dirty="0">
                <a:solidFill>
                  <a:srgbClr val="222222"/>
                </a:solidFill>
                <a:latin typeface="Calibri" pitchFamily="34" charset="0"/>
                <a:ea typeface="Calibri" pitchFamily="34" charset="-122"/>
                <a:cs typeface="Calibri" pitchFamily="34" charset="-120"/>
              </a:rPr>
              <a:t>Viết useAppDispatch, useAppSelector đã gõ kiểu theo RootState/AppDispatch của dự án</a:t>
            </a:r>
            <a:endParaRPr lang="en-US" sz="1450" dirty="0"/>
          </a:p>
          <a:p>
            <a:pPr algn="l" marL="228600" indent="-228600">
              <a:lnSpc>
                <a:spcPct val="115000"/>
              </a:lnSpc>
              <a:spcAft>
                <a:spcPts val="1000"/>
              </a:spcAft>
              <a:buSzPct val="100000"/>
              <a:buChar char="•"/>
            </a:pPr>
            <a:r>
              <a:rPr lang="en-US" sz="1450" dirty="0">
                <a:solidFill>
                  <a:srgbClr val="222222"/>
                </a:solidFill>
                <a:latin typeface="Calibri" pitchFamily="34" charset="0"/>
                <a:ea typeface="Calibri" pitchFamily="34" charset="-122"/>
                <a:cs typeface="Calibri" pitchFamily="34" charset="-120"/>
              </a:rPr>
              <a:t>Refactor lại component CartSummary (trước đây dùng useState) sang dùng Redux Toolkit</a:t>
            </a:r>
            <a:endParaRPr lang="en-US" sz="1450" dirty="0"/>
          </a:p>
          <a:p>
            <a:pPr algn="l" indent="0" marL="0">
              <a:lnSpc>
                <a:spcPct val="115000"/>
              </a:lnSpc>
              <a:spcAft>
                <a:spcPts val="1000"/>
              </a:spcAft>
              <a:buNone/>
            </a:pPr>
            <a:r>
              <a:rPr lang="en-US" sz="1450" b="1" dirty="0">
                <a:solidFill>
                  <a:srgbClr val="A81820"/>
                </a:solidFill>
                <a:latin typeface="Calibri" pitchFamily="34" charset="0"/>
                <a:ea typeface="Calibri" pitchFamily="34" charset="-122"/>
                <a:cs typeface="Calibri" pitchFamily="34" charset="-120"/>
              </a:rPr>
              <a:t>Bước thực hiện:</a:t>
            </a:r>
            <a:endParaRPr lang="en-US" sz="1450" dirty="0"/>
          </a:p>
          <a:p>
            <a:pPr algn="l" marL="228600" indent="-228600">
              <a:lnSpc>
                <a:spcPct val="115000"/>
              </a:lnSpc>
              <a:spcAft>
                <a:spcPts val="1000"/>
              </a:spcAft>
              <a:buSzPct val="100000"/>
              <a:buChar char="•"/>
            </a:pPr>
            <a:r>
              <a:rPr lang="en-US" sz="1450" dirty="0">
                <a:solidFill>
                  <a:srgbClr val="222222"/>
                </a:solidFill>
                <a:latin typeface="Calibri" pitchFamily="34" charset="0"/>
                <a:ea typeface="Calibri" pitchFamily="34" charset="-122"/>
                <a:cs typeface="Calibri" pitchFamily="34" charset="-120"/>
              </a:rPr>
              <a:t>① Tạo file app/hooks.ts theo đúng khuôn mẫu typed hooks</a:t>
            </a:r>
            <a:endParaRPr lang="en-US" sz="1450" dirty="0"/>
          </a:p>
          <a:p>
            <a:pPr algn="l" marL="228600" indent="-228600">
              <a:lnSpc>
                <a:spcPct val="115000"/>
              </a:lnSpc>
              <a:spcAft>
                <a:spcPts val="1000"/>
              </a:spcAft>
              <a:buSzPct val="100000"/>
              <a:buChar char="•"/>
            </a:pPr>
            <a:r>
              <a:rPr lang="en-US" sz="1450" dirty="0">
                <a:solidFill>
                  <a:srgbClr val="222222"/>
                </a:solidFill>
                <a:latin typeface="Calibri" pitchFamily="34" charset="0"/>
                <a:ea typeface="Calibri" pitchFamily="34" charset="-122"/>
                <a:cs typeface="Calibri" pitchFamily="34" charset="-120"/>
              </a:rPr>
              <a:t>② Thay useSelector/useDispatch gốc bằng useAppSelector/useAppDispatch</a:t>
            </a:r>
            <a:endParaRPr lang="en-US" sz="1450" dirty="0"/>
          </a:p>
          <a:p>
            <a:pPr algn="l" marL="228600" indent="-228600">
              <a:lnSpc>
                <a:spcPct val="115000"/>
              </a:lnSpc>
              <a:spcAft>
                <a:spcPts val="1000"/>
              </a:spcAft>
              <a:buSzPct val="100000"/>
              <a:buChar char="•"/>
            </a:pPr>
            <a:r>
              <a:rPr lang="en-US" sz="1450" dirty="0">
                <a:solidFill>
                  <a:srgbClr val="222222"/>
                </a:solidFill>
                <a:latin typeface="Calibri" pitchFamily="34" charset="0"/>
                <a:ea typeface="Calibri" pitchFamily="34" charset="-122"/>
                <a:cs typeface="Calibri" pitchFamily="34" charset="-120"/>
              </a:rPr>
              <a:t>③ Kiểm tra TypeScript tự gợi ý đúng cấu trúc state khi gõ code</a:t>
            </a:r>
            <a:endParaRPr lang="en-US" sz="1450" dirty="0"/>
          </a:p>
        </p:txBody>
      </p:sp>
      <p:sp>
        <p:nvSpPr>
          <p:cNvPr id="5" name="Shape 3"/>
          <p:cNvSpPr/>
          <p:nvPr/>
        </p:nvSpPr>
        <p:spPr>
          <a:xfrm>
            <a:off x="566928" y="4937760"/>
            <a:ext cx="10881360" cy="1051560"/>
          </a:xfrm>
          <a:prstGeom prst="roundRect">
            <a:avLst>
              <a:gd name="adj" fmla="val 6957"/>
            </a:avLst>
          </a:prstGeom>
          <a:solidFill>
            <a:srgbClr val="1E1E2E"/>
          </a:solidFill>
          <a:ln/>
          <a:effectLst>
            <a:outerShdw sx="100000" sy="100000" kx="0" ky="0" algn="bl" rotWithShape="0" blurRad="76200" dist="25400" dir="5400000">
              <a:srgbClr val="000000">
                <a:alpha val="25000"/>
              </a:srgbClr>
            </a:outerShdw>
          </a:effectLst>
        </p:spPr>
      </p:sp>
      <p:sp>
        <p:nvSpPr>
          <p:cNvPr id="6" name="Text 4"/>
          <p:cNvSpPr txBox="1"/>
          <p:nvPr/>
        </p:nvSpPr>
        <p:spPr>
          <a:xfrm>
            <a:off x="795528" y="5120640"/>
            <a:ext cx="10424160" cy="685800"/>
          </a:xfrm>
          <a:prstGeom prst="rect">
            <a:avLst/>
          </a:prstGeom>
          <a:noFill/>
          <a:ln/>
        </p:spPr>
        <p:txBody>
          <a:bodyPr wrap="square" lIns="0" tIns="0" rIns="0" bIns="0" rtlCol="0" anchor="t"/>
          <a:lstStyle/>
          <a:p>
            <a:pPr algn="l" indent="0" marL="0">
              <a:lnSpc>
                <a:spcPct val="120000"/>
              </a:lnSpc>
              <a:buNone/>
            </a:pPr>
            <a:r>
              <a:rPr lang="en-US" sz="1350" dirty="0">
                <a:solidFill>
                  <a:srgbClr val="7AA2F7"/>
                </a:solidFill>
                <a:latin typeface="Courier New" pitchFamily="34" charset="0"/>
                <a:ea typeface="Courier New" pitchFamily="34" charset="-122"/>
                <a:cs typeface="Courier New" pitchFamily="34" charset="-120"/>
              </a:rPr>
              <a:t>const</a:t>
            </a:r>
            <a:pPr algn="l" indent="0" marL="0">
              <a:lnSpc>
                <a:spcPct val="120000"/>
              </a:lnSpc>
              <a:buNone/>
            </a:pPr>
            <a:r>
              <a:rPr lang="en-US" sz="1350" dirty="0">
                <a:solidFill>
                  <a:srgbClr val="D8DEE9"/>
                </a:solidFill>
                <a:latin typeface="Courier New" pitchFamily="34" charset="0"/>
                <a:ea typeface="Courier New" pitchFamily="34" charset="-122"/>
                <a:cs typeface="Courier New" pitchFamily="34" charset="-120"/>
              </a:rPr>
              <a:t> items = useAppSelector((state) =&gt; state.cart.items);</a:t>
            </a:r>
            <a:endParaRPr lang="en-US" sz="1350" dirty="0"/>
          </a:p>
          <a:p>
            <a:pPr algn="l" indent="0" marL="0">
              <a:lnSpc>
                <a:spcPct val="120000"/>
              </a:lnSpc>
              <a:buNone/>
            </a:pPr>
            <a:r>
              <a:rPr lang="en-US" sz="1350" dirty="0">
                <a:solidFill>
                  <a:srgbClr val="7AA2F7"/>
                </a:solidFill>
                <a:latin typeface="Courier New" pitchFamily="34" charset="0"/>
                <a:ea typeface="Courier New" pitchFamily="34" charset="-122"/>
                <a:cs typeface="Courier New" pitchFamily="34" charset="-120"/>
              </a:rPr>
              <a:t>const</a:t>
            </a:r>
            <a:pPr algn="l" indent="0" marL="0">
              <a:lnSpc>
                <a:spcPct val="120000"/>
              </a:lnSpc>
              <a:buNone/>
            </a:pPr>
            <a:r>
              <a:rPr lang="en-US" sz="1350" dirty="0">
                <a:solidFill>
                  <a:srgbClr val="D8DEE9"/>
                </a:solidFill>
                <a:latin typeface="Courier New" pitchFamily="34" charset="0"/>
                <a:ea typeface="Courier New" pitchFamily="34" charset="-122"/>
                <a:cs typeface="Courier New" pitchFamily="34" charset="-120"/>
              </a:rPr>
              <a:t> dispatch = useAppDispatch();</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66928" y="2331720"/>
            <a:ext cx="11055096" cy="457200"/>
          </a:xfrm>
          <a:prstGeom prst="rect">
            <a:avLst/>
          </a:prstGeom>
          <a:noFill/>
          <a:ln/>
        </p:spPr>
        <p:txBody>
          <a:bodyPr wrap="square" lIns="0" tIns="0" rIns="0" bIns="0" rtlCol="0" anchor="ctr"/>
          <a:lstStyle/>
          <a:p>
            <a:pPr algn="ctr" indent="0" marL="0">
              <a:buNone/>
            </a:pPr>
            <a:r>
              <a:rPr lang="en-US" sz="1600" b="1" spc="300" kern="0" dirty="0">
                <a:solidFill>
                  <a:srgbClr val="595959"/>
                </a:solidFill>
                <a:latin typeface="Calibri" pitchFamily="34" charset="0"/>
                <a:ea typeface="Calibri" pitchFamily="34" charset="-122"/>
                <a:cs typeface="Calibri" pitchFamily="34" charset="-120"/>
              </a:rPr>
              <a:t>PHẦN 3</a:t>
            </a:r>
            <a:endParaRPr lang="en-US" sz="1600" dirty="0"/>
          </a:p>
        </p:txBody>
      </p:sp>
      <p:sp>
        <p:nvSpPr>
          <p:cNvPr id="3" name="Text 1"/>
          <p:cNvSpPr txBox="1"/>
          <p:nvPr/>
        </p:nvSpPr>
        <p:spPr>
          <a:xfrm>
            <a:off x="566928" y="2788920"/>
            <a:ext cx="11055096" cy="1188720"/>
          </a:xfrm>
          <a:prstGeom prst="rect">
            <a:avLst/>
          </a:prstGeom>
          <a:noFill/>
          <a:ln/>
        </p:spPr>
        <p:txBody>
          <a:bodyPr wrap="square" lIns="0" tIns="0" rIns="0" bIns="0" rtlCol="0" anchor="ctr"/>
          <a:lstStyle/>
          <a:p>
            <a:pPr algn="ctr" indent="0" marL="0">
              <a:buNone/>
            </a:pPr>
            <a:r>
              <a:rPr lang="en-US" sz="3400" b="1" dirty="0">
                <a:solidFill>
                  <a:srgbClr val="DA2128"/>
                </a:solidFill>
                <a:latin typeface="Lato" pitchFamily="34" charset="0"/>
                <a:ea typeface="Lato" pitchFamily="34" charset="-122"/>
                <a:cs typeface="Lato" pitchFamily="34" charset="-120"/>
              </a:rPr>
              <a:t>BÀI TẬP VỀ NHÀ</a:t>
            </a:r>
            <a:endParaRPr lang="en-US" sz="3400" dirty="0"/>
          </a:p>
        </p:txBody>
      </p:sp>
      <p:sp>
        <p:nvSpPr>
          <p:cNvPr id="4" name="Text 2"/>
          <p:cNvSpPr txBox="1"/>
          <p:nvPr/>
        </p:nvSpPr>
        <p:spPr>
          <a:xfrm>
            <a:off x="1371600" y="3977640"/>
            <a:ext cx="9445752" cy="548640"/>
          </a:xfrm>
          <a:prstGeom prst="rect">
            <a:avLst/>
          </a:prstGeom>
          <a:noFill/>
          <a:ln/>
        </p:spPr>
        <p:txBody>
          <a:bodyPr wrap="square" lIns="0" tIns="0" rIns="0" bIns="0" rtlCol="0" anchor="ctr"/>
          <a:lstStyle/>
          <a:p>
            <a:pPr algn="ctr" indent="0" marL="0">
              <a:buNone/>
            </a:pPr>
            <a:r>
              <a:rPr lang="en-US" sz="1500" i="1" dirty="0">
                <a:solidFill>
                  <a:srgbClr val="595959"/>
                </a:solidFill>
                <a:latin typeface="Calibri" pitchFamily="34" charset="0"/>
                <a:ea typeface="Calibri" pitchFamily="34" charset="-122"/>
                <a:cs typeface="Calibri" pitchFamily="34" charset="-120"/>
              </a:rPr>
              <a:t>Chuẩn bị trước khi vào Buổi 4 — So sánh Zustand, Context nâng cao &amp; Middleware</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66928" y="713232"/>
            <a:ext cx="9144000" cy="274320"/>
          </a:xfrm>
          <a:prstGeom prst="rect">
            <a:avLst/>
          </a:prstGeom>
          <a:noFill/>
          <a:ln/>
        </p:spPr>
        <p:txBody>
          <a:bodyPr wrap="square" lIns="0" tIns="0" rIns="0" bIns="0" rtlCol="0" anchor="ctr"/>
          <a:lstStyle/>
          <a:p>
            <a:pPr algn="l" indent="0" marL="0">
              <a:buNone/>
            </a:pPr>
            <a:r>
              <a:rPr lang="en-US" sz="1100" b="1" spc="200" kern="0" dirty="0">
                <a:solidFill>
                  <a:srgbClr val="DA2128"/>
                </a:solidFill>
                <a:latin typeface="Calibri" pitchFamily="34" charset="0"/>
                <a:ea typeface="Calibri" pitchFamily="34" charset="-122"/>
                <a:cs typeface="Calibri" pitchFamily="34" charset="-120"/>
              </a:rPr>
              <a:t>NỘP TRƯỚC BUỔI 4</a:t>
            </a:r>
            <a:endParaRPr lang="en-US" sz="1100" dirty="0"/>
          </a:p>
        </p:txBody>
      </p:sp>
      <p:sp>
        <p:nvSpPr>
          <p:cNvPr id="3" name="Text 1"/>
          <p:cNvSpPr txBox="1"/>
          <p:nvPr/>
        </p:nvSpPr>
        <p:spPr>
          <a:xfrm>
            <a:off x="566928" y="941832"/>
            <a:ext cx="10607040" cy="594360"/>
          </a:xfrm>
          <a:prstGeom prst="rect">
            <a:avLst/>
          </a:prstGeom>
          <a:noFill/>
          <a:ln/>
        </p:spPr>
        <p:txBody>
          <a:bodyPr wrap="square" lIns="0" tIns="0" rIns="0" bIns="0" rtlCol="0" anchor="ctr"/>
          <a:lstStyle/>
          <a:p>
            <a:pPr algn="l" indent="0" marL="0">
              <a:buNone/>
            </a:pPr>
            <a:r>
              <a:rPr lang="en-US" sz="2600" b="1" dirty="0">
                <a:solidFill>
                  <a:srgbClr val="222222"/>
                </a:solidFill>
                <a:latin typeface="Lato" pitchFamily="34" charset="0"/>
                <a:ea typeface="Lato" pitchFamily="34" charset="-122"/>
                <a:cs typeface="Lato" pitchFamily="34" charset="-120"/>
              </a:rPr>
              <a:t>Bài tập về nhà</a:t>
            </a:r>
            <a:endParaRPr lang="en-US" sz="2600" dirty="0"/>
          </a:p>
        </p:txBody>
      </p:sp>
      <p:sp>
        <p:nvSpPr>
          <p:cNvPr id="4" name="Shape 2"/>
          <p:cNvSpPr/>
          <p:nvPr/>
        </p:nvSpPr>
        <p:spPr>
          <a:xfrm>
            <a:off x="566928" y="1783080"/>
            <a:ext cx="548640" cy="548640"/>
          </a:xfrm>
          <a:prstGeom prst="ellipse">
            <a:avLst/>
          </a:prstGeom>
          <a:solidFill>
            <a:srgbClr val="DA2128"/>
          </a:solidFill>
          <a:ln/>
        </p:spPr>
      </p:sp>
      <p:pic>
        <p:nvPicPr>
          <p:cNvPr id="5" name="Image 0" descr="/home/claude/pptx_work/icons/clipboard_white.png">    </p:cNvPr>
          <p:cNvPicPr>
            <a:picLocks noChangeAspect="1"/>
          </p:cNvPicPr>
          <p:nvPr/>
        </p:nvPicPr>
        <p:blipFill>
          <a:blip r:embed="rId1"/>
          <a:stretch>
            <a:fillRect/>
          </a:stretch>
        </p:blipFill>
        <p:spPr>
          <a:xfrm>
            <a:off x="671170" y="1887322"/>
            <a:ext cx="340157" cy="340157"/>
          </a:xfrm>
          <a:prstGeom prst="rect">
            <a:avLst/>
          </a:prstGeom>
        </p:spPr>
      </p:pic>
      <p:sp>
        <p:nvSpPr>
          <p:cNvPr id="6" name="Text 3"/>
          <p:cNvSpPr txBox="1"/>
          <p:nvPr/>
        </p:nvSpPr>
        <p:spPr>
          <a:xfrm>
            <a:off x="1280160" y="1810512"/>
            <a:ext cx="3657600" cy="457200"/>
          </a:xfrm>
          <a:prstGeom prst="rect">
            <a:avLst/>
          </a:prstGeom>
          <a:noFill/>
          <a:ln/>
        </p:spPr>
        <p:txBody>
          <a:bodyPr wrap="square" lIns="0" tIns="0" rIns="0" bIns="0" rtlCol="0" anchor="ctr"/>
          <a:lstStyle/>
          <a:p>
            <a:pPr algn="l" indent="0" marL="0">
              <a:buNone/>
            </a:pPr>
            <a:r>
              <a:rPr lang="en-US" sz="1800" b="1" dirty="0">
                <a:solidFill>
                  <a:srgbClr val="222222"/>
                </a:solidFill>
                <a:latin typeface="Lato" pitchFamily="34" charset="0"/>
                <a:ea typeface="Lato" pitchFamily="34" charset="-122"/>
                <a:cs typeface="Lato" pitchFamily="34" charset="-120"/>
              </a:rPr>
              <a:t>Đề bài</a:t>
            </a:r>
            <a:endParaRPr lang="en-US" sz="1800" dirty="0"/>
          </a:p>
        </p:txBody>
      </p:sp>
      <p:sp>
        <p:nvSpPr>
          <p:cNvPr id="7" name="Text 4"/>
          <p:cNvSpPr txBox="1"/>
          <p:nvPr/>
        </p:nvSpPr>
        <p:spPr>
          <a:xfrm>
            <a:off x="566928" y="2423160"/>
            <a:ext cx="5577840" cy="3840480"/>
          </a:xfrm>
          <a:prstGeom prst="rect">
            <a:avLst/>
          </a:prstGeom>
          <a:noFill/>
          <a:ln/>
        </p:spPr>
        <p:txBody>
          <a:bodyPr wrap="square" lIns="0" tIns="0" rIns="0" bIns="0" rtlCol="0" anchor="t"/>
          <a:lstStyle/>
          <a:p>
            <a:pPr algn="l" marL="228600" indent="-228600">
              <a:lnSpc>
                <a:spcPct val="120000"/>
              </a:lnSpc>
              <a:spcAft>
                <a:spcPts val="1200"/>
              </a:spcAft>
              <a:buSzPct val="100000"/>
              <a:buChar char="•"/>
            </a:pPr>
            <a:r>
              <a:rPr lang="en-US" sz="1400" dirty="0">
                <a:solidFill>
                  <a:srgbClr val="222222"/>
                </a:solidFill>
                <a:latin typeface="Calibri" pitchFamily="34" charset="0"/>
                <a:ea typeface="Calibri" pitchFamily="34" charset="-122"/>
                <a:cs typeface="Calibri" pitchFamily="34" charset="-120"/>
              </a:rPr>
              <a:t>Xây dựng module giỏ hàng hoàn chỉnh bằng Redux Toolkit gồm cartSlice và productsSlice</a:t>
            </a:r>
            <a:endParaRPr lang="en-US" sz="1400" dirty="0"/>
          </a:p>
          <a:p>
            <a:pPr algn="l" marL="228600" indent="-228600">
              <a:lnSpc>
                <a:spcPct val="120000"/>
              </a:lnSpc>
              <a:spcAft>
                <a:spcPts val="1200"/>
              </a:spcAft>
              <a:buSzPct val="100000"/>
              <a:buChar char="•"/>
            </a:pPr>
            <a:r>
              <a:rPr lang="en-US" sz="1400" dirty="0">
                <a:solidFill>
                  <a:srgbClr val="222222"/>
                </a:solidFill>
                <a:latin typeface="Calibri" pitchFamily="34" charset="0"/>
                <a:ea typeface="Calibri" pitchFamily="34" charset="-122"/>
                <a:cs typeface="Calibri" pitchFamily="34" charset="-120"/>
              </a:rPr>
              <a:t>productsSlice dùng createAsyncThunk lấy danh sách sản phẩm từ API giả lập (khuyến khích thử RTK Query để lấy điểm cộng)</a:t>
            </a:r>
            <a:endParaRPr lang="en-US" sz="1400" dirty="0"/>
          </a:p>
          <a:p>
            <a:pPr algn="l" marL="228600" indent="-228600">
              <a:lnSpc>
                <a:spcPct val="120000"/>
              </a:lnSpc>
              <a:spcAft>
                <a:spcPts val="1200"/>
              </a:spcAft>
              <a:buSzPct val="100000"/>
              <a:buChar char="•"/>
            </a:pPr>
            <a:r>
              <a:rPr lang="en-US" sz="1400" dirty="0">
                <a:solidFill>
                  <a:srgbClr val="222222"/>
                </a:solidFill>
                <a:latin typeface="Calibri" pitchFamily="34" charset="0"/>
                <a:ea typeface="Calibri" pitchFamily="34" charset="-122"/>
                <a:cs typeface="Calibri" pitchFamily="34" charset="-120"/>
              </a:rPr>
              <a:t>cartSlice hỗ trợ thêm, xoá, cập nhật số lượng sản phẩm trong giỏ</a:t>
            </a:r>
            <a:endParaRPr lang="en-US" sz="1400" dirty="0"/>
          </a:p>
          <a:p>
            <a:pPr algn="l" marL="228600" indent="-228600">
              <a:lnSpc>
                <a:spcPct val="120000"/>
              </a:lnSpc>
              <a:spcAft>
                <a:spcPts val="1200"/>
              </a:spcAft>
              <a:buSzPct val="100000"/>
              <a:buChar char="•"/>
            </a:pPr>
            <a:r>
              <a:rPr lang="en-US" sz="1400" dirty="0">
                <a:solidFill>
                  <a:srgbClr val="222222"/>
                </a:solidFill>
                <a:latin typeface="Calibri" pitchFamily="34" charset="0"/>
                <a:ea typeface="Calibri" pitchFamily="34" charset="-122"/>
                <a:cs typeface="Calibri" pitchFamily="34" charset="-120"/>
              </a:rPr>
              <a:t>Toàn bộ component chỉ dùng useAppDispatch/useAppSelector đã gõ kiểu</a:t>
            </a:r>
            <a:endParaRPr lang="en-US" sz="1400" dirty="0"/>
          </a:p>
          <a:p>
            <a:pPr algn="l" marL="228600" indent="-228600">
              <a:lnSpc>
                <a:spcPct val="120000"/>
              </a:lnSpc>
              <a:spcAft>
                <a:spcPts val="1200"/>
              </a:spcAft>
              <a:buSzPct val="100000"/>
              <a:buChar char="•"/>
            </a:pPr>
            <a:r>
              <a:rPr lang="en-US" sz="1400" dirty="0">
                <a:solidFill>
                  <a:srgbClr val="222222"/>
                </a:solidFill>
                <a:latin typeface="Calibri" pitchFamily="34" charset="0"/>
                <a:ea typeface="Calibri" pitchFamily="34" charset="-122"/>
                <a:cs typeface="Calibri" pitchFamily="34" charset="-120"/>
              </a:rPr>
              <a:t>Tổ chức thư mục đúng chuẩn feature-based: features/cart, features/products, app/store.ts, app/hooks.ts</a:t>
            </a:r>
            <a:endParaRPr lang="en-US" sz="1400" dirty="0"/>
          </a:p>
        </p:txBody>
      </p:sp>
      <p:sp>
        <p:nvSpPr>
          <p:cNvPr id="8" name="Shape 5"/>
          <p:cNvSpPr/>
          <p:nvPr/>
        </p:nvSpPr>
        <p:spPr>
          <a:xfrm>
            <a:off x="6492240" y="1783080"/>
            <a:ext cx="5120640" cy="4160520"/>
          </a:xfrm>
          <a:prstGeom prst="roundRect">
            <a:avLst>
              <a:gd name="adj" fmla="val 1319"/>
            </a:avLst>
          </a:prstGeom>
          <a:solidFill>
            <a:srgbClr val="F2F2F2"/>
          </a:solidFill>
          <a:ln/>
        </p:spPr>
      </p:sp>
      <p:sp>
        <p:nvSpPr>
          <p:cNvPr id="9" name="Text 6"/>
          <p:cNvSpPr txBox="1"/>
          <p:nvPr/>
        </p:nvSpPr>
        <p:spPr>
          <a:xfrm>
            <a:off x="6812280" y="2011680"/>
            <a:ext cx="4572000" cy="365760"/>
          </a:xfrm>
          <a:prstGeom prst="rect">
            <a:avLst/>
          </a:prstGeom>
          <a:noFill/>
          <a:ln/>
        </p:spPr>
        <p:txBody>
          <a:bodyPr wrap="square" lIns="0" tIns="0" rIns="0" bIns="0" rtlCol="0" anchor="ctr"/>
          <a:lstStyle/>
          <a:p>
            <a:pPr algn="l" indent="0" marL="0">
              <a:buNone/>
            </a:pPr>
            <a:r>
              <a:rPr lang="en-US" sz="1300" b="1" spc="100" kern="0" dirty="0">
                <a:solidFill>
                  <a:srgbClr val="DA2128"/>
                </a:solidFill>
                <a:latin typeface="Calibri" pitchFamily="34" charset="0"/>
                <a:ea typeface="Calibri" pitchFamily="34" charset="-122"/>
                <a:cs typeface="Calibri" pitchFamily="34" charset="-120"/>
              </a:rPr>
              <a:t>TIÊU CHÍ ĐÁNH GIÁ</a:t>
            </a:r>
            <a:endParaRPr lang="en-US" sz="1300" dirty="0"/>
          </a:p>
        </p:txBody>
      </p:sp>
      <p:sp>
        <p:nvSpPr>
          <p:cNvPr id="10" name="Text 7"/>
          <p:cNvSpPr txBox="1"/>
          <p:nvPr/>
        </p:nvSpPr>
        <p:spPr>
          <a:xfrm>
            <a:off x="6812280" y="2468880"/>
            <a:ext cx="4480560" cy="3566160"/>
          </a:xfrm>
          <a:prstGeom prst="rect">
            <a:avLst/>
          </a:prstGeom>
          <a:noFill/>
          <a:ln/>
        </p:spPr>
        <p:txBody>
          <a:bodyPr wrap="square" lIns="0" tIns="0" rIns="0" bIns="0" rtlCol="0" anchor="t"/>
          <a:lstStyle/>
          <a:p>
            <a:pPr algn="l" marL="228600" indent="-228600">
              <a:lnSpc>
                <a:spcPct val="120000"/>
              </a:lnSpc>
              <a:spcAft>
                <a:spcPts val="1200"/>
              </a:spcAft>
              <a:buSzPct val="100000"/>
              <a:buChar char="•"/>
            </a:pPr>
            <a:r>
              <a:rPr lang="en-US" sz="1400" dirty="0">
                <a:solidFill>
                  <a:srgbClr val="222222"/>
                </a:solidFill>
                <a:latin typeface="Calibri" pitchFamily="34" charset="0"/>
                <a:ea typeface="Calibri" pitchFamily="34" charset="-122"/>
                <a:cs typeface="Calibri" pitchFamily="34" charset="-120"/>
              </a:rPr>
              <a:t>Store cấu hình đúng bằng configureStore, có RootState và AppDispatch xuất đúng kiểu</a:t>
            </a:r>
            <a:endParaRPr lang="en-US" sz="1400" dirty="0"/>
          </a:p>
          <a:p>
            <a:pPr algn="l" marL="228600" indent="-228600">
              <a:lnSpc>
                <a:spcPct val="120000"/>
              </a:lnSpc>
              <a:spcAft>
                <a:spcPts val="1200"/>
              </a:spcAft>
              <a:buSzPct val="100000"/>
              <a:buChar char="•"/>
            </a:pPr>
            <a:r>
              <a:rPr lang="en-US" sz="1400" dirty="0">
                <a:solidFill>
                  <a:srgbClr val="222222"/>
                </a:solidFill>
                <a:latin typeface="Calibri" pitchFamily="34" charset="0"/>
                <a:ea typeface="Calibri" pitchFamily="34" charset="-122"/>
                <a:cs typeface="Calibri" pitchFamily="34" charset="-120"/>
              </a:rPr>
              <a:t>createAsyncThunk (hoặc RTK Query) xử lý đủ trạng thái loading/thành công/lỗi</a:t>
            </a:r>
            <a:endParaRPr lang="en-US" sz="1400" dirty="0"/>
          </a:p>
          <a:p>
            <a:pPr algn="l" marL="228600" indent="-228600">
              <a:lnSpc>
                <a:spcPct val="120000"/>
              </a:lnSpc>
              <a:spcAft>
                <a:spcPts val="1200"/>
              </a:spcAft>
              <a:buSzPct val="100000"/>
              <a:buChar char="•"/>
            </a:pPr>
            <a:r>
              <a:rPr lang="en-US" sz="1400" dirty="0">
                <a:solidFill>
                  <a:srgbClr val="222222"/>
                </a:solidFill>
                <a:latin typeface="Calibri" pitchFamily="34" charset="0"/>
                <a:ea typeface="Calibri" pitchFamily="34" charset="-122"/>
                <a:cs typeface="Calibri" pitchFamily="34" charset="-120"/>
              </a:rPr>
              <a:t>Đúng cấu trúc thư mục feature-based, không dùng any ở bất kỳ đâu</a:t>
            </a:r>
            <a:endParaRPr lang="en-US" sz="1400" dirty="0"/>
          </a:p>
          <a:p>
            <a:pPr algn="l" marL="228600" indent="-228600">
              <a:lnSpc>
                <a:spcPct val="120000"/>
              </a:lnSpc>
              <a:spcAft>
                <a:spcPts val="1200"/>
              </a:spcAft>
              <a:buSzPct val="100000"/>
              <a:buChar char="•"/>
            </a:pPr>
            <a:r>
              <a:rPr lang="en-US" sz="1400" dirty="0">
                <a:solidFill>
                  <a:srgbClr val="222222"/>
                </a:solidFill>
                <a:latin typeface="Calibri" pitchFamily="34" charset="0"/>
                <a:ea typeface="Calibri" pitchFamily="34" charset="-122"/>
                <a:cs typeface="Calibri" pitchFamily="34" charset="-120"/>
              </a:rPr>
              <a:t>Redux DevTools hiển thị được lịch sử action khi thao tác giỏ hàng</a:t>
            </a:r>
            <a:endParaRPr lang="en-US" sz="1400" dirty="0"/>
          </a:p>
          <a:p>
            <a:pPr algn="l" marL="228600" indent="-228600">
              <a:lnSpc>
                <a:spcPct val="120000"/>
              </a:lnSpc>
              <a:spcAft>
                <a:spcPts val="1200"/>
              </a:spcAft>
              <a:buSzPct val="100000"/>
              <a:buChar char="•"/>
            </a:pPr>
            <a:r>
              <a:rPr lang="en-US" sz="1400" dirty="0">
                <a:solidFill>
                  <a:srgbClr val="222222"/>
                </a:solidFill>
                <a:latin typeface="Calibri" pitchFamily="34" charset="0"/>
                <a:ea typeface="Calibri" pitchFamily="34" charset="-122"/>
                <a:cs typeface="Calibri" pitchFamily="34" charset="-120"/>
              </a:rPr>
              <a:t>Nộp đúng hạn trước giờ học Buổi 4</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66928" y="713232"/>
            <a:ext cx="9144000" cy="274320"/>
          </a:xfrm>
          <a:prstGeom prst="rect">
            <a:avLst/>
          </a:prstGeom>
          <a:noFill/>
          <a:ln/>
        </p:spPr>
        <p:txBody>
          <a:bodyPr wrap="square" lIns="0" tIns="0" rIns="0" bIns="0" rtlCol="0" anchor="ctr"/>
          <a:lstStyle/>
          <a:p>
            <a:pPr algn="l" indent="0" marL="0">
              <a:buNone/>
            </a:pPr>
            <a:r>
              <a:rPr lang="en-US" sz="1100" b="1" spc="200" kern="0" dirty="0">
                <a:solidFill>
                  <a:srgbClr val="DA2128"/>
                </a:solidFill>
                <a:latin typeface="Calibri" pitchFamily="34" charset="0"/>
                <a:ea typeface="Calibri" pitchFamily="34" charset="-122"/>
                <a:cs typeface="Calibri" pitchFamily="34" charset="-120"/>
              </a:rPr>
              <a:t>TRƯỚC KHI RỜI LỚP</a:t>
            </a:r>
            <a:endParaRPr lang="en-US" sz="1100" dirty="0"/>
          </a:p>
        </p:txBody>
      </p:sp>
      <p:sp>
        <p:nvSpPr>
          <p:cNvPr id="3" name="Text 1"/>
          <p:cNvSpPr txBox="1"/>
          <p:nvPr/>
        </p:nvSpPr>
        <p:spPr>
          <a:xfrm>
            <a:off x="566928" y="941832"/>
            <a:ext cx="10607040" cy="594360"/>
          </a:xfrm>
          <a:prstGeom prst="rect">
            <a:avLst/>
          </a:prstGeom>
          <a:noFill/>
          <a:ln/>
        </p:spPr>
        <p:txBody>
          <a:bodyPr wrap="square" lIns="0" tIns="0" rIns="0" bIns="0" rtlCol="0" anchor="ctr"/>
          <a:lstStyle/>
          <a:p>
            <a:pPr algn="l" indent="0" marL="0">
              <a:buNone/>
            </a:pPr>
            <a:r>
              <a:rPr lang="en-US" sz="2600" b="1" dirty="0">
                <a:solidFill>
                  <a:srgbClr val="222222"/>
                </a:solidFill>
                <a:latin typeface="Lato" pitchFamily="34" charset="0"/>
                <a:ea typeface="Lato" pitchFamily="34" charset="-122"/>
                <a:cs typeface="Lato" pitchFamily="34" charset="-120"/>
              </a:rPr>
              <a:t>Chuẩn bị &amp; tài liệu tham khảo</a:t>
            </a:r>
            <a:endParaRPr lang="en-US" sz="2600" dirty="0"/>
          </a:p>
        </p:txBody>
      </p:sp>
      <p:sp>
        <p:nvSpPr>
          <p:cNvPr id="4" name="Shape 2"/>
          <p:cNvSpPr/>
          <p:nvPr/>
        </p:nvSpPr>
        <p:spPr>
          <a:xfrm>
            <a:off x="566928" y="1783080"/>
            <a:ext cx="3219054" cy="4251960"/>
          </a:xfrm>
          <a:prstGeom prst="roundRect">
            <a:avLst>
              <a:gd name="adj" fmla="val 1704"/>
            </a:avLst>
          </a:prstGeom>
          <a:solidFill>
            <a:srgbClr val="F2F2F2"/>
          </a:solidFill>
          <a:ln/>
        </p:spPr>
      </p:sp>
      <p:sp>
        <p:nvSpPr>
          <p:cNvPr id="5" name="Shape 3"/>
          <p:cNvSpPr/>
          <p:nvPr/>
        </p:nvSpPr>
        <p:spPr>
          <a:xfrm>
            <a:off x="932688" y="2103120"/>
            <a:ext cx="566928" cy="566928"/>
          </a:xfrm>
          <a:prstGeom prst="ellipse">
            <a:avLst/>
          </a:prstGeom>
          <a:solidFill>
            <a:srgbClr val="DA2128"/>
          </a:solidFill>
          <a:ln/>
        </p:spPr>
      </p:sp>
      <p:pic>
        <p:nvPicPr>
          <p:cNvPr id="6" name="Image 0" descr="/home/claude/pptx_work/icons/tools_white.png">    </p:cNvPr>
          <p:cNvPicPr>
            <a:picLocks noChangeAspect="1"/>
          </p:cNvPicPr>
          <p:nvPr/>
        </p:nvPicPr>
        <p:blipFill>
          <a:blip r:embed="rId1"/>
          <a:stretch>
            <a:fillRect/>
          </a:stretch>
        </p:blipFill>
        <p:spPr>
          <a:xfrm>
            <a:off x="1006389" y="2176821"/>
            <a:ext cx="419527" cy="419527"/>
          </a:xfrm>
          <a:prstGeom prst="rect">
            <a:avLst/>
          </a:prstGeom>
        </p:spPr>
      </p:pic>
      <p:sp>
        <p:nvSpPr>
          <p:cNvPr id="7" name="Text 4"/>
          <p:cNvSpPr txBox="1"/>
          <p:nvPr/>
        </p:nvSpPr>
        <p:spPr>
          <a:xfrm>
            <a:off x="932688" y="2834640"/>
            <a:ext cx="2578974" cy="457200"/>
          </a:xfrm>
          <a:prstGeom prst="rect">
            <a:avLst/>
          </a:prstGeom>
          <a:noFill/>
          <a:ln/>
        </p:spPr>
        <p:txBody>
          <a:bodyPr wrap="square" lIns="0" tIns="0" rIns="0" bIns="0" rtlCol="0" anchor="ctr"/>
          <a:lstStyle/>
          <a:p>
            <a:pPr algn="l" indent="0" marL="0">
              <a:buNone/>
            </a:pPr>
            <a:r>
              <a:rPr lang="en-US" sz="1800" b="1" dirty="0">
                <a:solidFill>
                  <a:srgbClr val="222222"/>
                </a:solidFill>
                <a:latin typeface="Lato" pitchFamily="34" charset="0"/>
                <a:ea typeface="Lato" pitchFamily="34" charset="-122"/>
                <a:cs typeface="Lato" pitchFamily="34" charset="-120"/>
              </a:rPr>
              <a:t>Công cụ</a:t>
            </a:r>
            <a:endParaRPr lang="en-US" sz="1800" dirty="0"/>
          </a:p>
        </p:txBody>
      </p:sp>
      <p:sp>
        <p:nvSpPr>
          <p:cNvPr id="8" name="Text 5"/>
          <p:cNvSpPr txBox="1"/>
          <p:nvPr/>
        </p:nvSpPr>
        <p:spPr>
          <a:xfrm>
            <a:off x="932688" y="3383280"/>
            <a:ext cx="2578974" cy="2514600"/>
          </a:xfrm>
          <a:prstGeom prst="rect">
            <a:avLst/>
          </a:prstGeom>
          <a:noFill/>
          <a:ln/>
        </p:spPr>
        <p:txBody>
          <a:bodyPr wrap="square" lIns="0" tIns="0" rIns="0" bIns="0" rtlCol="0" anchor="t"/>
          <a:lstStyle/>
          <a:p>
            <a:pPr algn="l" marL="228600" indent="-228600">
              <a:lnSpc>
                <a:spcPct val="115000"/>
              </a:lnSpc>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Node.js LTS + VS Code</a:t>
            </a:r>
            <a:endParaRPr lang="en-US" sz="1200" dirty="0"/>
          </a:p>
          <a:p>
            <a:pPr algn="l" marL="228600" indent="-228600">
              <a:lnSpc>
                <a:spcPct val="115000"/>
              </a:lnSpc>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Redux DevTools Extension (Chrome/Edge)</a:t>
            </a:r>
            <a:endParaRPr lang="en-US" sz="1200" dirty="0"/>
          </a:p>
          <a:p>
            <a:pPr algn="l" marL="228600" indent="-228600">
              <a:lnSpc>
                <a:spcPct val="115000"/>
              </a:lnSpc>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Extension: ESLint, Prettier</a:t>
            </a:r>
            <a:endParaRPr lang="en-US" sz="1200" dirty="0"/>
          </a:p>
        </p:txBody>
      </p:sp>
      <p:sp>
        <p:nvSpPr>
          <p:cNvPr id="9" name="Shape 6"/>
          <p:cNvSpPr/>
          <p:nvPr/>
        </p:nvSpPr>
        <p:spPr>
          <a:xfrm>
            <a:off x="4060302" y="1783080"/>
            <a:ext cx="3219054" cy="4251960"/>
          </a:xfrm>
          <a:prstGeom prst="roundRect">
            <a:avLst>
              <a:gd name="adj" fmla="val 1704"/>
            </a:avLst>
          </a:prstGeom>
          <a:solidFill>
            <a:srgbClr val="F2F2F2"/>
          </a:solidFill>
          <a:ln/>
        </p:spPr>
      </p:sp>
      <p:sp>
        <p:nvSpPr>
          <p:cNvPr id="10" name="Shape 7"/>
          <p:cNvSpPr/>
          <p:nvPr/>
        </p:nvSpPr>
        <p:spPr>
          <a:xfrm>
            <a:off x="4426062" y="2103120"/>
            <a:ext cx="566928" cy="566928"/>
          </a:xfrm>
          <a:prstGeom prst="ellipse">
            <a:avLst/>
          </a:prstGeom>
          <a:solidFill>
            <a:srgbClr val="DA2128"/>
          </a:solidFill>
          <a:ln/>
        </p:spPr>
      </p:sp>
      <p:pic>
        <p:nvPicPr>
          <p:cNvPr id="11" name="Image 1" descr="/home/claude/pptx_work/icons/book_white.png">    </p:cNvPr>
          <p:cNvPicPr>
            <a:picLocks noChangeAspect="1"/>
          </p:cNvPicPr>
          <p:nvPr/>
        </p:nvPicPr>
        <p:blipFill>
          <a:blip r:embed="rId2"/>
          <a:stretch>
            <a:fillRect/>
          </a:stretch>
        </p:blipFill>
        <p:spPr>
          <a:xfrm>
            <a:off x="4499762" y="2176821"/>
            <a:ext cx="419527" cy="419527"/>
          </a:xfrm>
          <a:prstGeom prst="rect">
            <a:avLst/>
          </a:prstGeom>
        </p:spPr>
      </p:pic>
      <p:sp>
        <p:nvSpPr>
          <p:cNvPr id="12" name="Text 8"/>
          <p:cNvSpPr txBox="1"/>
          <p:nvPr/>
        </p:nvSpPr>
        <p:spPr>
          <a:xfrm>
            <a:off x="4426062" y="2834640"/>
            <a:ext cx="2578974" cy="457200"/>
          </a:xfrm>
          <a:prstGeom prst="rect">
            <a:avLst/>
          </a:prstGeom>
          <a:noFill/>
          <a:ln/>
        </p:spPr>
        <p:txBody>
          <a:bodyPr wrap="square" lIns="0" tIns="0" rIns="0" bIns="0" rtlCol="0" anchor="ctr"/>
          <a:lstStyle/>
          <a:p>
            <a:pPr algn="l" indent="0" marL="0">
              <a:buNone/>
            </a:pPr>
            <a:r>
              <a:rPr lang="en-US" sz="1800" b="1" dirty="0">
                <a:solidFill>
                  <a:srgbClr val="222222"/>
                </a:solidFill>
                <a:latin typeface="Lato" pitchFamily="34" charset="0"/>
                <a:ea typeface="Lato" pitchFamily="34" charset="-122"/>
                <a:cs typeface="Lato" pitchFamily="34" charset="-120"/>
              </a:rPr>
              <a:t>Tài liệu chính</a:t>
            </a:r>
            <a:endParaRPr lang="en-US" sz="1800" dirty="0"/>
          </a:p>
        </p:txBody>
      </p:sp>
      <p:sp>
        <p:nvSpPr>
          <p:cNvPr id="13" name="Text 9"/>
          <p:cNvSpPr txBox="1"/>
          <p:nvPr/>
        </p:nvSpPr>
        <p:spPr>
          <a:xfrm>
            <a:off x="4426062" y="3383280"/>
            <a:ext cx="2578974" cy="2514600"/>
          </a:xfrm>
          <a:prstGeom prst="rect">
            <a:avLst/>
          </a:prstGeom>
          <a:noFill/>
          <a:ln/>
        </p:spPr>
        <p:txBody>
          <a:bodyPr wrap="square" lIns="0" tIns="0" rIns="0" bIns="0" rtlCol="0" anchor="t"/>
          <a:lstStyle/>
          <a:p>
            <a:pPr algn="l" marL="228600" indent="-228600">
              <a:lnSpc>
                <a:spcPct val="115000"/>
              </a:lnSpc>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Redux Toolkit — Official TypeScript Usage Guide</a:t>
            </a:r>
            <a:endParaRPr lang="en-US" sz="1200" dirty="0"/>
          </a:p>
          <a:p>
            <a:pPr algn="l" marL="228600" indent="-228600">
              <a:lnSpc>
                <a:spcPct val="115000"/>
              </a:lnSpc>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RTK Query — Overview (redux-toolkit.js.org)</a:t>
            </a:r>
            <a:endParaRPr lang="en-US" sz="1200" dirty="0"/>
          </a:p>
          <a:p>
            <a:pPr algn="l" marL="228600" indent="-228600">
              <a:lnSpc>
                <a:spcPct val="115000"/>
              </a:lnSpc>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Mehul Mohan, Advanced Web Development with React, BPB, 2020</a:t>
            </a:r>
            <a:endParaRPr lang="en-US" sz="1200" dirty="0"/>
          </a:p>
        </p:txBody>
      </p:sp>
      <p:sp>
        <p:nvSpPr>
          <p:cNvPr id="14" name="Shape 10"/>
          <p:cNvSpPr/>
          <p:nvPr/>
        </p:nvSpPr>
        <p:spPr>
          <a:xfrm>
            <a:off x="7553676" y="1783080"/>
            <a:ext cx="3219054" cy="4251960"/>
          </a:xfrm>
          <a:prstGeom prst="roundRect">
            <a:avLst>
              <a:gd name="adj" fmla="val 1704"/>
            </a:avLst>
          </a:prstGeom>
          <a:solidFill>
            <a:srgbClr val="F2F2F2"/>
          </a:solidFill>
          <a:ln/>
        </p:spPr>
      </p:sp>
      <p:sp>
        <p:nvSpPr>
          <p:cNvPr id="15" name="Shape 11"/>
          <p:cNvSpPr/>
          <p:nvPr/>
        </p:nvSpPr>
        <p:spPr>
          <a:xfrm>
            <a:off x="7919436" y="2103120"/>
            <a:ext cx="566928" cy="566928"/>
          </a:xfrm>
          <a:prstGeom prst="ellipse">
            <a:avLst/>
          </a:prstGeom>
          <a:solidFill>
            <a:srgbClr val="DA2128"/>
          </a:solidFill>
          <a:ln/>
        </p:spPr>
      </p:sp>
      <p:pic>
        <p:nvPicPr>
          <p:cNvPr id="16" name="Image 2" descr="/home/claude/pptx_work/icons/route_white.png">    </p:cNvPr>
          <p:cNvPicPr>
            <a:picLocks noChangeAspect="1"/>
          </p:cNvPicPr>
          <p:nvPr/>
        </p:nvPicPr>
        <p:blipFill>
          <a:blip r:embed="rId3"/>
          <a:stretch>
            <a:fillRect/>
          </a:stretch>
        </p:blipFill>
        <p:spPr>
          <a:xfrm>
            <a:off x="7993136" y="2176821"/>
            <a:ext cx="419527" cy="419527"/>
          </a:xfrm>
          <a:prstGeom prst="rect">
            <a:avLst/>
          </a:prstGeom>
        </p:spPr>
      </p:pic>
      <p:sp>
        <p:nvSpPr>
          <p:cNvPr id="17" name="Text 12"/>
          <p:cNvSpPr txBox="1"/>
          <p:nvPr/>
        </p:nvSpPr>
        <p:spPr>
          <a:xfrm>
            <a:off x="7919436" y="2834640"/>
            <a:ext cx="2578974" cy="457200"/>
          </a:xfrm>
          <a:prstGeom prst="rect">
            <a:avLst/>
          </a:prstGeom>
          <a:noFill/>
          <a:ln/>
        </p:spPr>
        <p:txBody>
          <a:bodyPr wrap="square" lIns="0" tIns="0" rIns="0" bIns="0" rtlCol="0" anchor="ctr"/>
          <a:lstStyle/>
          <a:p>
            <a:pPr algn="l" indent="0" marL="0">
              <a:buNone/>
            </a:pPr>
            <a:r>
              <a:rPr lang="en-US" sz="1800" b="1" dirty="0">
                <a:solidFill>
                  <a:srgbClr val="222222"/>
                </a:solidFill>
                <a:latin typeface="Lato" pitchFamily="34" charset="0"/>
                <a:ea typeface="Lato" pitchFamily="34" charset="-122"/>
                <a:cs typeface="Lato" pitchFamily="34" charset="-120"/>
              </a:rPr>
              <a:t>Kết nối buổi sau</a:t>
            </a:r>
            <a:endParaRPr lang="en-US" sz="1800" dirty="0"/>
          </a:p>
        </p:txBody>
      </p:sp>
      <p:sp>
        <p:nvSpPr>
          <p:cNvPr id="18" name="Text 13"/>
          <p:cNvSpPr txBox="1"/>
          <p:nvPr/>
        </p:nvSpPr>
        <p:spPr>
          <a:xfrm>
            <a:off x="7919436" y="3383280"/>
            <a:ext cx="2578974" cy="2514600"/>
          </a:xfrm>
          <a:prstGeom prst="rect">
            <a:avLst/>
          </a:prstGeom>
          <a:noFill/>
          <a:ln/>
        </p:spPr>
        <p:txBody>
          <a:bodyPr wrap="square" lIns="0" tIns="0" rIns="0" bIns="0" rtlCol="0" anchor="t"/>
          <a:lstStyle/>
          <a:p>
            <a:pPr algn="l" marL="228600" indent="-228600">
              <a:lnSpc>
                <a:spcPct val="115000"/>
              </a:lnSpc>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Buổi 4: So sánh Zustand, Context nâng cao &amp; Middleware</a:t>
            </a:r>
            <a:endParaRPr lang="en-US" sz="1200" dirty="0"/>
          </a:p>
          <a:p>
            <a:pPr algn="l" marL="228600" indent="-228600">
              <a:lnSpc>
                <a:spcPct val="115000"/>
              </a:lnSpc>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Redux Toolkit hôm nay sẽ là nền tảng để so sánh với Zustand</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DA2128"/>
        </a:solidFill>
      </p:bgPr>
    </p:bg>
    <p:spTree>
      <p:nvGrpSpPr>
        <p:cNvPr id="1" name=""/>
        <p:cNvGrpSpPr/>
        <p:nvPr/>
      </p:nvGrpSpPr>
      <p:grpSpPr>
        <a:xfrm>
          <a:off x="0" y="0"/>
          <a:ext cx="0" cy="0"/>
          <a:chOff x="0" y="0"/>
          <a:chExt cx="0" cy="0"/>
        </a:xfrm>
      </p:grpSpPr>
      <p:pic>
        <p:nvPicPr>
          <p:cNvPr id="2" name="Image 0" descr="/home/claude/pptx_work/assets/logo_ript.jpeg">    </p:cNvPr>
          <p:cNvPicPr>
            <a:picLocks noChangeAspect="1"/>
          </p:cNvPicPr>
          <p:nvPr/>
        </p:nvPicPr>
        <p:blipFill>
          <a:blip r:embed="rId1"/>
          <a:stretch>
            <a:fillRect/>
          </a:stretch>
        </p:blipFill>
        <p:spPr>
          <a:xfrm>
            <a:off x="11526926" y="226771"/>
            <a:ext cx="444398" cy="568757"/>
          </a:xfrm>
          <a:prstGeom prst="rect">
            <a:avLst/>
          </a:prstGeom>
        </p:spPr>
      </p:pic>
      <p:sp>
        <p:nvSpPr>
          <p:cNvPr id="3" name="Shape 0"/>
          <p:cNvSpPr/>
          <p:nvPr/>
        </p:nvSpPr>
        <p:spPr>
          <a:xfrm>
            <a:off x="5549494" y="1234440"/>
            <a:ext cx="1097280" cy="1097280"/>
          </a:xfrm>
          <a:prstGeom prst="ellipse">
            <a:avLst/>
          </a:prstGeom>
          <a:solidFill>
            <a:srgbClr val="FFFFFF"/>
          </a:solidFill>
          <a:ln/>
        </p:spPr>
      </p:sp>
      <p:pic>
        <p:nvPicPr>
          <p:cNvPr id="4" name="Image 1" descr="/home/claude/pptx_work/icons/question_red.png">    </p:cNvPr>
          <p:cNvPicPr>
            <a:picLocks noChangeAspect="1"/>
          </p:cNvPicPr>
          <p:nvPr/>
        </p:nvPicPr>
        <p:blipFill>
          <a:blip r:embed="rId2"/>
          <a:stretch>
            <a:fillRect/>
          </a:stretch>
        </p:blipFill>
        <p:spPr>
          <a:xfrm>
            <a:off x="5797296" y="1481328"/>
            <a:ext cx="603504" cy="603504"/>
          </a:xfrm>
          <a:prstGeom prst="rect">
            <a:avLst/>
          </a:prstGeom>
        </p:spPr>
      </p:pic>
      <p:sp>
        <p:nvSpPr>
          <p:cNvPr id="5" name="Text 1"/>
          <p:cNvSpPr txBox="1"/>
          <p:nvPr/>
        </p:nvSpPr>
        <p:spPr>
          <a:xfrm>
            <a:off x="566928" y="2697480"/>
            <a:ext cx="11055096" cy="640080"/>
          </a:xfrm>
          <a:prstGeom prst="rect">
            <a:avLst/>
          </a:prstGeom>
          <a:noFill/>
          <a:ln/>
        </p:spPr>
        <p:txBody>
          <a:bodyPr wrap="square" lIns="0" tIns="0" rIns="0" bIns="0" rtlCol="0" anchor="ctr"/>
          <a:lstStyle/>
          <a:p>
            <a:pPr algn="ctr" indent="0" marL="0">
              <a:buNone/>
            </a:pPr>
            <a:r>
              <a:rPr lang="en-US" sz="3600" b="1" dirty="0">
                <a:solidFill>
                  <a:srgbClr val="FFFFFF"/>
                </a:solidFill>
                <a:latin typeface="Lato" pitchFamily="34" charset="0"/>
                <a:ea typeface="Lato" pitchFamily="34" charset="-122"/>
                <a:cs typeface="Lato" pitchFamily="34" charset="-120"/>
              </a:rPr>
              <a:t>CẢM ƠN &amp; HỎI ĐÁP</a:t>
            </a:r>
            <a:endParaRPr lang="en-US" sz="3600" dirty="0"/>
          </a:p>
        </p:txBody>
      </p:sp>
      <p:sp>
        <p:nvSpPr>
          <p:cNvPr id="6" name="Text 2"/>
          <p:cNvSpPr txBox="1"/>
          <p:nvPr/>
        </p:nvSpPr>
        <p:spPr>
          <a:xfrm>
            <a:off x="566928" y="3383280"/>
            <a:ext cx="11055096" cy="411480"/>
          </a:xfrm>
          <a:prstGeom prst="rect">
            <a:avLst/>
          </a:prstGeom>
          <a:noFill/>
          <a:ln/>
        </p:spPr>
        <p:txBody>
          <a:bodyPr wrap="square" lIns="0" tIns="0" rIns="0" bIns="0" rtlCol="0" anchor="ctr"/>
          <a:lstStyle/>
          <a:p>
            <a:pPr algn="ctr" indent="0" marL="0">
              <a:buNone/>
            </a:pPr>
            <a:r>
              <a:rPr lang="en-US" sz="1600" i="1" dirty="0">
                <a:solidFill>
                  <a:srgbClr val="FFFFFF"/>
                </a:solidFill>
                <a:latin typeface="Calibri" pitchFamily="34" charset="0"/>
                <a:ea typeface="Calibri" pitchFamily="34" charset="-122"/>
                <a:cs typeface="Calibri" pitchFamily="34" charset="-120"/>
              </a:rPr>
              <a:t>Buổi 4: So sánh Zustand, Context nâng cao &amp; Middleware — hẹn gặp lại!</a:t>
            </a:r>
            <a:endParaRPr lang="en-US" sz="1600" dirty="0"/>
          </a:p>
        </p:txBody>
      </p:sp>
      <p:sp>
        <p:nvSpPr>
          <p:cNvPr id="7" name="Text 3"/>
          <p:cNvSpPr txBox="1"/>
          <p:nvPr/>
        </p:nvSpPr>
        <p:spPr>
          <a:xfrm>
            <a:off x="566928" y="4480560"/>
            <a:ext cx="11055096" cy="731520"/>
          </a:xfrm>
          <a:prstGeom prst="rect">
            <a:avLst/>
          </a:prstGeom>
          <a:noFill/>
          <a:ln/>
        </p:spPr>
        <p:txBody>
          <a:bodyPr wrap="square" lIns="0" tIns="0" rIns="0" bIns="0" rtlCol="0" anchor="t"/>
          <a:lstStyle/>
          <a:p>
            <a:pPr algn="ctr" indent="0" marL="0">
              <a:lnSpc>
                <a:spcPct val="130000"/>
              </a:lnSpc>
              <a:buNone/>
            </a:pPr>
            <a:r>
              <a:rPr lang="en-US" sz="1500" dirty="0">
                <a:solidFill>
                  <a:srgbClr val="FFFFFF"/>
                </a:solidFill>
                <a:latin typeface="Calibri" pitchFamily="34" charset="0"/>
                <a:ea typeface="Calibri" pitchFamily="34" charset="-122"/>
                <a:cs typeface="Calibri" pitchFamily="34" charset="-120"/>
              </a:rPr>
              <a:t>Giảng viên: Ngô Văn Nhận</a:t>
            </a:r>
            <a:endParaRPr lang="en-US" sz="1500" dirty="0"/>
          </a:p>
          <a:p>
            <a:pPr algn="ctr" indent="0" marL="0">
              <a:lnSpc>
                <a:spcPct val="130000"/>
              </a:lnSpc>
              <a:buNone/>
            </a:pPr>
            <a:r>
              <a:rPr lang="en-US" sz="1500" dirty="0">
                <a:solidFill>
                  <a:srgbClr val="FFFFFF"/>
                </a:solidFill>
                <a:latin typeface="Calibri" pitchFamily="34" charset="0"/>
                <a:ea typeface="Calibri" pitchFamily="34" charset="-122"/>
                <a:cs typeface="Calibri" pitchFamily="34" charset="-120"/>
              </a:rPr>
              <a:t>0888726113  ·  nhannv@ptit.edu.vn</a:t>
            </a:r>
            <a:endParaRPr lang="en-US" sz="1500" dirty="0"/>
          </a:p>
        </p:txBody>
      </p:sp>
      <p:sp>
        <p:nvSpPr>
          <p:cNvPr id="8" name="Text 4"/>
          <p:cNvSpPr txBox="1"/>
          <p:nvPr/>
        </p:nvSpPr>
        <p:spPr>
          <a:xfrm>
            <a:off x="365760" y="6455664"/>
            <a:ext cx="8686800" cy="274320"/>
          </a:xfrm>
          <a:prstGeom prst="rect">
            <a:avLst/>
          </a:prstGeom>
          <a:noFill/>
          <a:ln/>
        </p:spPr>
        <p:txBody>
          <a:bodyPr wrap="square" lIns="0" tIns="0" rIns="0" bIns="0" rtlCol="0" anchor="ctr"/>
          <a:lstStyle/>
          <a:p>
            <a:pPr algn="l" indent="0" marL="0">
              <a:buNone/>
            </a:pPr>
            <a:r>
              <a:rPr lang="en-US" sz="900" dirty="0">
                <a:solidFill>
                  <a:srgbClr val="FFC9CB"/>
                </a:solidFill>
                <a:latin typeface="Calibri" pitchFamily="34" charset="0"/>
                <a:ea typeface="Calibri" pitchFamily="34" charset="-122"/>
                <a:cs typeface="Calibri" pitchFamily="34" charset="-120"/>
              </a:rPr>
              <a:t>Lập trình Web nâng cao  |  Buổi 3: Quản lý State nâng cao với Redux Toolkit + TypeScript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2026-09-13T14:17:46Z</dcterms:created>
  <dcterms:modified xsi:type="dcterms:W3CDTF">2026-09-13T14:17:46Z</dcterms:modified>
</cp:coreProperties>
</file>